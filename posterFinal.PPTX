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30267275" cy="42794238"/>
  <p:notesSz cx="7010400" cy="9296400"/>
  <p:defaultTextStyle>
    <a:defPPr>
      <a:defRPr lang="en-US"/>
    </a:defPPr>
    <a:lvl1pPr marL="0" algn="l" defTabSz="4164726" rtl="0" eaLnBrk="1" latinLnBrk="0" hangingPunct="1">
      <a:defRPr sz="8200" kern="1200">
        <a:solidFill>
          <a:schemeClr val="tx1"/>
        </a:solidFill>
        <a:latin typeface="+mn-lt"/>
        <a:ea typeface="+mn-ea"/>
        <a:cs typeface="+mn-cs"/>
      </a:defRPr>
    </a:lvl1pPr>
    <a:lvl2pPr marL="2082363" algn="l" defTabSz="4164726" rtl="0" eaLnBrk="1" latinLnBrk="0" hangingPunct="1">
      <a:defRPr sz="8200" kern="1200">
        <a:solidFill>
          <a:schemeClr val="tx1"/>
        </a:solidFill>
        <a:latin typeface="+mn-lt"/>
        <a:ea typeface="+mn-ea"/>
        <a:cs typeface="+mn-cs"/>
      </a:defRPr>
    </a:lvl2pPr>
    <a:lvl3pPr marL="4164726" algn="l" defTabSz="4164726" rtl="0" eaLnBrk="1" latinLnBrk="0" hangingPunct="1">
      <a:defRPr sz="8200" kern="1200">
        <a:solidFill>
          <a:schemeClr val="tx1"/>
        </a:solidFill>
        <a:latin typeface="+mn-lt"/>
        <a:ea typeface="+mn-ea"/>
        <a:cs typeface="+mn-cs"/>
      </a:defRPr>
    </a:lvl3pPr>
    <a:lvl4pPr marL="6247088" algn="l" defTabSz="4164726" rtl="0" eaLnBrk="1" latinLnBrk="0" hangingPunct="1">
      <a:defRPr sz="8200" kern="1200">
        <a:solidFill>
          <a:schemeClr val="tx1"/>
        </a:solidFill>
        <a:latin typeface="+mn-lt"/>
        <a:ea typeface="+mn-ea"/>
        <a:cs typeface="+mn-cs"/>
      </a:defRPr>
    </a:lvl4pPr>
    <a:lvl5pPr marL="8329454" algn="l" defTabSz="4164726" rtl="0" eaLnBrk="1" latinLnBrk="0" hangingPunct="1">
      <a:defRPr sz="8200" kern="1200">
        <a:solidFill>
          <a:schemeClr val="tx1"/>
        </a:solidFill>
        <a:latin typeface="+mn-lt"/>
        <a:ea typeface="+mn-ea"/>
        <a:cs typeface="+mn-cs"/>
      </a:defRPr>
    </a:lvl5pPr>
    <a:lvl6pPr marL="10411817" algn="l" defTabSz="4164726" rtl="0" eaLnBrk="1" latinLnBrk="0" hangingPunct="1">
      <a:defRPr sz="8200" kern="1200">
        <a:solidFill>
          <a:schemeClr val="tx1"/>
        </a:solidFill>
        <a:latin typeface="+mn-lt"/>
        <a:ea typeface="+mn-ea"/>
        <a:cs typeface="+mn-cs"/>
      </a:defRPr>
    </a:lvl6pPr>
    <a:lvl7pPr marL="12494180" algn="l" defTabSz="4164726" rtl="0" eaLnBrk="1" latinLnBrk="0" hangingPunct="1">
      <a:defRPr sz="8200" kern="1200">
        <a:solidFill>
          <a:schemeClr val="tx1"/>
        </a:solidFill>
        <a:latin typeface="+mn-lt"/>
        <a:ea typeface="+mn-ea"/>
        <a:cs typeface="+mn-cs"/>
      </a:defRPr>
    </a:lvl7pPr>
    <a:lvl8pPr marL="14576543" algn="l" defTabSz="4164726" rtl="0" eaLnBrk="1" latinLnBrk="0" hangingPunct="1">
      <a:defRPr sz="8200" kern="1200">
        <a:solidFill>
          <a:schemeClr val="tx1"/>
        </a:solidFill>
        <a:latin typeface="+mn-lt"/>
        <a:ea typeface="+mn-ea"/>
        <a:cs typeface="+mn-cs"/>
      </a:defRPr>
    </a:lvl8pPr>
    <a:lvl9pPr marL="16658905" algn="l" defTabSz="4164726" rtl="0" eaLnBrk="1" latinLnBrk="0" hangingPunct="1">
      <a:defRPr sz="82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479">
          <p15:clr>
            <a:srgbClr val="A4A3A4"/>
          </p15:clr>
        </p15:guide>
        <p15:guide id="2" pos="953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6602" autoAdjust="0"/>
    <p:restoredTop sz="94660"/>
  </p:normalViewPr>
  <p:slideViewPr>
    <p:cSldViewPr>
      <p:cViewPr>
        <p:scale>
          <a:sx n="20" d="100"/>
          <a:sy n="20" d="100"/>
        </p:scale>
        <p:origin x="804" y="-2380"/>
      </p:cViewPr>
      <p:guideLst>
        <p:guide orient="horz" pos="13479"/>
        <p:guide pos="9533"/>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046" y="13293959"/>
            <a:ext cx="25727184" cy="9173025"/>
          </a:xfrm>
        </p:spPr>
        <p:txBody>
          <a:bodyPr/>
          <a:lstStyle/>
          <a:p>
            <a:r>
              <a:rPr lang="en-US" smtClean="0"/>
              <a:t>Click to edit Master title style</a:t>
            </a:r>
            <a:endParaRPr lang="da-DK"/>
          </a:p>
        </p:txBody>
      </p:sp>
      <p:sp>
        <p:nvSpPr>
          <p:cNvPr id="3" name="Subtitle 2"/>
          <p:cNvSpPr>
            <a:spLocks noGrp="1"/>
          </p:cNvSpPr>
          <p:nvPr>
            <p:ph type="subTitle" idx="1"/>
          </p:nvPr>
        </p:nvSpPr>
        <p:spPr>
          <a:xfrm>
            <a:off x="4540091" y="24250070"/>
            <a:ext cx="21187093" cy="10936305"/>
          </a:xfrm>
        </p:spPr>
        <p:txBody>
          <a:bodyPr/>
          <a:lstStyle>
            <a:lvl1pPr marL="0" indent="0" algn="ctr">
              <a:buNone/>
              <a:defRPr>
                <a:solidFill>
                  <a:schemeClr val="tx1">
                    <a:tint val="75000"/>
                  </a:schemeClr>
                </a:solidFill>
              </a:defRPr>
            </a:lvl1pPr>
            <a:lvl2pPr marL="2082613" indent="0" algn="ctr">
              <a:buNone/>
              <a:defRPr>
                <a:solidFill>
                  <a:schemeClr val="tx1">
                    <a:tint val="75000"/>
                  </a:schemeClr>
                </a:solidFill>
              </a:defRPr>
            </a:lvl2pPr>
            <a:lvl3pPr marL="4165227" indent="0" algn="ctr">
              <a:buNone/>
              <a:defRPr>
                <a:solidFill>
                  <a:schemeClr val="tx1">
                    <a:tint val="75000"/>
                  </a:schemeClr>
                </a:solidFill>
              </a:defRPr>
            </a:lvl3pPr>
            <a:lvl4pPr marL="6247839" indent="0" algn="ctr">
              <a:buNone/>
              <a:defRPr>
                <a:solidFill>
                  <a:schemeClr val="tx1">
                    <a:tint val="75000"/>
                  </a:schemeClr>
                </a:solidFill>
              </a:defRPr>
            </a:lvl4pPr>
            <a:lvl5pPr marL="8330453" indent="0" algn="ctr">
              <a:buNone/>
              <a:defRPr>
                <a:solidFill>
                  <a:schemeClr val="tx1">
                    <a:tint val="75000"/>
                  </a:schemeClr>
                </a:solidFill>
              </a:defRPr>
            </a:lvl5pPr>
            <a:lvl6pPr marL="10413066" indent="0" algn="ctr">
              <a:buNone/>
              <a:defRPr>
                <a:solidFill>
                  <a:schemeClr val="tx1">
                    <a:tint val="75000"/>
                  </a:schemeClr>
                </a:solidFill>
              </a:defRPr>
            </a:lvl6pPr>
            <a:lvl7pPr marL="12495680" indent="0" algn="ctr">
              <a:buNone/>
              <a:defRPr>
                <a:solidFill>
                  <a:schemeClr val="tx1">
                    <a:tint val="75000"/>
                  </a:schemeClr>
                </a:solidFill>
              </a:defRPr>
            </a:lvl7pPr>
            <a:lvl8pPr marL="14578292" indent="0" algn="ctr">
              <a:buNone/>
              <a:defRPr>
                <a:solidFill>
                  <a:schemeClr val="tx1">
                    <a:tint val="75000"/>
                  </a:schemeClr>
                </a:solidFill>
              </a:defRPr>
            </a:lvl8pPr>
            <a:lvl9pPr marL="16660906" indent="0" algn="ctr">
              <a:buNone/>
              <a:defRPr>
                <a:solidFill>
                  <a:schemeClr val="tx1">
                    <a:tint val="75000"/>
                  </a:schemeClr>
                </a:solidFill>
              </a:defRPr>
            </a:lvl9pPr>
          </a:lstStyle>
          <a:p>
            <a:r>
              <a:rPr lang="en-US" smtClean="0"/>
              <a:t>Click to edit Master subtitle style</a:t>
            </a:r>
            <a:endParaRPr lang="da-DK"/>
          </a:p>
        </p:txBody>
      </p:sp>
      <p:sp>
        <p:nvSpPr>
          <p:cNvPr id="4" name="Date Placeholder 3"/>
          <p:cNvSpPr>
            <a:spLocks noGrp="1"/>
          </p:cNvSpPr>
          <p:nvPr>
            <p:ph type="dt" sz="half" idx="10"/>
          </p:nvPr>
        </p:nvSpPr>
        <p:spPr/>
        <p:txBody>
          <a:bodyPr/>
          <a:lstStyle/>
          <a:p>
            <a:fld id="{1D8BD707-D9CF-40AE-B4C6-C98DA3205C09}" type="datetimeFigureOut">
              <a:rPr lang="en-US" smtClean="0"/>
              <a:pPr/>
              <a:t>9/15/2017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623429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a-DK"/>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a-DK"/>
          </a:p>
        </p:txBody>
      </p:sp>
      <p:sp>
        <p:nvSpPr>
          <p:cNvPr id="4" name="Date Placeholder 3"/>
          <p:cNvSpPr>
            <a:spLocks noGrp="1"/>
          </p:cNvSpPr>
          <p:nvPr>
            <p:ph type="dt" sz="half" idx="10"/>
          </p:nvPr>
        </p:nvSpPr>
        <p:spPr/>
        <p:txBody>
          <a:bodyPr/>
          <a:lstStyle/>
          <a:p>
            <a:fld id="{1D8BD707-D9CF-40AE-B4C6-C98DA3205C09}" type="datetimeFigureOut">
              <a:rPr lang="en-US" smtClean="0"/>
              <a:pPr/>
              <a:t>9/15/2017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1307620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390905" y="27499265"/>
            <a:ext cx="25727184" cy="8499411"/>
          </a:xfrm>
        </p:spPr>
        <p:txBody>
          <a:bodyPr anchor="t"/>
          <a:lstStyle>
            <a:lvl1pPr algn="l">
              <a:defRPr sz="18200" b="1" cap="all"/>
            </a:lvl1pPr>
          </a:lstStyle>
          <a:p>
            <a:r>
              <a:rPr lang="en-US" smtClean="0"/>
              <a:t>Click to edit Master title style</a:t>
            </a:r>
            <a:endParaRPr lang="da-DK"/>
          </a:p>
        </p:txBody>
      </p:sp>
      <p:sp>
        <p:nvSpPr>
          <p:cNvPr id="3" name="Text Placeholder 2"/>
          <p:cNvSpPr>
            <a:spLocks noGrp="1"/>
          </p:cNvSpPr>
          <p:nvPr>
            <p:ph type="body" idx="1"/>
          </p:nvPr>
        </p:nvSpPr>
        <p:spPr>
          <a:xfrm>
            <a:off x="2390905" y="18138032"/>
            <a:ext cx="25727184" cy="9361235"/>
          </a:xfrm>
        </p:spPr>
        <p:txBody>
          <a:bodyPr anchor="b"/>
          <a:lstStyle>
            <a:lvl1pPr marL="0" indent="0">
              <a:buNone/>
              <a:defRPr sz="9200">
                <a:solidFill>
                  <a:schemeClr val="tx1">
                    <a:tint val="75000"/>
                  </a:schemeClr>
                </a:solidFill>
              </a:defRPr>
            </a:lvl1pPr>
            <a:lvl2pPr marL="2082613" indent="0">
              <a:buNone/>
              <a:defRPr sz="8200">
                <a:solidFill>
                  <a:schemeClr val="tx1">
                    <a:tint val="75000"/>
                  </a:schemeClr>
                </a:solidFill>
              </a:defRPr>
            </a:lvl2pPr>
            <a:lvl3pPr marL="4165227" indent="0">
              <a:buNone/>
              <a:defRPr sz="7200">
                <a:solidFill>
                  <a:schemeClr val="tx1">
                    <a:tint val="75000"/>
                  </a:schemeClr>
                </a:solidFill>
              </a:defRPr>
            </a:lvl3pPr>
            <a:lvl4pPr marL="6247839" indent="0">
              <a:buNone/>
              <a:defRPr sz="6500">
                <a:solidFill>
                  <a:schemeClr val="tx1">
                    <a:tint val="75000"/>
                  </a:schemeClr>
                </a:solidFill>
              </a:defRPr>
            </a:lvl4pPr>
            <a:lvl5pPr marL="8330453" indent="0">
              <a:buNone/>
              <a:defRPr sz="6500">
                <a:solidFill>
                  <a:schemeClr val="tx1">
                    <a:tint val="75000"/>
                  </a:schemeClr>
                </a:solidFill>
              </a:defRPr>
            </a:lvl5pPr>
            <a:lvl6pPr marL="10413066" indent="0">
              <a:buNone/>
              <a:defRPr sz="6500">
                <a:solidFill>
                  <a:schemeClr val="tx1">
                    <a:tint val="75000"/>
                  </a:schemeClr>
                </a:solidFill>
              </a:defRPr>
            </a:lvl6pPr>
            <a:lvl7pPr marL="12495680" indent="0">
              <a:buNone/>
              <a:defRPr sz="6500">
                <a:solidFill>
                  <a:schemeClr val="tx1">
                    <a:tint val="75000"/>
                  </a:schemeClr>
                </a:solidFill>
              </a:defRPr>
            </a:lvl7pPr>
            <a:lvl8pPr marL="14578292" indent="0">
              <a:buNone/>
              <a:defRPr sz="6500">
                <a:solidFill>
                  <a:schemeClr val="tx1">
                    <a:tint val="75000"/>
                  </a:schemeClr>
                </a:solidFill>
              </a:defRPr>
            </a:lvl8pPr>
            <a:lvl9pPr marL="16660906" indent="0">
              <a:buNone/>
              <a:defRPr sz="65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9/15/2017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4935849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a-DK"/>
          </a:p>
        </p:txBody>
      </p:sp>
      <p:sp>
        <p:nvSpPr>
          <p:cNvPr id="3" name="Content Placeholder 2"/>
          <p:cNvSpPr>
            <a:spLocks noGrp="1"/>
          </p:cNvSpPr>
          <p:nvPr>
            <p:ph sz="half" idx="1"/>
          </p:nvPr>
        </p:nvSpPr>
        <p:spPr>
          <a:xfrm>
            <a:off x="1513363" y="9985326"/>
            <a:ext cx="13368046" cy="28242218"/>
          </a:xfrm>
        </p:spPr>
        <p:txBody>
          <a:bodyPr/>
          <a:lstStyle>
            <a:lvl1pPr>
              <a:defRPr sz="12700"/>
            </a:lvl1pPr>
            <a:lvl2pPr>
              <a:defRPr sz="11000"/>
            </a:lvl2pPr>
            <a:lvl3pPr>
              <a:defRPr sz="9200"/>
            </a:lvl3pPr>
            <a:lvl4pPr>
              <a:defRPr sz="8200"/>
            </a:lvl4pPr>
            <a:lvl5pPr>
              <a:defRPr sz="8200"/>
            </a:lvl5pPr>
            <a:lvl6pPr>
              <a:defRPr sz="8200"/>
            </a:lvl6pPr>
            <a:lvl7pPr>
              <a:defRPr sz="8200"/>
            </a:lvl7pPr>
            <a:lvl8pPr>
              <a:defRPr sz="8200"/>
            </a:lvl8pPr>
            <a:lvl9pPr>
              <a:defRPr sz="8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a-DK"/>
          </a:p>
        </p:txBody>
      </p:sp>
      <p:sp>
        <p:nvSpPr>
          <p:cNvPr id="4" name="Content Placeholder 3"/>
          <p:cNvSpPr>
            <a:spLocks noGrp="1"/>
          </p:cNvSpPr>
          <p:nvPr>
            <p:ph sz="half" idx="2"/>
          </p:nvPr>
        </p:nvSpPr>
        <p:spPr>
          <a:xfrm>
            <a:off x="15385866" y="9985326"/>
            <a:ext cx="13368046" cy="28242218"/>
          </a:xfrm>
        </p:spPr>
        <p:txBody>
          <a:bodyPr/>
          <a:lstStyle>
            <a:lvl1pPr>
              <a:defRPr sz="12700"/>
            </a:lvl1pPr>
            <a:lvl2pPr>
              <a:defRPr sz="11000"/>
            </a:lvl2pPr>
            <a:lvl3pPr>
              <a:defRPr sz="9200"/>
            </a:lvl3pPr>
            <a:lvl4pPr>
              <a:defRPr sz="8200"/>
            </a:lvl4pPr>
            <a:lvl5pPr>
              <a:defRPr sz="8200"/>
            </a:lvl5pPr>
            <a:lvl6pPr>
              <a:defRPr sz="8200"/>
            </a:lvl6pPr>
            <a:lvl7pPr>
              <a:defRPr sz="8200"/>
            </a:lvl7pPr>
            <a:lvl8pPr>
              <a:defRPr sz="8200"/>
            </a:lvl8pPr>
            <a:lvl9pPr>
              <a:defRPr sz="8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a-DK"/>
          </a:p>
        </p:txBody>
      </p:sp>
      <p:sp>
        <p:nvSpPr>
          <p:cNvPr id="5" name="Date Placeholder 4"/>
          <p:cNvSpPr>
            <a:spLocks noGrp="1"/>
          </p:cNvSpPr>
          <p:nvPr>
            <p:ph type="dt" sz="half" idx="10"/>
          </p:nvPr>
        </p:nvSpPr>
        <p:spPr/>
        <p:txBody>
          <a:bodyPr/>
          <a:lstStyle/>
          <a:p>
            <a:fld id="{1D8BD707-D9CF-40AE-B4C6-C98DA3205C09}" type="datetimeFigureOut">
              <a:rPr lang="en-US" smtClean="0"/>
              <a:pPr/>
              <a:t>9/15/2017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7518644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da-DK"/>
          </a:p>
        </p:txBody>
      </p:sp>
      <p:sp>
        <p:nvSpPr>
          <p:cNvPr id="3" name="Text Placeholder 2"/>
          <p:cNvSpPr>
            <a:spLocks noGrp="1"/>
          </p:cNvSpPr>
          <p:nvPr>
            <p:ph type="body" idx="1"/>
          </p:nvPr>
        </p:nvSpPr>
        <p:spPr>
          <a:xfrm>
            <a:off x="1513369" y="9579181"/>
            <a:ext cx="13373303" cy="3992146"/>
          </a:xfrm>
        </p:spPr>
        <p:txBody>
          <a:bodyPr anchor="b"/>
          <a:lstStyle>
            <a:lvl1pPr marL="0" indent="0">
              <a:buNone/>
              <a:defRPr sz="11000" b="1"/>
            </a:lvl1pPr>
            <a:lvl2pPr marL="2082613" indent="0">
              <a:buNone/>
              <a:defRPr sz="9200" b="1"/>
            </a:lvl2pPr>
            <a:lvl3pPr marL="4165227" indent="0">
              <a:buNone/>
              <a:defRPr sz="8200" b="1"/>
            </a:lvl3pPr>
            <a:lvl4pPr marL="6247839" indent="0">
              <a:buNone/>
              <a:defRPr sz="7200" b="1"/>
            </a:lvl4pPr>
            <a:lvl5pPr marL="8330453" indent="0">
              <a:buNone/>
              <a:defRPr sz="7200" b="1"/>
            </a:lvl5pPr>
            <a:lvl6pPr marL="10413066" indent="0">
              <a:buNone/>
              <a:defRPr sz="7200" b="1"/>
            </a:lvl6pPr>
            <a:lvl7pPr marL="12495680" indent="0">
              <a:buNone/>
              <a:defRPr sz="7200" b="1"/>
            </a:lvl7pPr>
            <a:lvl8pPr marL="14578292" indent="0">
              <a:buNone/>
              <a:defRPr sz="7200" b="1"/>
            </a:lvl8pPr>
            <a:lvl9pPr marL="16660906" indent="0">
              <a:buNone/>
              <a:defRPr sz="7200" b="1"/>
            </a:lvl9pPr>
          </a:lstStyle>
          <a:p>
            <a:pPr lvl="0"/>
            <a:r>
              <a:rPr lang="en-US" smtClean="0"/>
              <a:t>Click to edit Master text styles</a:t>
            </a:r>
          </a:p>
        </p:txBody>
      </p:sp>
      <p:sp>
        <p:nvSpPr>
          <p:cNvPr id="4" name="Content Placeholder 3"/>
          <p:cNvSpPr>
            <a:spLocks noGrp="1"/>
          </p:cNvSpPr>
          <p:nvPr>
            <p:ph sz="half" idx="2"/>
          </p:nvPr>
        </p:nvSpPr>
        <p:spPr>
          <a:xfrm>
            <a:off x="1513369" y="13571328"/>
            <a:ext cx="13373303" cy="24656218"/>
          </a:xfrm>
        </p:spPr>
        <p:txBody>
          <a:bodyPr/>
          <a:lstStyle>
            <a:lvl1pPr>
              <a:defRPr sz="11000"/>
            </a:lvl1pPr>
            <a:lvl2pPr>
              <a:defRPr sz="9200"/>
            </a:lvl2pPr>
            <a:lvl3pPr>
              <a:defRPr sz="8200"/>
            </a:lvl3pPr>
            <a:lvl4pPr>
              <a:defRPr sz="7200"/>
            </a:lvl4pPr>
            <a:lvl5pPr>
              <a:defRPr sz="7200"/>
            </a:lvl5pPr>
            <a:lvl6pPr>
              <a:defRPr sz="7200"/>
            </a:lvl6pPr>
            <a:lvl7pPr>
              <a:defRPr sz="7200"/>
            </a:lvl7pPr>
            <a:lvl8pPr>
              <a:defRPr sz="7200"/>
            </a:lvl8pPr>
            <a:lvl9pPr>
              <a:defRPr sz="7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a-DK"/>
          </a:p>
        </p:txBody>
      </p:sp>
      <p:sp>
        <p:nvSpPr>
          <p:cNvPr id="5" name="Text Placeholder 4"/>
          <p:cNvSpPr>
            <a:spLocks noGrp="1"/>
          </p:cNvSpPr>
          <p:nvPr>
            <p:ph type="body" sz="quarter" idx="3"/>
          </p:nvPr>
        </p:nvSpPr>
        <p:spPr>
          <a:xfrm>
            <a:off x="15375359" y="9579181"/>
            <a:ext cx="13378556" cy="3992146"/>
          </a:xfrm>
        </p:spPr>
        <p:txBody>
          <a:bodyPr anchor="b"/>
          <a:lstStyle>
            <a:lvl1pPr marL="0" indent="0">
              <a:buNone/>
              <a:defRPr sz="11000" b="1"/>
            </a:lvl1pPr>
            <a:lvl2pPr marL="2082613" indent="0">
              <a:buNone/>
              <a:defRPr sz="9200" b="1"/>
            </a:lvl2pPr>
            <a:lvl3pPr marL="4165227" indent="0">
              <a:buNone/>
              <a:defRPr sz="8200" b="1"/>
            </a:lvl3pPr>
            <a:lvl4pPr marL="6247839" indent="0">
              <a:buNone/>
              <a:defRPr sz="7200" b="1"/>
            </a:lvl4pPr>
            <a:lvl5pPr marL="8330453" indent="0">
              <a:buNone/>
              <a:defRPr sz="7200" b="1"/>
            </a:lvl5pPr>
            <a:lvl6pPr marL="10413066" indent="0">
              <a:buNone/>
              <a:defRPr sz="7200" b="1"/>
            </a:lvl6pPr>
            <a:lvl7pPr marL="12495680" indent="0">
              <a:buNone/>
              <a:defRPr sz="7200" b="1"/>
            </a:lvl7pPr>
            <a:lvl8pPr marL="14578292" indent="0">
              <a:buNone/>
              <a:defRPr sz="7200" b="1"/>
            </a:lvl8pPr>
            <a:lvl9pPr marL="16660906" indent="0">
              <a:buNone/>
              <a:defRPr sz="7200" b="1"/>
            </a:lvl9pPr>
          </a:lstStyle>
          <a:p>
            <a:pPr lvl="0"/>
            <a:r>
              <a:rPr lang="en-US" smtClean="0"/>
              <a:t>Click to edit Master text styles</a:t>
            </a:r>
          </a:p>
        </p:txBody>
      </p:sp>
      <p:sp>
        <p:nvSpPr>
          <p:cNvPr id="6" name="Content Placeholder 5"/>
          <p:cNvSpPr>
            <a:spLocks noGrp="1"/>
          </p:cNvSpPr>
          <p:nvPr>
            <p:ph sz="quarter" idx="4"/>
          </p:nvPr>
        </p:nvSpPr>
        <p:spPr>
          <a:xfrm>
            <a:off x="15375359" y="13571328"/>
            <a:ext cx="13378556" cy="24656218"/>
          </a:xfrm>
        </p:spPr>
        <p:txBody>
          <a:bodyPr/>
          <a:lstStyle>
            <a:lvl1pPr>
              <a:defRPr sz="11000"/>
            </a:lvl1pPr>
            <a:lvl2pPr>
              <a:defRPr sz="9200"/>
            </a:lvl2pPr>
            <a:lvl3pPr>
              <a:defRPr sz="8200"/>
            </a:lvl3pPr>
            <a:lvl4pPr>
              <a:defRPr sz="7200"/>
            </a:lvl4pPr>
            <a:lvl5pPr>
              <a:defRPr sz="7200"/>
            </a:lvl5pPr>
            <a:lvl6pPr>
              <a:defRPr sz="7200"/>
            </a:lvl6pPr>
            <a:lvl7pPr>
              <a:defRPr sz="7200"/>
            </a:lvl7pPr>
            <a:lvl8pPr>
              <a:defRPr sz="7200"/>
            </a:lvl8pPr>
            <a:lvl9pPr>
              <a:defRPr sz="7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a-DK"/>
          </a:p>
        </p:txBody>
      </p:sp>
      <p:sp>
        <p:nvSpPr>
          <p:cNvPr id="7" name="Date Placeholder 6"/>
          <p:cNvSpPr>
            <a:spLocks noGrp="1"/>
          </p:cNvSpPr>
          <p:nvPr>
            <p:ph type="dt" sz="half" idx="10"/>
          </p:nvPr>
        </p:nvSpPr>
        <p:spPr/>
        <p:txBody>
          <a:bodyPr/>
          <a:lstStyle/>
          <a:p>
            <a:fld id="{1D8BD707-D9CF-40AE-B4C6-C98DA3205C09}" type="datetimeFigureOut">
              <a:rPr lang="en-US" smtClean="0"/>
              <a:pPr/>
              <a:t>9/15/2017</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448538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a-DK"/>
          </a:p>
        </p:txBody>
      </p:sp>
      <p:sp>
        <p:nvSpPr>
          <p:cNvPr id="3" name="Date Placeholder 2"/>
          <p:cNvSpPr>
            <a:spLocks noGrp="1"/>
          </p:cNvSpPr>
          <p:nvPr>
            <p:ph type="dt" sz="half" idx="10"/>
          </p:nvPr>
        </p:nvSpPr>
        <p:spPr/>
        <p:txBody>
          <a:bodyPr/>
          <a:lstStyle/>
          <a:p>
            <a:fld id="{1D8BD707-D9CF-40AE-B4C6-C98DA3205C09}" type="datetimeFigureOut">
              <a:rPr lang="en-US" smtClean="0"/>
              <a:pPr/>
              <a:t>9/15/2017</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40198549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9/15/2017</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158605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13368" y="1703844"/>
            <a:ext cx="9957725" cy="7251246"/>
          </a:xfrm>
        </p:spPr>
        <p:txBody>
          <a:bodyPr anchor="b"/>
          <a:lstStyle>
            <a:lvl1pPr algn="l">
              <a:defRPr sz="9200" b="1"/>
            </a:lvl1pPr>
          </a:lstStyle>
          <a:p>
            <a:r>
              <a:rPr lang="en-US" smtClean="0"/>
              <a:t>Click to edit Master title style</a:t>
            </a:r>
            <a:endParaRPr lang="da-DK"/>
          </a:p>
        </p:txBody>
      </p:sp>
      <p:sp>
        <p:nvSpPr>
          <p:cNvPr id="3" name="Content Placeholder 2"/>
          <p:cNvSpPr>
            <a:spLocks noGrp="1"/>
          </p:cNvSpPr>
          <p:nvPr>
            <p:ph idx="1"/>
          </p:nvPr>
        </p:nvSpPr>
        <p:spPr>
          <a:xfrm>
            <a:off x="11833664" y="1703851"/>
            <a:ext cx="16920248" cy="36523698"/>
          </a:xfrm>
        </p:spPr>
        <p:txBody>
          <a:bodyPr/>
          <a:lstStyle>
            <a:lvl1pPr>
              <a:defRPr sz="14700"/>
            </a:lvl1pPr>
            <a:lvl2pPr>
              <a:defRPr sz="12700"/>
            </a:lvl2pPr>
            <a:lvl3pPr>
              <a:defRPr sz="11000"/>
            </a:lvl3pPr>
            <a:lvl4pPr>
              <a:defRPr sz="9200"/>
            </a:lvl4pPr>
            <a:lvl5pPr>
              <a:defRPr sz="9200"/>
            </a:lvl5pPr>
            <a:lvl6pPr>
              <a:defRPr sz="9200"/>
            </a:lvl6pPr>
            <a:lvl7pPr>
              <a:defRPr sz="9200"/>
            </a:lvl7pPr>
            <a:lvl8pPr>
              <a:defRPr sz="9200"/>
            </a:lvl8pPr>
            <a:lvl9pPr>
              <a:defRPr sz="9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a-DK"/>
          </a:p>
        </p:txBody>
      </p:sp>
      <p:sp>
        <p:nvSpPr>
          <p:cNvPr id="4" name="Text Placeholder 3"/>
          <p:cNvSpPr>
            <a:spLocks noGrp="1"/>
          </p:cNvSpPr>
          <p:nvPr>
            <p:ph type="body" sz="half" idx="2"/>
          </p:nvPr>
        </p:nvSpPr>
        <p:spPr>
          <a:xfrm>
            <a:off x="1513368" y="8955095"/>
            <a:ext cx="9957725" cy="29272450"/>
          </a:xfrm>
        </p:spPr>
        <p:txBody>
          <a:bodyPr/>
          <a:lstStyle>
            <a:lvl1pPr marL="0" indent="0">
              <a:buNone/>
              <a:defRPr sz="6500"/>
            </a:lvl1pPr>
            <a:lvl2pPr marL="2082613" indent="0">
              <a:buNone/>
              <a:defRPr sz="5500"/>
            </a:lvl2pPr>
            <a:lvl3pPr marL="4165227" indent="0">
              <a:buNone/>
              <a:defRPr sz="4500"/>
            </a:lvl3pPr>
            <a:lvl4pPr marL="6247839" indent="0">
              <a:buNone/>
              <a:defRPr sz="4200"/>
            </a:lvl4pPr>
            <a:lvl5pPr marL="8330453" indent="0">
              <a:buNone/>
              <a:defRPr sz="4200"/>
            </a:lvl5pPr>
            <a:lvl6pPr marL="10413066" indent="0">
              <a:buNone/>
              <a:defRPr sz="4200"/>
            </a:lvl6pPr>
            <a:lvl7pPr marL="12495680" indent="0">
              <a:buNone/>
              <a:defRPr sz="4200"/>
            </a:lvl7pPr>
            <a:lvl8pPr marL="14578292" indent="0">
              <a:buNone/>
              <a:defRPr sz="4200"/>
            </a:lvl8pPr>
            <a:lvl9pPr marL="16660906" indent="0">
              <a:buNone/>
              <a:defRPr sz="42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9/15/2017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9223256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32597" y="29955972"/>
            <a:ext cx="18160365" cy="3536471"/>
          </a:xfrm>
        </p:spPr>
        <p:txBody>
          <a:bodyPr anchor="b"/>
          <a:lstStyle>
            <a:lvl1pPr algn="l">
              <a:defRPr sz="9200" b="1"/>
            </a:lvl1pPr>
          </a:lstStyle>
          <a:p>
            <a:r>
              <a:rPr lang="en-US" smtClean="0"/>
              <a:t>Click to edit Master title style</a:t>
            </a:r>
            <a:endParaRPr lang="da-DK"/>
          </a:p>
        </p:txBody>
      </p:sp>
      <p:sp>
        <p:nvSpPr>
          <p:cNvPr id="3" name="Picture Placeholder 2"/>
          <p:cNvSpPr>
            <a:spLocks noGrp="1"/>
          </p:cNvSpPr>
          <p:nvPr>
            <p:ph type="pic" idx="1"/>
          </p:nvPr>
        </p:nvSpPr>
        <p:spPr>
          <a:xfrm>
            <a:off x="5932597" y="3823745"/>
            <a:ext cx="18160365" cy="25676543"/>
          </a:xfrm>
        </p:spPr>
        <p:txBody>
          <a:bodyPr/>
          <a:lstStyle>
            <a:lvl1pPr marL="0" indent="0">
              <a:buNone/>
              <a:defRPr sz="14700"/>
            </a:lvl1pPr>
            <a:lvl2pPr marL="2082613" indent="0">
              <a:buNone/>
              <a:defRPr sz="12700"/>
            </a:lvl2pPr>
            <a:lvl3pPr marL="4165227" indent="0">
              <a:buNone/>
              <a:defRPr sz="11000"/>
            </a:lvl3pPr>
            <a:lvl4pPr marL="6247839" indent="0">
              <a:buNone/>
              <a:defRPr sz="9200"/>
            </a:lvl4pPr>
            <a:lvl5pPr marL="8330453" indent="0">
              <a:buNone/>
              <a:defRPr sz="9200"/>
            </a:lvl5pPr>
            <a:lvl6pPr marL="10413066" indent="0">
              <a:buNone/>
              <a:defRPr sz="9200"/>
            </a:lvl6pPr>
            <a:lvl7pPr marL="12495680" indent="0">
              <a:buNone/>
              <a:defRPr sz="9200"/>
            </a:lvl7pPr>
            <a:lvl8pPr marL="14578292" indent="0">
              <a:buNone/>
              <a:defRPr sz="9200"/>
            </a:lvl8pPr>
            <a:lvl9pPr marL="16660906" indent="0">
              <a:buNone/>
              <a:defRPr sz="9200"/>
            </a:lvl9pPr>
          </a:lstStyle>
          <a:p>
            <a:endParaRPr lang="da-DK" dirty="0"/>
          </a:p>
        </p:txBody>
      </p:sp>
      <p:sp>
        <p:nvSpPr>
          <p:cNvPr id="4" name="Text Placeholder 3"/>
          <p:cNvSpPr>
            <a:spLocks noGrp="1"/>
          </p:cNvSpPr>
          <p:nvPr>
            <p:ph type="body" sz="half" idx="2"/>
          </p:nvPr>
        </p:nvSpPr>
        <p:spPr>
          <a:xfrm>
            <a:off x="5932597" y="33492444"/>
            <a:ext cx="18160365" cy="5022375"/>
          </a:xfrm>
        </p:spPr>
        <p:txBody>
          <a:bodyPr/>
          <a:lstStyle>
            <a:lvl1pPr marL="0" indent="0">
              <a:buNone/>
              <a:defRPr sz="6500"/>
            </a:lvl1pPr>
            <a:lvl2pPr marL="2082613" indent="0">
              <a:buNone/>
              <a:defRPr sz="5500"/>
            </a:lvl2pPr>
            <a:lvl3pPr marL="4165227" indent="0">
              <a:buNone/>
              <a:defRPr sz="4500"/>
            </a:lvl3pPr>
            <a:lvl4pPr marL="6247839" indent="0">
              <a:buNone/>
              <a:defRPr sz="4200"/>
            </a:lvl4pPr>
            <a:lvl5pPr marL="8330453" indent="0">
              <a:buNone/>
              <a:defRPr sz="4200"/>
            </a:lvl5pPr>
            <a:lvl6pPr marL="10413066" indent="0">
              <a:buNone/>
              <a:defRPr sz="4200"/>
            </a:lvl6pPr>
            <a:lvl7pPr marL="12495680" indent="0">
              <a:buNone/>
              <a:defRPr sz="4200"/>
            </a:lvl7pPr>
            <a:lvl8pPr marL="14578292" indent="0">
              <a:buNone/>
              <a:defRPr sz="4200"/>
            </a:lvl8pPr>
            <a:lvl9pPr marL="16660906" indent="0">
              <a:buNone/>
              <a:defRPr sz="42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9/15/2017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4021186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a-DK"/>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a-DK"/>
          </a:p>
        </p:txBody>
      </p:sp>
      <p:sp>
        <p:nvSpPr>
          <p:cNvPr id="4" name="Date Placeholder 3"/>
          <p:cNvSpPr>
            <a:spLocks noGrp="1"/>
          </p:cNvSpPr>
          <p:nvPr>
            <p:ph type="dt" sz="half" idx="10"/>
          </p:nvPr>
        </p:nvSpPr>
        <p:spPr/>
        <p:txBody>
          <a:bodyPr/>
          <a:lstStyle/>
          <a:p>
            <a:fld id="{1D8BD707-D9CF-40AE-B4C6-C98DA3205C09}" type="datetimeFigureOut">
              <a:rPr lang="en-US" smtClean="0"/>
              <a:pPr/>
              <a:t>9/15/2017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231616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943774" y="1713761"/>
            <a:ext cx="6810137" cy="36513788"/>
          </a:xfrm>
        </p:spPr>
        <p:txBody>
          <a:bodyPr vert="eaVert"/>
          <a:lstStyle/>
          <a:p>
            <a:r>
              <a:rPr lang="en-US" smtClean="0"/>
              <a:t>Click to edit Master title style</a:t>
            </a:r>
            <a:endParaRPr lang="da-DK"/>
          </a:p>
        </p:txBody>
      </p:sp>
      <p:sp>
        <p:nvSpPr>
          <p:cNvPr id="3" name="Vertical Text Placeholder 2"/>
          <p:cNvSpPr>
            <a:spLocks noGrp="1"/>
          </p:cNvSpPr>
          <p:nvPr>
            <p:ph type="body" orient="vert" idx="1"/>
          </p:nvPr>
        </p:nvSpPr>
        <p:spPr>
          <a:xfrm>
            <a:off x="1513364" y="1713761"/>
            <a:ext cx="19925956" cy="3651378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a-DK"/>
          </a:p>
        </p:txBody>
      </p:sp>
      <p:sp>
        <p:nvSpPr>
          <p:cNvPr id="4" name="Date Placeholder 3"/>
          <p:cNvSpPr>
            <a:spLocks noGrp="1"/>
          </p:cNvSpPr>
          <p:nvPr>
            <p:ph type="dt" sz="half" idx="10"/>
          </p:nvPr>
        </p:nvSpPr>
        <p:spPr/>
        <p:txBody>
          <a:bodyPr/>
          <a:lstStyle/>
          <a:p>
            <a:fld id="{1D8BD707-D9CF-40AE-B4C6-C98DA3205C09}" type="datetimeFigureOut">
              <a:rPr lang="en-US" smtClean="0"/>
              <a:pPr/>
              <a:t>9/15/2017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390727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13365" y="1713754"/>
            <a:ext cx="27240547" cy="7132373"/>
          </a:xfrm>
          <a:prstGeom prst="rect">
            <a:avLst/>
          </a:prstGeom>
        </p:spPr>
        <p:txBody>
          <a:bodyPr vert="horz" lIns="416523" tIns="208262" rIns="416523" bIns="208262" rtlCol="0" anchor="ctr">
            <a:normAutofit/>
          </a:bodyPr>
          <a:lstStyle/>
          <a:p>
            <a:r>
              <a:rPr lang="en-US" smtClean="0"/>
              <a:t>Click to edit Master title style</a:t>
            </a:r>
            <a:endParaRPr lang="da-DK"/>
          </a:p>
        </p:txBody>
      </p:sp>
      <p:sp>
        <p:nvSpPr>
          <p:cNvPr id="3" name="Text Placeholder 2"/>
          <p:cNvSpPr>
            <a:spLocks noGrp="1"/>
          </p:cNvSpPr>
          <p:nvPr>
            <p:ph type="body" idx="1"/>
          </p:nvPr>
        </p:nvSpPr>
        <p:spPr>
          <a:xfrm>
            <a:off x="1513365" y="9985326"/>
            <a:ext cx="27240547" cy="28242218"/>
          </a:xfrm>
          <a:prstGeom prst="rect">
            <a:avLst/>
          </a:prstGeom>
        </p:spPr>
        <p:txBody>
          <a:bodyPr vert="horz" lIns="416523" tIns="208262" rIns="416523" bIns="208262"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a-DK"/>
          </a:p>
        </p:txBody>
      </p:sp>
      <p:sp>
        <p:nvSpPr>
          <p:cNvPr id="4" name="Date Placeholder 3"/>
          <p:cNvSpPr>
            <a:spLocks noGrp="1"/>
          </p:cNvSpPr>
          <p:nvPr>
            <p:ph type="dt" sz="half" idx="2"/>
          </p:nvPr>
        </p:nvSpPr>
        <p:spPr>
          <a:xfrm>
            <a:off x="1513363" y="39663929"/>
            <a:ext cx="7062365" cy="2278399"/>
          </a:xfrm>
          <a:prstGeom prst="rect">
            <a:avLst/>
          </a:prstGeom>
        </p:spPr>
        <p:txBody>
          <a:bodyPr vert="horz" lIns="416523" tIns="208262" rIns="416523" bIns="208262" rtlCol="0" anchor="ctr"/>
          <a:lstStyle>
            <a:lvl1pPr algn="l">
              <a:defRPr sz="5500">
                <a:solidFill>
                  <a:schemeClr val="tx1">
                    <a:tint val="75000"/>
                  </a:schemeClr>
                </a:solidFill>
              </a:defRPr>
            </a:lvl1pPr>
          </a:lstStyle>
          <a:p>
            <a:fld id="{1D8BD707-D9CF-40AE-B4C6-C98DA3205C09}" type="datetimeFigureOut">
              <a:rPr lang="en-US" smtClean="0"/>
              <a:pPr/>
              <a:t>9/15/2017</a:t>
            </a:fld>
            <a:endParaRPr lang="en-US" dirty="0"/>
          </a:p>
        </p:txBody>
      </p:sp>
      <p:sp>
        <p:nvSpPr>
          <p:cNvPr id="5" name="Footer Placeholder 4"/>
          <p:cNvSpPr>
            <a:spLocks noGrp="1"/>
          </p:cNvSpPr>
          <p:nvPr>
            <p:ph type="ftr" sz="quarter" idx="3"/>
          </p:nvPr>
        </p:nvSpPr>
        <p:spPr>
          <a:xfrm>
            <a:off x="10341319" y="39663929"/>
            <a:ext cx="9584637" cy="2278399"/>
          </a:xfrm>
          <a:prstGeom prst="rect">
            <a:avLst/>
          </a:prstGeom>
        </p:spPr>
        <p:txBody>
          <a:bodyPr vert="horz" lIns="416523" tIns="208262" rIns="416523" bIns="208262" rtlCol="0" anchor="ctr"/>
          <a:lstStyle>
            <a:lvl1pPr algn="ctr">
              <a:defRPr sz="55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21691547" y="39663929"/>
            <a:ext cx="7062365" cy="2278399"/>
          </a:xfrm>
          <a:prstGeom prst="rect">
            <a:avLst/>
          </a:prstGeom>
        </p:spPr>
        <p:txBody>
          <a:bodyPr vert="horz" lIns="416523" tIns="208262" rIns="416523" bIns="208262" rtlCol="0" anchor="ctr"/>
          <a:lstStyle>
            <a:lvl1pPr algn="r">
              <a:defRPr sz="5500">
                <a:solidFill>
                  <a:schemeClr val="tx1">
                    <a:tint val="75000"/>
                  </a:schemeClr>
                </a:solidFill>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8911782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4165227" rtl="0" eaLnBrk="1" latinLnBrk="0" hangingPunct="1">
        <a:spcBef>
          <a:spcPct val="0"/>
        </a:spcBef>
        <a:buNone/>
        <a:defRPr sz="20200" kern="1200">
          <a:solidFill>
            <a:schemeClr val="tx1"/>
          </a:solidFill>
          <a:latin typeface="+mj-lt"/>
          <a:ea typeface="+mj-ea"/>
          <a:cs typeface="+mj-cs"/>
        </a:defRPr>
      </a:lvl1pPr>
    </p:titleStyle>
    <p:bodyStyle>
      <a:lvl1pPr marL="1561959" indent="-1561959" algn="l" defTabSz="4165227" rtl="0" eaLnBrk="1" latinLnBrk="0" hangingPunct="1">
        <a:spcBef>
          <a:spcPct val="20000"/>
        </a:spcBef>
        <a:buFont typeface="Arial" panose="020B0604020202020204" pitchFamily="34" charset="0"/>
        <a:buChar char="•"/>
        <a:defRPr sz="14700" kern="1200">
          <a:solidFill>
            <a:schemeClr val="tx1"/>
          </a:solidFill>
          <a:latin typeface="+mn-lt"/>
          <a:ea typeface="+mn-ea"/>
          <a:cs typeface="+mn-cs"/>
        </a:defRPr>
      </a:lvl1pPr>
      <a:lvl2pPr marL="3384247" indent="-1301633" algn="l" defTabSz="4165227" rtl="0" eaLnBrk="1" latinLnBrk="0" hangingPunct="1">
        <a:spcBef>
          <a:spcPct val="20000"/>
        </a:spcBef>
        <a:buFont typeface="Arial" panose="020B0604020202020204" pitchFamily="34" charset="0"/>
        <a:buChar char="–"/>
        <a:defRPr sz="12700" kern="1200">
          <a:solidFill>
            <a:schemeClr val="tx1"/>
          </a:solidFill>
          <a:latin typeface="+mn-lt"/>
          <a:ea typeface="+mn-ea"/>
          <a:cs typeface="+mn-cs"/>
        </a:defRPr>
      </a:lvl2pPr>
      <a:lvl3pPr marL="5206533" indent="-1041306" algn="l" defTabSz="4165227" rtl="0" eaLnBrk="1" latinLnBrk="0" hangingPunct="1">
        <a:spcBef>
          <a:spcPct val="20000"/>
        </a:spcBef>
        <a:buFont typeface="Arial" panose="020B0604020202020204" pitchFamily="34" charset="0"/>
        <a:buChar char="•"/>
        <a:defRPr sz="11000" kern="1200">
          <a:solidFill>
            <a:schemeClr val="tx1"/>
          </a:solidFill>
          <a:latin typeface="+mn-lt"/>
          <a:ea typeface="+mn-ea"/>
          <a:cs typeface="+mn-cs"/>
        </a:defRPr>
      </a:lvl3pPr>
      <a:lvl4pPr marL="7289147" indent="-1041306" algn="l" defTabSz="4165227" rtl="0" eaLnBrk="1" latinLnBrk="0" hangingPunct="1">
        <a:spcBef>
          <a:spcPct val="20000"/>
        </a:spcBef>
        <a:buFont typeface="Arial" panose="020B0604020202020204" pitchFamily="34" charset="0"/>
        <a:buChar char="–"/>
        <a:defRPr sz="9200" kern="1200">
          <a:solidFill>
            <a:schemeClr val="tx1"/>
          </a:solidFill>
          <a:latin typeface="+mn-lt"/>
          <a:ea typeface="+mn-ea"/>
          <a:cs typeface="+mn-cs"/>
        </a:defRPr>
      </a:lvl4pPr>
      <a:lvl5pPr marL="9371759" indent="-1041306" algn="l" defTabSz="4165227" rtl="0" eaLnBrk="1" latinLnBrk="0" hangingPunct="1">
        <a:spcBef>
          <a:spcPct val="20000"/>
        </a:spcBef>
        <a:buFont typeface="Arial" panose="020B0604020202020204" pitchFamily="34" charset="0"/>
        <a:buChar char="»"/>
        <a:defRPr sz="9200" kern="1200">
          <a:solidFill>
            <a:schemeClr val="tx1"/>
          </a:solidFill>
          <a:latin typeface="+mn-lt"/>
          <a:ea typeface="+mn-ea"/>
          <a:cs typeface="+mn-cs"/>
        </a:defRPr>
      </a:lvl5pPr>
      <a:lvl6pPr marL="11454373" indent="-1041306" algn="l" defTabSz="4165227" rtl="0" eaLnBrk="1" latinLnBrk="0" hangingPunct="1">
        <a:spcBef>
          <a:spcPct val="20000"/>
        </a:spcBef>
        <a:buFont typeface="Arial" panose="020B0604020202020204" pitchFamily="34" charset="0"/>
        <a:buChar char="•"/>
        <a:defRPr sz="9200" kern="1200">
          <a:solidFill>
            <a:schemeClr val="tx1"/>
          </a:solidFill>
          <a:latin typeface="+mn-lt"/>
          <a:ea typeface="+mn-ea"/>
          <a:cs typeface="+mn-cs"/>
        </a:defRPr>
      </a:lvl6pPr>
      <a:lvl7pPr marL="13536986" indent="-1041306" algn="l" defTabSz="4165227" rtl="0" eaLnBrk="1" latinLnBrk="0" hangingPunct="1">
        <a:spcBef>
          <a:spcPct val="20000"/>
        </a:spcBef>
        <a:buFont typeface="Arial" panose="020B0604020202020204" pitchFamily="34" charset="0"/>
        <a:buChar char="•"/>
        <a:defRPr sz="9200" kern="1200">
          <a:solidFill>
            <a:schemeClr val="tx1"/>
          </a:solidFill>
          <a:latin typeface="+mn-lt"/>
          <a:ea typeface="+mn-ea"/>
          <a:cs typeface="+mn-cs"/>
        </a:defRPr>
      </a:lvl7pPr>
      <a:lvl8pPr marL="15619600" indent="-1041306" algn="l" defTabSz="4165227" rtl="0" eaLnBrk="1" latinLnBrk="0" hangingPunct="1">
        <a:spcBef>
          <a:spcPct val="20000"/>
        </a:spcBef>
        <a:buFont typeface="Arial" panose="020B0604020202020204" pitchFamily="34" charset="0"/>
        <a:buChar char="•"/>
        <a:defRPr sz="9200" kern="1200">
          <a:solidFill>
            <a:schemeClr val="tx1"/>
          </a:solidFill>
          <a:latin typeface="+mn-lt"/>
          <a:ea typeface="+mn-ea"/>
          <a:cs typeface="+mn-cs"/>
        </a:defRPr>
      </a:lvl8pPr>
      <a:lvl9pPr marL="17702212" indent="-1041306" algn="l" defTabSz="4165227" rtl="0" eaLnBrk="1" latinLnBrk="0" hangingPunct="1">
        <a:spcBef>
          <a:spcPct val="20000"/>
        </a:spcBef>
        <a:buFont typeface="Arial" panose="020B0604020202020204" pitchFamily="34" charset="0"/>
        <a:buChar char="•"/>
        <a:defRPr sz="9200" kern="1200">
          <a:solidFill>
            <a:schemeClr val="tx1"/>
          </a:solidFill>
          <a:latin typeface="+mn-lt"/>
          <a:ea typeface="+mn-ea"/>
          <a:cs typeface="+mn-cs"/>
        </a:defRPr>
      </a:lvl9pPr>
    </p:bodyStyle>
    <p:otherStyle>
      <a:defPPr>
        <a:defRPr lang="en-US"/>
      </a:defPPr>
      <a:lvl1pPr marL="0" algn="l" defTabSz="4165227" rtl="0" eaLnBrk="1" latinLnBrk="0" hangingPunct="1">
        <a:defRPr sz="8200" kern="1200">
          <a:solidFill>
            <a:schemeClr val="tx1"/>
          </a:solidFill>
          <a:latin typeface="+mn-lt"/>
          <a:ea typeface="+mn-ea"/>
          <a:cs typeface="+mn-cs"/>
        </a:defRPr>
      </a:lvl1pPr>
      <a:lvl2pPr marL="2082613" algn="l" defTabSz="4165227" rtl="0" eaLnBrk="1" latinLnBrk="0" hangingPunct="1">
        <a:defRPr sz="8200" kern="1200">
          <a:solidFill>
            <a:schemeClr val="tx1"/>
          </a:solidFill>
          <a:latin typeface="+mn-lt"/>
          <a:ea typeface="+mn-ea"/>
          <a:cs typeface="+mn-cs"/>
        </a:defRPr>
      </a:lvl2pPr>
      <a:lvl3pPr marL="4165227" algn="l" defTabSz="4165227" rtl="0" eaLnBrk="1" latinLnBrk="0" hangingPunct="1">
        <a:defRPr sz="8200" kern="1200">
          <a:solidFill>
            <a:schemeClr val="tx1"/>
          </a:solidFill>
          <a:latin typeface="+mn-lt"/>
          <a:ea typeface="+mn-ea"/>
          <a:cs typeface="+mn-cs"/>
        </a:defRPr>
      </a:lvl3pPr>
      <a:lvl4pPr marL="6247839" algn="l" defTabSz="4165227" rtl="0" eaLnBrk="1" latinLnBrk="0" hangingPunct="1">
        <a:defRPr sz="8200" kern="1200">
          <a:solidFill>
            <a:schemeClr val="tx1"/>
          </a:solidFill>
          <a:latin typeface="+mn-lt"/>
          <a:ea typeface="+mn-ea"/>
          <a:cs typeface="+mn-cs"/>
        </a:defRPr>
      </a:lvl4pPr>
      <a:lvl5pPr marL="8330453" algn="l" defTabSz="4165227" rtl="0" eaLnBrk="1" latinLnBrk="0" hangingPunct="1">
        <a:defRPr sz="8200" kern="1200">
          <a:solidFill>
            <a:schemeClr val="tx1"/>
          </a:solidFill>
          <a:latin typeface="+mn-lt"/>
          <a:ea typeface="+mn-ea"/>
          <a:cs typeface="+mn-cs"/>
        </a:defRPr>
      </a:lvl5pPr>
      <a:lvl6pPr marL="10413066" algn="l" defTabSz="4165227" rtl="0" eaLnBrk="1" latinLnBrk="0" hangingPunct="1">
        <a:defRPr sz="8200" kern="1200">
          <a:solidFill>
            <a:schemeClr val="tx1"/>
          </a:solidFill>
          <a:latin typeface="+mn-lt"/>
          <a:ea typeface="+mn-ea"/>
          <a:cs typeface="+mn-cs"/>
        </a:defRPr>
      </a:lvl6pPr>
      <a:lvl7pPr marL="12495680" algn="l" defTabSz="4165227" rtl="0" eaLnBrk="1" latinLnBrk="0" hangingPunct="1">
        <a:defRPr sz="8200" kern="1200">
          <a:solidFill>
            <a:schemeClr val="tx1"/>
          </a:solidFill>
          <a:latin typeface="+mn-lt"/>
          <a:ea typeface="+mn-ea"/>
          <a:cs typeface="+mn-cs"/>
        </a:defRPr>
      </a:lvl7pPr>
      <a:lvl8pPr marL="14578292" algn="l" defTabSz="4165227" rtl="0" eaLnBrk="1" latinLnBrk="0" hangingPunct="1">
        <a:defRPr sz="8200" kern="1200">
          <a:solidFill>
            <a:schemeClr val="tx1"/>
          </a:solidFill>
          <a:latin typeface="+mn-lt"/>
          <a:ea typeface="+mn-ea"/>
          <a:cs typeface="+mn-cs"/>
        </a:defRPr>
      </a:lvl8pPr>
      <a:lvl9pPr marL="16660906" algn="l" defTabSz="4165227" rtl="0" eaLnBrk="1" latinLnBrk="0" hangingPunct="1">
        <a:defRPr sz="8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9.png"/><Relationship Id="rId18" Type="http://schemas.openxmlformats.org/officeDocument/2006/relationships/image" Target="../media/image14.png"/><Relationship Id="rId26" Type="http://schemas.openxmlformats.org/officeDocument/2006/relationships/image" Target="../media/image22.png"/><Relationship Id="rId3" Type="http://schemas.openxmlformats.org/officeDocument/2006/relationships/tags" Target="../tags/tag3.xml"/><Relationship Id="rId21" Type="http://schemas.openxmlformats.org/officeDocument/2006/relationships/image" Target="../media/image17.png"/><Relationship Id="rId7" Type="http://schemas.openxmlformats.org/officeDocument/2006/relationships/image" Target="../media/image3.png"/><Relationship Id="rId12" Type="http://schemas.openxmlformats.org/officeDocument/2006/relationships/image" Target="../media/image8.png"/><Relationship Id="rId17" Type="http://schemas.openxmlformats.org/officeDocument/2006/relationships/image" Target="../media/image13.png"/><Relationship Id="rId25" Type="http://schemas.openxmlformats.org/officeDocument/2006/relationships/image" Target="../media/image21.png"/><Relationship Id="rId2" Type="http://schemas.openxmlformats.org/officeDocument/2006/relationships/tags" Target="../tags/tag2.xml"/><Relationship Id="rId16" Type="http://schemas.openxmlformats.org/officeDocument/2006/relationships/image" Target="../media/image12.png"/><Relationship Id="rId20" Type="http://schemas.openxmlformats.org/officeDocument/2006/relationships/image" Target="../media/image16.png"/><Relationship Id="rId1" Type="http://schemas.openxmlformats.org/officeDocument/2006/relationships/tags" Target="../tags/tag1.xml"/><Relationship Id="rId6" Type="http://schemas.openxmlformats.org/officeDocument/2006/relationships/image" Target="../media/image2.gif"/><Relationship Id="rId11" Type="http://schemas.openxmlformats.org/officeDocument/2006/relationships/image" Target="../media/image7.png"/><Relationship Id="rId24" Type="http://schemas.openxmlformats.org/officeDocument/2006/relationships/image" Target="../media/image20.png"/><Relationship Id="rId5" Type="http://schemas.openxmlformats.org/officeDocument/2006/relationships/image" Target="../media/image1.jpg"/><Relationship Id="rId15" Type="http://schemas.openxmlformats.org/officeDocument/2006/relationships/image" Target="../media/image11.png"/><Relationship Id="rId23" Type="http://schemas.openxmlformats.org/officeDocument/2006/relationships/image" Target="../media/image19.png"/><Relationship Id="rId28" Type="http://schemas.openxmlformats.org/officeDocument/2006/relationships/image" Target="../media/image24.png"/><Relationship Id="rId10" Type="http://schemas.openxmlformats.org/officeDocument/2006/relationships/image" Target="../media/image6.png"/><Relationship Id="rId19" Type="http://schemas.openxmlformats.org/officeDocument/2006/relationships/image" Target="../media/image15.png"/><Relationship Id="rId4" Type="http://schemas.openxmlformats.org/officeDocument/2006/relationships/slideLayout" Target="../slideLayouts/slideLayout1.xml"/><Relationship Id="rId9" Type="http://schemas.openxmlformats.org/officeDocument/2006/relationships/image" Target="../media/image5.png"/><Relationship Id="rId14" Type="http://schemas.openxmlformats.org/officeDocument/2006/relationships/image" Target="../media/image10.jpeg"/><Relationship Id="rId22" Type="http://schemas.openxmlformats.org/officeDocument/2006/relationships/image" Target="../media/image18.png"/><Relationship Id="rId27"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sp>
        <p:nvSpPr>
          <p:cNvPr id="317" name="AutoShape 13 1"/>
          <p:cNvSpPr>
            <a:spLocks noChangeArrowheads="1"/>
          </p:cNvSpPr>
          <p:nvPr/>
        </p:nvSpPr>
        <p:spPr bwMode="auto">
          <a:xfrm>
            <a:off x="506006" y="35213520"/>
            <a:ext cx="16749705" cy="5220851"/>
          </a:xfrm>
          <a:prstGeom prst="roundRect">
            <a:avLst>
              <a:gd name="adj" fmla="val 10870"/>
            </a:avLst>
          </a:prstGeom>
          <a:ln w="76200">
            <a:headEnd/>
            <a:tailEnd/>
          </a:ln>
          <a:extLst/>
        </p:spPr>
        <p:style>
          <a:lnRef idx="2">
            <a:schemeClr val="accent2"/>
          </a:lnRef>
          <a:fillRef idx="1">
            <a:schemeClr val="lt1"/>
          </a:fillRef>
          <a:effectRef idx="0">
            <a:schemeClr val="accent2"/>
          </a:effectRef>
          <a:fontRef idx="minor">
            <a:schemeClr val="dk1"/>
          </a:fontRef>
        </p:style>
        <p:txBody>
          <a:bodyPr wrap="none" lIns="102784" tIns="51392" rIns="102784" bIns="51392" anchor="ctr"/>
          <a:lstStyle>
            <a:defPPr>
              <a:defRPr lang="en-US"/>
            </a:defPPr>
            <a:lvl1pPr algn="ctr" rtl="0" fontAlgn="base">
              <a:spcBef>
                <a:spcPct val="0"/>
              </a:spcBef>
              <a:spcAft>
                <a:spcPct val="0"/>
              </a:spcAft>
              <a:defRPr sz="6900" kern="1200">
                <a:solidFill>
                  <a:schemeClr val="tx1"/>
                </a:solidFill>
                <a:latin typeface="Arial" charset="0"/>
                <a:ea typeface="+mn-ea"/>
                <a:cs typeface="+mn-cs"/>
              </a:defRPr>
            </a:lvl1pPr>
            <a:lvl2pPr marL="457200" algn="ctr" rtl="0" fontAlgn="base">
              <a:spcBef>
                <a:spcPct val="0"/>
              </a:spcBef>
              <a:spcAft>
                <a:spcPct val="0"/>
              </a:spcAft>
              <a:defRPr sz="6900" kern="1200">
                <a:solidFill>
                  <a:schemeClr val="tx1"/>
                </a:solidFill>
                <a:latin typeface="Arial" charset="0"/>
                <a:ea typeface="+mn-ea"/>
                <a:cs typeface="+mn-cs"/>
              </a:defRPr>
            </a:lvl2pPr>
            <a:lvl3pPr marL="914400" algn="ctr" rtl="0" fontAlgn="base">
              <a:spcBef>
                <a:spcPct val="0"/>
              </a:spcBef>
              <a:spcAft>
                <a:spcPct val="0"/>
              </a:spcAft>
              <a:defRPr sz="6900" kern="1200">
                <a:solidFill>
                  <a:schemeClr val="tx1"/>
                </a:solidFill>
                <a:latin typeface="Arial" charset="0"/>
                <a:ea typeface="+mn-ea"/>
                <a:cs typeface="+mn-cs"/>
              </a:defRPr>
            </a:lvl3pPr>
            <a:lvl4pPr marL="1371600" algn="ctr" rtl="0" fontAlgn="base">
              <a:spcBef>
                <a:spcPct val="0"/>
              </a:spcBef>
              <a:spcAft>
                <a:spcPct val="0"/>
              </a:spcAft>
              <a:defRPr sz="6900" kern="1200">
                <a:solidFill>
                  <a:schemeClr val="tx1"/>
                </a:solidFill>
                <a:latin typeface="Arial" charset="0"/>
                <a:ea typeface="+mn-ea"/>
                <a:cs typeface="+mn-cs"/>
              </a:defRPr>
            </a:lvl4pPr>
            <a:lvl5pPr marL="1828800" algn="ctr" rtl="0" fontAlgn="base">
              <a:spcBef>
                <a:spcPct val="0"/>
              </a:spcBef>
              <a:spcAft>
                <a:spcPct val="0"/>
              </a:spcAft>
              <a:defRPr sz="6900" kern="1200">
                <a:solidFill>
                  <a:schemeClr val="tx1"/>
                </a:solidFill>
                <a:latin typeface="Arial" charset="0"/>
                <a:ea typeface="+mn-ea"/>
                <a:cs typeface="+mn-cs"/>
              </a:defRPr>
            </a:lvl5pPr>
            <a:lvl6pPr marL="2286000" algn="l" defTabSz="914400" rtl="0" eaLnBrk="1" latinLnBrk="0" hangingPunct="1">
              <a:defRPr sz="6900" kern="1200">
                <a:solidFill>
                  <a:schemeClr val="tx1"/>
                </a:solidFill>
                <a:latin typeface="Arial" charset="0"/>
                <a:ea typeface="+mn-ea"/>
                <a:cs typeface="+mn-cs"/>
              </a:defRPr>
            </a:lvl6pPr>
            <a:lvl7pPr marL="2743200" algn="l" defTabSz="914400" rtl="0" eaLnBrk="1" latinLnBrk="0" hangingPunct="1">
              <a:defRPr sz="6900" kern="1200">
                <a:solidFill>
                  <a:schemeClr val="tx1"/>
                </a:solidFill>
                <a:latin typeface="Arial" charset="0"/>
                <a:ea typeface="+mn-ea"/>
                <a:cs typeface="+mn-cs"/>
              </a:defRPr>
            </a:lvl7pPr>
            <a:lvl8pPr marL="3200400" algn="l" defTabSz="914400" rtl="0" eaLnBrk="1" latinLnBrk="0" hangingPunct="1">
              <a:defRPr sz="6900" kern="1200">
                <a:solidFill>
                  <a:schemeClr val="tx1"/>
                </a:solidFill>
                <a:latin typeface="Arial" charset="0"/>
                <a:ea typeface="+mn-ea"/>
                <a:cs typeface="+mn-cs"/>
              </a:defRPr>
            </a:lvl8pPr>
            <a:lvl9pPr marL="3657600" algn="l" defTabSz="914400" rtl="0" eaLnBrk="1" latinLnBrk="0" hangingPunct="1">
              <a:defRPr sz="6900" kern="1200">
                <a:solidFill>
                  <a:schemeClr val="tx1"/>
                </a:solidFill>
                <a:latin typeface="Arial" charset="0"/>
                <a:ea typeface="+mn-ea"/>
                <a:cs typeface="+mn-cs"/>
              </a:defRPr>
            </a:lvl9pPr>
          </a:lstStyle>
          <a:p>
            <a:pPr eaLnBrk="1" hangingPunct="1"/>
            <a:endParaRPr lang="en-US" altLang="en-US" dirty="0">
              <a:solidFill>
                <a:schemeClr val="bg1"/>
              </a:solidFill>
            </a:endParaRPr>
          </a:p>
        </p:txBody>
      </p:sp>
      <p:sp>
        <p:nvSpPr>
          <p:cNvPr id="11" name="AutoShape 13 2"/>
          <p:cNvSpPr>
            <a:spLocks noChangeArrowheads="1"/>
          </p:cNvSpPr>
          <p:nvPr/>
        </p:nvSpPr>
        <p:spPr bwMode="auto">
          <a:xfrm>
            <a:off x="540000" y="29270339"/>
            <a:ext cx="29160000" cy="5611116"/>
          </a:xfrm>
          <a:prstGeom prst="roundRect">
            <a:avLst>
              <a:gd name="adj" fmla="val 10870"/>
            </a:avLst>
          </a:prstGeom>
          <a:ln w="76200">
            <a:headEnd/>
            <a:tailEnd/>
          </a:ln>
          <a:extLst/>
        </p:spPr>
        <p:style>
          <a:lnRef idx="2">
            <a:schemeClr val="accent2"/>
          </a:lnRef>
          <a:fillRef idx="1">
            <a:schemeClr val="lt1"/>
          </a:fillRef>
          <a:effectRef idx="0">
            <a:schemeClr val="accent2"/>
          </a:effectRef>
          <a:fontRef idx="minor">
            <a:schemeClr val="dk1"/>
          </a:fontRef>
        </p:style>
        <p:txBody>
          <a:bodyPr wrap="none" lIns="102784" tIns="51392" rIns="102784" bIns="51392" anchor="ctr"/>
          <a:lstStyle>
            <a:defPPr>
              <a:defRPr lang="en-US"/>
            </a:defPPr>
            <a:lvl1pPr algn="ctr" rtl="0" fontAlgn="base">
              <a:spcBef>
                <a:spcPct val="0"/>
              </a:spcBef>
              <a:spcAft>
                <a:spcPct val="0"/>
              </a:spcAft>
              <a:defRPr sz="6900" kern="1200">
                <a:solidFill>
                  <a:schemeClr val="tx1"/>
                </a:solidFill>
                <a:latin typeface="Arial" charset="0"/>
                <a:ea typeface="+mn-ea"/>
                <a:cs typeface="+mn-cs"/>
              </a:defRPr>
            </a:lvl1pPr>
            <a:lvl2pPr marL="457200" algn="ctr" rtl="0" fontAlgn="base">
              <a:spcBef>
                <a:spcPct val="0"/>
              </a:spcBef>
              <a:spcAft>
                <a:spcPct val="0"/>
              </a:spcAft>
              <a:defRPr sz="6900" kern="1200">
                <a:solidFill>
                  <a:schemeClr val="tx1"/>
                </a:solidFill>
                <a:latin typeface="Arial" charset="0"/>
                <a:ea typeface="+mn-ea"/>
                <a:cs typeface="+mn-cs"/>
              </a:defRPr>
            </a:lvl2pPr>
            <a:lvl3pPr marL="914400" algn="ctr" rtl="0" fontAlgn="base">
              <a:spcBef>
                <a:spcPct val="0"/>
              </a:spcBef>
              <a:spcAft>
                <a:spcPct val="0"/>
              </a:spcAft>
              <a:defRPr sz="6900" kern="1200">
                <a:solidFill>
                  <a:schemeClr val="tx1"/>
                </a:solidFill>
                <a:latin typeface="Arial" charset="0"/>
                <a:ea typeface="+mn-ea"/>
                <a:cs typeface="+mn-cs"/>
              </a:defRPr>
            </a:lvl3pPr>
            <a:lvl4pPr marL="1371600" algn="ctr" rtl="0" fontAlgn="base">
              <a:spcBef>
                <a:spcPct val="0"/>
              </a:spcBef>
              <a:spcAft>
                <a:spcPct val="0"/>
              </a:spcAft>
              <a:defRPr sz="6900" kern="1200">
                <a:solidFill>
                  <a:schemeClr val="tx1"/>
                </a:solidFill>
                <a:latin typeface="Arial" charset="0"/>
                <a:ea typeface="+mn-ea"/>
                <a:cs typeface="+mn-cs"/>
              </a:defRPr>
            </a:lvl4pPr>
            <a:lvl5pPr marL="1828800" algn="ctr" rtl="0" fontAlgn="base">
              <a:spcBef>
                <a:spcPct val="0"/>
              </a:spcBef>
              <a:spcAft>
                <a:spcPct val="0"/>
              </a:spcAft>
              <a:defRPr sz="6900" kern="1200">
                <a:solidFill>
                  <a:schemeClr val="tx1"/>
                </a:solidFill>
                <a:latin typeface="Arial" charset="0"/>
                <a:ea typeface="+mn-ea"/>
                <a:cs typeface="+mn-cs"/>
              </a:defRPr>
            </a:lvl5pPr>
            <a:lvl6pPr marL="2286000" algn="l" defTabSz="914400" rtl="0" eaLnBrk="1" latinLnBrk="0" hangingPunct="1">
              <a:defRPr sz="6900" kern="1200">
                <a:solidFill>
                  <a:schemeClr val="tx1"/>
                </a:solidFill>
                <a:latin typeface="Arial" charset="0"/>
                <a:ea typeface="+mn-ea"/>
                <a:cs typeface="+mn-cs"/>
              </a:defRPr>
            </a:lvl6pPr>
            <a:lvl7pPr marL="2743200" algn="l" defTabSz="914400" rtl="0" eaLnBrk="1" latinLnBrk="0" hangingPunct="1">
              <a:defRPr sz="6900" kern="1200">
                <a:solidFill>
                  <a:schemeClr val="tx1"/>
                </a:solidFill>
                <a:latin typeface="Arial" charset="0"/>
                <a:ea typeface="+mn-ea"/>
                <a:cs typeface="+mn-cs"/>
              </a:defRPr>
            </a:lvl7pPr>
            <a:lvl8pPr marL="3200400" algn="l" defTabSz="914400" rtl="0" eaLnBrk="1" latinLnBrk="0" hangingPunct="1">
              <a:defRPr sz="6900" kern="1200">
                <a:solidFill>
                  <a:schemeClr val="tx1"/>
                </a:solidFill>
                <a:latin typeface="Arial" charset="0"/>
                <a:ea typeface="+mn-ea"/>
                <a:cs typeface="+mn-cs"/>
              </a:defRPr>
            </a:lvl8pPr>
            <a:lvl9pPr marL="3657600" algn="l" defTabSz="914400" rtl="0" eaLnBrk="1" latinLnBrk="0" hangingPunct="1">
              <a:defRPr sz="6900" kern="1200">
                <a:solidFill>
                  <a:schemeClr val="tx1"/>
                </a:solidFill>
                <a:latin typeface="Arial" charset="0"/>
                <a:ea typeface="+mn-ea"/>
                <a:cs typeface="+mn-cs"/>
              </a:defRPr>
            </a:lvl9pPr>
          </a:lstStyle>
          <a:p>
            <a:pPr eaLnBrk="1" hangingPunct="1"/>
            <a:endParaRPr lang="en-US" altLang="en-US" dirty="0">
              <a:solidFill>
                <a:schemeClr val="bg1"/>
              </a:solidFill>
            </a:endParaRPr>
          </a:p>
        </p:txBody>
      </p:sp>
      <p:sp>
        <p:nvSpPr>
          <p:cNvPr id="3" name="AutoShape 13 4"/>
          <p:cNvSpPr>
            <a:spLocks noChangeArrowheads="1"/>
          </p:cNvSpPr>
          <p:nvPr/>
        </p:nvSpPr>
        <p:spPr bwMode="auto">
          <a:xfrm>
            <a:off x="540000" y="517005"/>
            <a:ext cx="29196000" cy="6721058"/>
          </a:xfrm>
          <a:prstGeom prst="roundRect">
            <a:avLst>
              <a:gd name="adj" fmla="val 10870"/>
            </a:avLst>
          </a:prstGeom>
          <a:ln w="76200">
            <a:headEnd/>
            <a:tailEnd/>
          </a:ln>
          <a:extLst/>
        </p:spPr>
        <p:style>
          <a:lnRef idx="2">
            <a:schemeClr val="accent2"/>
          </a:lnRef>
          <a:fillRef idx="1">
            <a:schemeClr val="lt1"/>
          </a:fillRef>
          <a:effectRef idx="0">
            <a:schemeClr val="accent2"/>
          </a:effectRef>
          <a:fontRef idx="minor">
            <a:schemeClr val="dk1"/>
          </a:fontRef>
        </p:style>
        <p:txBody>
          <a:bodyPr wrap="none" lIns="102784" tIns="51392" rIns="102784" bIns="51392" anchor="ctr"/>
          <a:lstStyle>
            <a:defPPr>
              <a:defRPr lang="en-US"/>
            </a:defPPr>
            <a:lvl1pPr algn="ctr" rtl="0" fontAlgn="base">
              <a:spcBef>
                <a:spcPct val="0"/>
              </a:spcBef>
              <a:spcAft>
                <a:spcPct val="0"/>
              </a:spcAft>
              <a:defRPr sz="6900" kern="1200">
                <a:solidFill>
                  <a:schemeClr val="tx1"/>
                </a:solidFill>
                <a:latin typeface="Arial" charset="0"/>
                <a:ea typeface="+mn-ea"/>
                <a:cs typeface="+mn-cs"/>
              </a:defRPr>
            </a:lvl1pPr>
            <a:lvl2pPr marL="457200" algn="ctr" rtl="0" fontAlgn="base">
              <a:spcBef>
                <a:spcPct val="0"/>
              </a:spcBef>
              <a:spcAft>
                <a:spcPct val="0"/>
              </a:spcAft>
              <a:defRPr sz="6900" kern="1200">
                <a:solidFill>
                  <a:schemeClr val="tx1"/>
                </a:solidFill>
                <a:latin typeface="Arial" charset="0"/>
                <a:ea typeface="+mn-ea"/>
                <a:cs typeface="+mn-cs"/>
              </a:defRPr>
            </a:lvl2pPr>
            <a:lvl3pPr marL="914400" algn="ctr" rtl="0" fontAlgn="base">
              <a:spcBef>
                <a:spcPct val="0"/>
              </a:spcBef>
              <a:spcAft>
                <a:spcPct val="0"/>
              </a:spcAft>
              <a:defRPr sz="6900" kern="1200">
                <a:solidFill>
                  <a:schemeClr val="tx1"/>
                </a:solidFill>
                <a:latin typeface="Arial" charset="0"/>
                <a:ea typeface="+mn-ea"/>
                <a:cs typeface="+mn-cs"/>
              </a:defRPr>
            </a:lvl3pPr>
            <a:lvl4pPr marL="1371600" algn="ctr" rtl="0" fontAlgn="base">
              <a:spcBef>
                <a:spcPct val="0"/>
              </a:spcBef>
              <a:spcAft>
                <a:spcPct val="0"/>
              </a:spcAft>
              <a:defRPr sz="6900" kern="1200">
                <a:solidFill>
                  <a:schemeClr val="tx1"/>
                </a:solidFill>
                <a:latin typeface="Arial" charset="0"/>
                <a:ea typeface="+mn-ea"/>
                <a:cs typeface="+mn-cs"/>
              </a:defRPr>
            </a:lvl4pPr>
            <a:lvl5pPr marL="1828800" algn="ctr" rtl="0" fontAlgn="base">
              <a:spcBef>
                <a:spcPct val="0"/>
              </a:spcBef>
              <a:spcAft>
                <a:spcPct val="0"/>
              </a:spcAft>
              <a:defRPr sz="6900" kern="1200">
                <a:solidFill>
                  <a:schemeClr val="tx1"/>
                </a:solidFill>
                <a:latin typeface="Arial" charset="0"/>
                <a:ea typeface="+mn-ea"/>
                <a:cs typeface="+mn-cs"/>
              </a:defRPr>
            </a:lvl5pPr>
            <a:lvl6pPr marL="2286000" algn="l" defTabSz="914400" rtl="0" eaLnBrk="1" latinLnBrk="0" hangingPunct="1">
              <a:defRPr sz="6900" kern="1200">
                <a:solidFill>
                  <a:schemeClr val="tx1"/>
                </a:solidFill>
                <a:latin typeface="Arial" charset="0"/>
                <a:ea typeface="+mn-ea"/>
                <a:cs typeface="+mn-cs"/>
              </a:defRPr>
            </a:lvl6pPr>
            <a:lvl7pPr marL="2743200" algn="l" defTabSz="914400" rtl="0" eaLnBrk="1" latinLnBrk="0" hangingPunct="1">
              <a:defRPr sz="6900" kern="1200">
                <a:solidFill>
                  <a:schemeClr val="tx1"/>
                </a:solidFill>
                <a:latin typeface="Arial" charset="0"/>
                <a:ea typeface="+mn-ea"/>
                <a:cs typeface="+mn-cs"/>
              </a:defRPr>
            </a:lvl7pPr>
            <a:lvl8pPr marL="3200400" algn="l" defTabSz="914400" rtl="0" eaLnBrk="1" latinLnBrk="0" hangingPunct="1">
              <a:defRPr sz="6900" kern="1200">
                <a:solidFill>
                  <a:schemeClr val="tx1"/>
                </a:solidFill>
                <a:latin typeface="Arial" charset="0"/>
                <a:ea typeface="+mn-ea"/>
                <a:cs typeface="+mn-cs"/>
              </a:defRPr>
            </a:lvl8pPr>
            <a:lvl9pPr marL="3657600" algn="l" defTabSz="914400" rtl="0" eaLnBrk="1" latinLnBrk="0" hangingPunct="1">
              <a:defRPr sz="6900" kern="1200">
                <a:solidFill>
                  <a:schemeClr val="tx1"/>
                </a:solidFill>
                <a:latin typeface="Arial" charset="0"/>
                <a:ea typeface="+mn-ea"/>
                <a:cs typeface="+mn-cs"/>
              </a:defRPr>
            </a:lvl9pPr>
          </a:lstStyle>
          <a:p>
            <a:pPr eaLnBrk="1" hangingPunct="1"/>
            <a:endParaRPr lang="en-US" altLang="en-US" dirty="0">
              <a:solidFill>
                <a:schemeClr val="bg1"/>
              </a:solidFill>
            </a:endParaRPr>
          </a:p>
        </p:txBody>
      </p:sp>
      <p:pic>
        <p:nvPicPr>
          <p:cNvPr id="1026" name="Picture 2" descr="C:\Users\sepah\Desktop\DTU-logo.gif"/>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6022476" y="1066662"/>
            <a:ext cx="2419803" cy="352654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2725468" y="1066662"/>
            <a:ext cx="23303811" cy="1792265"/>
          </a:xfrm>
          <a:prstGeom prst="rect">
            <a:avLst/>
          </a:prstGeom>
          <a:noFill/>
        </p:spPr>
        <p:txBody>
          <a:bodyPr wrap="square" lIns="129013" tIns="64506" rIns="129013" bIns="64506" rtlCol="0">
            <a:spAutoFit/>
          </a:bodyPr>
          <a:lstStyle/>
          <a:p>
            <a:pPr algn="ctr"/>
            <a:r>
              <a:rPr lang="en-US" sz="5400" dirty="0" smtClean="0">
                <a:latin typeface="Georgia" panose="02040502050405020303" pitchFamily="18" charset="0"/>
                <a:cs typeface="Arial" panose="020B0604020202020204" pitchFamily="34" charset="0"/>
              </a:rPr>
              <a:t>Investigating feasibility of broadband continuous variable quantum key distribution in telecom fibers with local </a:t>
            </a:r>
            <a:r>
              <a:rPr lang="en-US" sz="5400" dirty="0" err="1" smtClean="0">
                <a:latin typeface="Georgia" panose="02040502050405020303" pitchFamily="18" charset="0"/>
                <a:cs typeface="Arial" panose="020B0604020202020204" pitchFamily="34" charset="0"/>
              </a:rPr>
              <a:t>local</a:t>
            </a:r>
            <a:r>
              <a:rPr lang="en-US" sz="5400" dirty="0" smtClean="0">
                <a:latin typeface="Georgia" panose="02040502050405020303" pitchFamily="18" charset="0"/>
                <a:cs typeface="Arial" panose="020B0604020202020204" pitchFamily="34" charset="0"/>
              </a:rPr>
              <a:t> oscillator</a:t>
            </a:r>
            <a:endParaRPr lang="en-US" sz="5400" dirty="0">
              <a:latin typeface="Georgia" panose="02040502050405020303" pitchFamily="18" charset="0"/>
              <a:cs typeface="Arial" panose="020B0604020202020204" pitchFamily="34" charset="0"/>
            </a:endParaRPr>
          </a:p>
        </p:txBody>
      </p:sp>
      <p:sp>
        <p:nvSpPr>
          <p:cNvPr id="6" name="TextBox 5"/>
          <p:cNvSpPr txBox="1"/>
          <p:nvPr/>
        </p:nvSpPr>
        <p:spPr>
          <a:xfrm>
            <a:off x="5837237" y="3097345"/>
            <a:ext cx="19948410" cy="1361378"/>
          </a:xfrm>
          <a:prstGeom prst="rect">
            <a:avLst/>
          </a:prstGeom>
          <a:noFill/>
        </p:spPr>
        <p:txBody>
          <a:bodyPr wrap="square" lIns="129013" tIns="64506" rIns="129013" bIns="64506" rtlCol="0">
            <a:spAutoFit/>
          </a:bodyPr>
          <a:lstStyle/>
          <a:p>
            <a:pPr algn="ctr"/>
            <a:r>
              <a:rPr lang="en-US" sz="4000" dirty="0" smtClean="0">
                <a:latin typeface="Arial" panose="020B0604020202020204" pitchFamily="34" charset="0"/>
                <a:cs typeface="Arial" panose="020B0604020202020204" pitchFamily="34" charset="0"/>
              </a:rPr>
              <a:t>N. Jain,</a:t>
            </a:r>
            <a:r>
              <a:rPr lang="en-US" sz="4000" baseline="30000" dirty="0" smtClean="0">
                <a:latin typeface="Arial" panose="020B0604020202020204" pitchFamily="34" charset="0"/>
                <a:cs typeface="Arial" panose="020B0604020202020204" pitchFamily="34" charset="0"/>
              </a:rPr>
              <a:t>1</a:t>
            </a:r>
            <a:r>
              <a:rPr lang="en-US" sz="4000" dirty="0" smtClean="0">
                <a:latin typeface="Arial" panose="020B0604020202020204" pitchFamily="34" charset="0"/>
                <a:cs typeface="Arial" panose="020B0604020202020204" pitchFamily="34" charset="0"/>
              </a:rPr>
              <a:t> C.S</a:t>
            </a:r>
            <a:r>
              <a:rPr lang="en-US" sz="4000" smtClean="0">
                <a:latin typeface="Arial" panose="020B0604020202020204" pitchFamily="34" charset="0"/>
                <a:cs typeface="Arial" panose="020B0604020202020204" pitchFamily="34" charset="0"/>
              </a:rPr>
              <a:t>. Jacobsen,</a:t>
            </a:r>
            <a:r>
              <a:rPr lang="en-US" sz="4000" baseline="30000" smtClean="0">
                <a:latin typeface="Arial" panose="020B0604020202020204" pitchFamily="34" charset="0"/>
                <a:cs typeface="Arial" panose="020B0604020202020204" pitchFamily="34" charset="0"/>
              </a:rPr>
              <a:t>1</a:t>
            </a:r>
            <a:r>
              <a:rPr lang="en-US" sz="4000" smtClean="0">
                <a:latin typeface="Arial" panose="020B0604020202020204" pitchFamily="34" charset="0"/>
                <a:cs typeface="Arial" panose="020B0604020202020204" pitchFamily="34" charset="0"/>
              </a:rPr>
              <a:t> </a:t>
            </a:r>
            <a:r>
              <a:rPr lang="en-US" sz="4000" u="sng" dirty="0" smtClean="0">
                <a:latin typeface="Arial" panose="020B0604020202020204" pitchFamily="34" charset="0"/>
                <a:cs typeface="Arial" panose="020B0604020202020204" pitchFamily="34" charset="0"/>
              </a:rPr>
              <a:t>D. Solar Nikolic</a:t>
            </a:r>
            <a:r>
              <a:rPr lang="en-US" sz="4000" dirty="0" smtClean="0">
                <a:latin typeface="Arial" panose="020B0604020202020204" pitchFamily="34" charset="0"/>
                <a:cs typeface="Arial" panose="020B0604020202020204" pitchFamily="34" charset="0"/>
              </a:rPr>
              <a:t>,</a:t>
            </a:r>
            <a:r>
              <a:rPr lang="en-US" sz="4000" baseline="30000" dirty="0">
                <a:latin typeface="Arial" panose="020B0604020202020204" pitchFamily="34" charset="0"/>
                <a:cs typeface="Arial" panose="020B0604020202020204" pitchFamily="34" charset="0"/>
              </a:rPr>
              <a:t>1</a:t>
            </a:r>
            <a:r>
              <a:rPr lang="en-US" sz="4000" dirty="0" smtClean="0">
                <a:latin typeface="Arial" panose="020B0604020202020204" pitchFamily="34" charset="0"/>
                <a:cs typeface="Arial" panose="020B0604020202020204" pitchFamily="34" charset="0"/>
              </a:rPr>
              <a:t> </a:t>
            </a:r>
            <a:r>
              <a:rPr lang="en-US" sz="4000" dirty="0">
                <a:latin typeface="Arial" panose="020B0604020202020204" pitchFamily="34" charset="0"/>
                <a:cs typeface="Arial" panose="020B0604020202020204" pitchFamily="34" charset="0"/>
              </a:rPr>
              <a:t>A</a:t>
            </a:r>
            <a:r>
              <a:rPr lang="en-US" sz="4000" dirty="0" smtClean="0">
                <a:latin typeface="Arial" panose="020B0604020202020204" pitchFamily="34" charset="0"/>
                <a:cs typeface="Arial" panose="020B0604020202020204" pitchFamily="34" charset="0"/>
              </a:rPr>
              <a:t>. Kordts,</a:t>
            </a:r>
            <a:r>
              <a:rPr lang="en-US" sz="4000" baseline="30000" dirty="0">
                <a:latin typeface="Arial" panose="020B0604020202020204" pitchFamily="34" charset="0"/>
                <a:cs typeface="Arial" panose="020B0604020202020204" pitchFamily="34" charset="0"/>
              </a:rPr>
              <a:t>1</a:t>
            </a:r>
            <a:r>
              <a:rPr lang="en-US" sz="4000" dirty="0" smtClean="0">
                <a:latin typeface="Arial" panose="020B0604020202020204" pitchFamily="34" charset="0"/>
                <a:cs typeface="Arial" panose="020B0604020202020204" pitchFamily="34" charset="0"/>
              </a:rPr>
              <a:t> </a:t>
            </a:r>
            <a:r>
              <a:rPr lang="en-US" sz="4000" dirty="0">
                <a:latin typeface="Arial" panose="020B0604020202020204" pitchFamily="34" charset="0"/>
                <a:cs typeface="Arial" panose="020B0604020202020204" pitchFamily="34" charset="0"/>
              </a:rPr>
              <a:t>C</a:t>
            </a:r>
            <a:r>
              <a:rPr lang="en-US" sz="4000" dirty="0" smtClean="0">
                <a:latin typeface="Arial" panose="020B0604020202020204" pitchFamily="34" charset="0"/>
                <a:cs typeface="Arial" panose="020B0604020202020204" pitchFamily="34" charset="0"/>
              </a:rPr>
              <a:t>. Lupo,</a:t>
            </a:r>
            <a:r>
              <a:rPr lang="en-US" sz="4000" baseline="30000" dirty="0">
                <a:latin typeface="Arial" panose="020B0604020202020204" pitchFamily="34" charset="0"/>
                <a:cs typeface="Arial" panose="020B0604020202020204" pitchFamily="34" charset="0"/>
              </a:rPr>
              <a:t>2</a:t>
            </a:r>
            <a:r>
              <a:rPr lang="en-US" sz="4000" dirty="0" smtClean="0">
                <a:latin typeface="Arial" panose="020B0604020202020204" pitchFamily="34" charset="0"/>
                <a:cs typeface="Arial" panose="020B0604020202020204" pitchFamily="34" charset="0"/>
              </a:rPr>
              <a:t> </a:t>
            </a:r>
          </a:p>
          <a:p>
            <a:pPr algn="ctr"/>
            <a:r>
              <a:rPr lang="en-US" sz="4000" dirty="0">
                <a:latin typeface="Arial" panose="020B0604020202020204" pitchFamily="34" charset="0"/>
                <a:cs typeface="Arial" panose="020B0604020202020204" pitchFamily="34" charset="0"/>
              </a:rPr>
              <a:t>R</a:t>
            </a:r>
            <a:r>
              <a:rPr lang="en-US" sz="4000" dirty="0" smtClean="0">
                <a:latin typeface="Arial" panose="020B0604020202020204" pitchFamily="34" charset="0"/>
                <a:cs typeface="Arial" panose="020B0604020202020204" pitchFamily="34" charset="0"/>
              </a:rPr>
              <a:t>. Grigoryan,</a:t>
            </a:r>
            <a:r>
              <a:rPr lang="en-US" sz="4000" baseline="30000" dirty="0">
                <a:latin typeface="Arial" panose="020B0604020202020204" pitchFamily="34" charset="0"/>
                <a:cs typeface="Arial" panose="020B0604020202020204" pitchFamily="34" charset="0"/>
              </a:rPr>
              <a:t>1</a:t>
            </a:r>
            <a:r>
              <a:rPr lang="en-US" sz="4000" baseline="30000" dirty="0" smtClean="0">
                <a:latin typeface="Arial" panose="020B0604020202020204" pitchFamily="34" charset="0"/>
                <a:cs typeface="Arial" panose="020B0604020202020204" pitchFamily="34" charset="0"/>
              </a:rPr>
              <a:t> </a:t>
            </a:r>
            <a:r>
              <a:rPr lang="en-US" sz="4000" dirty="0">
                <a:latin typeface="Arial" panose="020B0604020202020204" pitchFamily="34" charset="0"/>
                <a:cs typeface="Arial" panose="020B0604020202020204" pitchFamily="34" charset="0"/>
              </a:rPr>
              <a:t>T</a:t>
            </a:r>
            <a:r>
              <a:rPr lang="en-US" sz="4000" dirty="0" smtClean="0">
                <a:latin typeface="Arial" panose="020B0604020202020204" pitchFamily="34" charset="0"/>
                <a:cs typeface="Arial" panose="020B0604020202020204" pitchFamily="34" charset="0"/>
              </a:rPr>
              <a:t>. Pedersen,</a:t>
            </a:r>
            <a:r>
              <a:rPr lang="en-US" sz="4000" baseline="30000" dirty="0">
                <a:latin typeface="Arial" panose="020B0604020202020204" pitchFamily="34" charset="0"/>
                <a:cs typeface="Arial" panose="020B0604020202020204" pitchFamily="34" charset="0"/>
              </a:rPr>
              <a:t>3</a:t>
            </a:r>
            <a:r>
              <a:rPr lang="en-US" sz="4000" dirty="0" smtClean="0">
                <a:latin typeface="Arial" panose="020B0604020202020204" pitchFamily="34" charset="0"/>
                <a:cs typeface="Arial" panose="020B0604020202020204" pitchFamily="34" charset="0"/>
              </a:rPr>
              <a:t> S. Pirandola,</a:t>
            </a:r>
            <a:r>
              <a:rPr lang="en-US" sz="4000" baseline="30000" dirty="0" smtClean="0">
                <a:latin typeface="Arial" panose="020B0604020202020204" pitchFamily="34" charset="0"/>
                <a:cs typeface="Arial" panose="020B0604020202020204" pitchFamily="34" charset="0"/>
              </a:rPr>
              <a:t>2,4</a:t>
            </a:r>
            <a:r>
              <a:rPr lang="en-US" sz="4000" dirty="0" smtClean="0">
                <a:latin typeface="Arial" panose="020B0604020202020204" pitchFamily="34" charset="0"/>
                <a:cs typeface="Arial" panose="020B0604020202020204" pitchFamily="34" charset="0"/>
              </a:rPr>
              <a:t> T. Gehring,</a:t>
            </a:r>
            <a:r>
              <a:rPr lang="en-US" sz="4000" baseline="30000" dirty="0" smtClean="0">
                <a:latin typeface="Arial" panose="020B0604020202020204" pitchFamily="34" charset="0"/>
                <a:cs typeface="Arial" panose="020B0604020202020204" pitchFamily="34" charset="0"/>
              </a:rPr>
              <a:t>1</a:t>
            </a:r>
            <a:r>
              <a:rPr lang="en-US" sz="4000" dirty="0" smtClean="0">
                <a:latin typeface="Arial" panose="020B0604020202020204" pitchFamily="34" charset="0"/>
                <a:cs typeface="Arial" panose="020B0604020202020204" pitchFamily="34" charset="0"/>
              </a:rPr>
              <a:t> </a:t>
            </a:r>
            <a:r>
              <a:rPr lang="en-US" sz="4000" dirty="0">
                <a:latin typeface="Arial" panose="020B0604020202020204" pitchFamily="34" charset="0"/>
                <a:cs typeface="Arial" panose="020B0604020202020204" pitchFamily="34" charset="0"/>
              </a:rPr>
              <a:t>and </a:t>
            </a:r>
            <a:r>
              <a:rPr lang="en-US" sz="4000" dirty="0" smtClean="0">
                <a:latin typeface="Arial" panose="020B0604020202020204" pitchFamily="34" charset="0"/>
                <a:cs typeface="Arial" panose="020B0604020202020204" pitchFamily="34" charset="0"/>
              </a:rPr>
              <a:t>U.L. Andersen</a:t>
            </a:r>
            <a:r>
              <a:rPr lang="en-US" sz="4000" baseline="30000" dirty="0" smtClean="0">
                <a:latin typeface="Arial" panose="020B0604020202020204" pitchFamily="34" charset="0"/>
                <a:cs typeface="Arial" panose="020B0604020202020204" pitchFamily="34" charset="0"/>
              </a:rPr>
              <a:t>1</a:t>
            </a:r>
            <a:endParaRPr lang="en-US" sz="4000" baseline="30000" dirty="0">
              <a:latin typeface="Arial" panose="020B0604020202020204" pitchFamily="34" charset="0"/>
              <a:cs typeface="Arial" panose="020B0604020202020204" pitchFamily="34" charset="0"/>
            </a:endParaRPr>
          </a:p>
        </p:txBody>
      </p:sp>
      <p:sp>
        <p:nvSpPr>
          <p:cNvPr id="26" name="TextBox 25"/>
          <p:cNvSpPr txBox="1"/>
          <p:nvPr/>
        </p:nvSpPr>
        <p:spPr>
          <a:xfrm>
            <a:off x="721822" y="29425822"/>
            <a:ext cx="14078129" cy="807380"/>
          </a:xfrm>
          <a:prstGeom prst="rect">
            <a:avLst/>
          </a:prstGeom>
          <a:noFill/>
        </p:spPr>
        <p:txBody>
          <a:bodyPr wrap="square" lIns="129013" tIns="64506" rIns="129013" bIns="64506" rtlCol="0">
            <a:spAutoFit/>
          </a:bodyPr>
          <a:lstStyle/>
          <a:p>
            <a:r>
              <a:rPr lang="en-US" sz="4400" smtClean="0">
                <a:latin typeface="Arial" panose="020B0604020202020204" pitchFamily="34" charset="0"/>
                <a:cs typeface="Arial" panose="020B0604020202020204" pitchFamily="34" charset="0"/>
              </a:rPr>
              <a:t>Preliminary results (back to back configuration)</a:t>
            </a:r>
            <a:endParaRPr lang="en-US" sz="4400" dirty="0">
              <a:latin typeface="Arial" panose="020B0604020202020204" pitchFamily="34" charset="0"/>
              <a:cs typeface="Arial" panose="020B0604020202020204" pitchFamily="34" charset="0"/>
            </a:endParaRPr>
          </a:p>
        </p:txBody>
      </p:sp>
      <p:sp>
        <p:nvSpPr>
          <p:cNvPr id="12" name="TextBox 11"/>
          <p:cNvSpPr txBox="1"/>
          <p:nvPr/>
        </p:nvSpPr>
        <p:spPr>
          <a:xfrm>
            <a:off x="7226343" y="4709319"/>
            <a:ext cx="17203694" cy="2292935"/>
          </a:xfrm>
          <a:prstGeom prst="rect">
            <a:avLst/>
          </a:prstGeom>
          <a:noFill/>
        </p:spPr>
        <p:txBody>
          <a:bodyPr wrap="square" rtlCol="0">
            <a:spAutoFit/>
          </a:bodyPr>
          <a:lstStyle/>
          <a:p>
            <a:pPr lvl="0" algn="just" defTabSz="4165227">
              <a:spcBef>
                <a:spcPts val="600"/>
              </a:spcBef>
            </a:pPr>
            <a:r>
              <a:rPr lang="en-US" sz="3200" baseline="30000" smtClean="0">
                <a:solidFill>
                  <a:prstClr val="black"/>
                </a:solidFill>
              </a:rPr>
              <a:t>1</a:t>
            </a:r>
            <a:r>
              <a:rPr lang="en-US" sz="3200" smtClean="0">
                <a:solidFill>
                  <a:prstClr val="black"/>
                </a:solidFill>
              </a:rPr>
              <a:t>Department </a:t>
            </a:r>
            <a:r>
              <a:rPr lang="en-US" sz="3200" dirty="0">
                <a:solidFill>
                  <a:prstClr val="black"/>
                </a:solidFill>
              </a:rPr>
              <a:t>of Physics</a:t>
            </a:r>
            <a:r>
              <a:rPr lang="en-US" sz="3200">
                <a:solidFill>
                  <a:prstClr val="black"/>
                </a:solidFill>
              </a:rPr>
              <a:t>, </a:t>
            </a:r>
            <a:r>
              <a:rPr lang="en-US" sz="3200" smtClean="0">
                <a:solidFill>
                  <a:prstClr val="black"/>
                </a:solidFill>
              </a:rPr>
              <a:t>Fysikvej 309, Technical University of Denmark, </a:t>
            </a:r>
            <a:r>
              <a:rPr lang="en-US" sz="3200" dirty="0">
                <a:solidFill>
                  <a:prstClr val="black"/>
                </a:solidFill>
              </a:rPr>
              <a:t>2800 </a:t>
            </a:r>
            <a:r>
              <a:rPr lang="en-US" sz="3200" dirty="0" err="1">
                <a:solidFill>
                  <a:prstClr val="black"/>
                </a:solidFill>
              </a:rPr>
              <a:t>Kongens</a:t>
            </a:r>
            <a:r>
              <a:rPr lang="en-US" sz="3200" dirty="0">
                <a:solidFill>
                  <a:prstClr val="black"/>
                </a:solidFill>
              </a:rPr>
              <a:t> </a:t>
            </a:r>
            <a:r>
              <a:rPr lang="en-US" sz="3200" dirty="0" err="1">
                <a:solidFill>
                  <a:prstClr val="black"/>
                </a:solidFill>
              </a:rPr>
              <a:t>Lyngby</a:t>
            </a:r>
            <a:r>
              <a:rPr lang="en-US" sz="3200">
                <a:solidFill>
                  <a:prstClr val="black"/>
                </a:solidFill>
              </a:rPr>
              <a:t>, </a:t>
            </a:r>
            <a:r>
              <a:rPr lang="en-US" sz="3200" smtClean="0">
                <a:solidFill>
                  <a:prstClr val="black"/>
                </a:solidFill>
              </a:rPr>
              <a:t>Denmark</a:t>
            </a:r>
          </a:p>
          <a:p>
            <a:pPr lvl="0" algn="just" defTabSz="4165227">
              <a:spcBef>
                <a:spcPts val="600"/>
              </a:spcBef>
            </a:pPr>
            <a:r>
              <a:rPr lang="en-US" sz="3200" baseline="30000" smtClean="0">
                <a:solidFill>
                  <a:prstClr val="black"/>
                </a:solidFill>
              </a:rPr>
              <a:t>2</a:t>
            </a:r>
            <a:r>
              <a:rPr lang="en-US" sz="3200" smtClean="0">
                <a:solidFill>
                  <a:prstClr val="black"/>
                </a:solidFill>
              </a:rPr>
              <a:t>York </a:t>
            </a:r>
            <a:r>
              <a:rPr lang="en-US" sz="3200" dirty="0" smtClean="0">
                <a:solidFill>
                  <a:prstClr val="black"/>
                </a:solidFill>
              </a:rPr>
              <a:t>Centre for Quantum Technologies (YCQT), University of York, York YO10 5GH</a:t>
            </a:r>
            <a:r>
              <a:rPr lang="en-US" sz="3200" smtClean="0">
                <a:solidFill>
                  <a:prstClr val="black"/>
                </a:solidFill>
              </a:rPr>
              <a:t>, </a:t>
            </a:r>
            <a:r>
              <a:rPr lang="en-US" sz="3200">
                <a:solidFill>
                  <a:prstClr val="black"/>
                </a:solidFill>
              </a:rPr>
              <a:t>United Kingdom</a:t>
            </a:r>
          </a:p>
          <a:p>
            <a:pPr lvl="0" algn="just" defTabSz="4165227">
              <a:spcBef>
                <a:spcPts val="600"/>
              </a:spcBef>
            </a:pPr>
            <a:r>
              <a:rPr lang="en-US" sz="3200" baseline="30000" smtClean="0">
                <a:solidFill>
                  <a:prstClr val="black"/>
                </a:solidFill>
              </a:rPr>
              <a:t>3</a:t>
            </a:r>
            <a:r>
              <a:rPr lang="en-US" sz="3200" smtClean="0">
                <a:solidFill>
                  <a:prstClr val="black"/>
                </a:solidFill>
              </a:rPr>
              <a:t>Cryptomathic </a:t>
            </a:r>
            <a:r>
              <a:rPr lang="en-US" sz="3200" dirty="0" smtClean="0">
                <a:solidFill>
                  <a:prstClr val="black"/>
                </a:solidFill>
              </a:rPr>
              <a:t>A/S, </a:t>
            </a:r>
            <a:r>
              <a:rPr lang="en-US" sz="3200" dirty="0" err="1" smtClean="0">
                <a:solidFill>
                  <a:prstClr val="black"/>
                </a:solidFill>
              </a:rPr>
              <a:t>Jaegergardsgale</a:t>
            </a:r>
            <a:r>
              <a:rPr lang="en-US" sz="3200" dirty="0" smtClean="0">
                <a:solidFill>
                  <a:prstClr val="black"/>
                </a:solidFill>
              </a:rPr>
              <a:t> 118, 8000 Aarhus</a:t>
            </a:r>
            <a:r>
              <a:rPr lang="en-US" sz="3200" smtClean="0">
                <a:solidFill>
                  <a:prstClr val="black"/>
                </a:solidFill>
              </a:rPr>
              <a:t>, Denmark</a:t>
            </a:r>
          </a:p>
          <a:p>
            <a:pPr lvl="0" algn="just" defTabSz="4165227">
              <a:spcBef>
                <a:spcPts val="600"/>
              </a:spcBef>
            </a:pPr>
            <a:r>
              <a:rPr lang="en-US" sz="3200" baseline="30000" smtClean="0">
                <a:solidFill>
                  <a:prstClr val="black"/>
                </a:solidFill>
              </a:rPr>
              <a:t>4</a:t>
            </a:r>
            <a:r>
              <a:rPr lang="en-US" sz="3200" smtClean="0">
                <a:solidFill>
                  <a:prstClr val="black"/>
                </a:solidFill>
              </a:rPr>
              <a:t>Department of Computer </a:t>
            </a:r>
            <a:r>
              <a:rPr lang="en-US" sz="3200" dirty="0" smtClean="0">
                <a:solidFill>
                  <a:prstClr val="black"/>
                </a:solidFill>
              </a:rPr>
              <a:t>Science, University of York, York YO10 5GH, United Kingdom</a:t>
            </a:r>
            <a:endParaRPr lang="en-US" sz="4800" dirty="0"/>
          </a:p>
        </p:txBody>
      </p:sp>
      <p:sp>
        <p:nvSpPr>
          <p:cNvPr id="42" name="AutoShape 13 6"/>
          <p:cNvSpPr>
            <a:spLocks noChangeArrowheads="1"/>
          </p:cNvSpPr>
          <p:nvPr/>
        </p:nvSpPr>
        <p:spPr bwMode="auto">
          <a:xfrm>
            <a:off x="473730" y="40844040"/>
            <a:ext cx="29262270" cy="1653375"/>
          </a:xfrm>
          <a:prstGeom prst="roundRect">
            <a:avLst>
              <a:gd name="adj" fmla="val 10870"/>
            </a:avLst>
          </a:prstGeom>
          <a:ln w="76200">
            <a:headEnd/>
            <a:tailEnd/>
          </a:ln>
          <a:extLst/>
        </p:spPr>
        <p:style>
          <a:lnRef idx="2">
            <a:schemeClr val="accent2"/>
          </a:lnRef>
          <a:fillRef idx="1">
            <a:schemeClr val="lt1"/>
          </a:fillRef>
          <a:effectRef idx="0">
            <a:schemeClr val="accent2"/>
          </a:effectRef>
          <a:fontRef idx="minor">
            <a:schemeClr val="dk1"/>
          </a:fontRef>
        </p:style>
        <p:txBody>
          <a:bodyPr wrap="none" lIns="102784" tIns="51392" rIns="102784" bIns="51392" anchor="ctr"/>
          <a:lstStyle>
            <a:defPPr>
              <a:defRPr lang="en-US"/>
            </a:defPPr>
            <a:lvl1pPr algn="ctr" rtl="0" fontAlgn="base">
              <a:spcBef>
                <a:spcPct val="0"/>
              </a:spcBef>
              <a:spcAft>
                <a:spcPct val="0"/>
              </a:spcAft>
              <a:defRPr sz="6900" kern="1200">
                <a:solidFill>
                  <a:schemeClr val="tx1"/>
                </a:solidFill>
                <a:latin typeface="Arial" charset="0"/>
                <a:ea typeface="+mn-ea"/>
                <a:cs typeface="+mn-cs"/>
              </a:defRPr>
            </a:lvl1pPr>
            <a:lvl2pPr marL="457200" algn="ctr" rtl="0" fontAlgn="base">
              <a:spcBef>
                <a:spcPct val="0"/>
              </a:spcBef>
              <a:spcAft>
                <a:spcPct val="0"/>
              </a:spcAft>
              <a:defRPr sz="6900" kern="1200">
                <a:solidFill>
                  <a:schemeClr val="tx1"/>
                </a:solidFill>
                <a:latin typeface="Arial" charset="0"/>
                <a:ea typeface="+mn-ea"/>
                <a:cs typeface="+mn-cs"/>
              </a:defRPr>
            </a:lvl2pPr>
            <a:lvl3pPr marL="914400" algn="ctr" rtl="0" fontAlgn="base">
              <a:spcBef>
                <a:spcPct val="0"/>
              </a:spcBef>
              <a:spcAft>
                <a:spcPct val="0"/>
              </a:spcAft>
              <a:defRPr sz="6900" kern="1200">
                <a:solidFill>
                  <a:schemeClr val="tx1"/>
                </a:solidFill>
                <a:latin typeface="Arial" charset="0"/>
                <a:ea typeface="+mn-ea"/>
                <a:cs typeface="+mn-cs"/>
              </a:defRPr>
            </a:lvl3pPr>
            <a:lvl4pPr marL="1371600" algn="ctr" rtl="0" fontAlgn="base">
              <a:spcBef>
                <a:spcPct val="0"/>
              </a:spcBef>
              <a:spcAft>
                <a:spcPct val="0"/>
              </a:spcAft>
              <a:defRPr sz="6900" kern="1200">
                <a:solidFill>
                  <a:schemeClr val="tx1"/>
                </a:solidFill>
                <a:latin typeface="Arial" charset="0"/>
                <a:ea typeface="+mn-ea"/>
                <a:cs typeface="+mn-cs"/>
              </a:defRPr>
            </a:lvl4pPr>
            <a:lvl5pPr marL="1828800" algn="ctr" rtl="0" fontAlgn="base">
              <a:spcBef>
                <a:spcPct val="0"/>
              </a:spcBef>
              <a:spcAft>
                <a:spcPct val="0"/>
              </a:spcAft>
              <a:defRPr sz="6900" kern="1200">
                <a:solidFill>
                  <a:schemeClr val="tx1"/>
                </a:solidFill>
                <a:latin typeface="Arial" charset="0"/>
                <a:ea typeface="+mn-ea"/>
                <a:cs typeface="+mn-cs"/>
              </a:defRPr>
            </a:lvl5pPr>
            <a:lvl6pPr marL="2286000" algn="l" defTabSz="914400" rtl="0" eaLnBrk="1" latinLnBrk="0" hangingPunct="1">
              <a:defRPr sz="6900" kern="1200">
                <a:solidFill>
                  <a:schemeClr val="tx1"/>
                </a:solidFill>
                <a:latin typeface="Arial" charset="0"/>
                <a:ea typeface="+mn-ea"/>
                <a:cs typeface="+mn-cs"/>
              </a:defRPr>
            </a:lvl6pPr>
            <a:lvl7pPr marL="2743200" algn="l" defTabSz="914400" rtl="0" eaLnBrk="1" latinLnBrk="0" hangingPunct="1">
              <a:defRPr sz="6900" kern="1200">
                <a:solidFill>
                  <a:schemeClr val="tx1"/>
                </a:solidFill>
                <a:latin typeface="Arial" charset="0"/>
                <a:ea typeface="+mn-ea"/>
                <a:cs typeface="+mn-cs"/>
              </a:defRPr>
            </a:lvl7pPr>
            <a:lvl8pPr marL="3200400" algn="l" defTabSz="914400" rtl="0" eaLnBrk="1" latinLnBrk="0" hangingPunct="1">
              <a:defRPr sz="6900" kern="1200">
                <a:solidFill>
                  <a:schemeClr val="tx1"/>
                </a:solidFill>
                <a:latin typeface="Arial" charset="0"/>
                <a:ea typeface="+mn-ea"/>
                <a:cs typeface="+mn-cs"/>
              </a:defRPr>
            </a:lvl8pPr>
            <a:lvl9pPr marL="3657600" algn="l" defTabSz="914400" rtl="0" eaLnBrk="1" latinLnBrk="0" hangingPunct="1">
              <a:defRPr sz="6900" kern="1200">
                <a:solidFill>
                  <a:schemeClr val="tx1"/>
                </a:solidFill>
                <a:latin typeface="Arial" charset="0"/>
                <a:ea typeface="+mn-ea"/>
                <a:cs typeface="+mn-cs"/>
              </a:defRPr>
            </a:lvl9pPr>
          </a:lstStyle>
          <a:p>
            <a:pPr eaLnBrk="1" hangingPunct="1"/>
            <a:endParaRPr lang="en-US" altLang="en-US" dirty="0">
              <a:solidFill>
                <a:schemeClr val="bg1"/>
              </a:solidFill>
            </a:endParaRPr>
          </a:p>
        </p:txBody>
      </p:sp>
      <p:sp>
        <p:nvSpPr>
          <p:cNvPr id="20" name="Rectangle 19"/>
          <p:cNvSpPr/>
          <p:nvPr/>
        </p:nvSpPr>
        <p:spPr>
          <a:xfrm>
            <a:off x="707150" y="40844040"/>
            <a:ext cx="2808782" cy="707886"/>
          </a:xfrm>
          <a:prstGeom prst="rect">
            <a:avLst/>
          </a:prstGeom>
        </p:spPr>
        <p:txBody>
          <a:bodyPr wrap="none">
            <a:spAutoFit/>
          </a:bodyPr>
          <a:lstStyle/>
          <a:p>
            <a:r>
              <a:rPr lang="en-US" sz="4000" dirty="0" smtClean="0">
                <a:latin typeface="Arial" panose="020B0604020202020204" pitchFamily="34" charset="0"/>
                <a:cs typeface="Arial" panose="020B0604020202020204" pitchFamily="34" charset="0"/>
              </a:rPr>
              <a:t>References</a:t>
            </a:r>
            <a:endParaRPr lang="en-US" sz="4000" dirty="0">
              <a:latin typeface="Arial" panose="020B0604020202020204" pitchFamily="34" charset="0"/>
              <a:cs typeface="Arial" panose="020B0604020202020204" pitchFamily="34" charset="0"/>
            </a:endParaRPr>
          </a:p>
        </p:txBody>
      </p:sp>
      <p:sp>
        <p:nvSpPr>
          <p:cNvPr id="69" name="Rectangle 68"/>
          <p:cNvSpPr/>
          <p:nvPr/>
        </p:nvSpPr>
        <p:spPr>
          <a:xfrm>
            <a:off x="17287884" y="29711622"/>
            <a:ext cx="990600" cy="88019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p:cNvSpPr txBox="1"/>
          <p:nvPr/>
        </p:nvSpPr>
        <p:spPr>
          <a:xfrm>
            <a:off x="675197" y="41450544"/>
            <a:ext cx="6074398" cy="954107"/>
          </a:xfrm>
          <a:prstGeom prst="rect">
            <a:avLst/>
          </a:prstGeom>
          <a:noFill/>
        </p:spPr>
        <p:txBody>
          <a:bodyPr wrap="square" rtlCol="0">
            <a:spAutoFit/>
          </a:bodyPr>
          <a:lstStyle/>
          <a:p>
            <a:r>
              <a:rPr lang="nn-NO" sz="2800" dirty="0" smtClean="0"/>
              <a:t>[1] </a:t>
            </a:r>
            <a:r>
              <a:rPr lang="nn-NO" sz="2800" dirty="0"/>
              <a:t>Entropy </a:t>
            </a:r>
            <a:r>
              <a:rPr lang="nn-NO" sz="2800" b="1" dirty="0"/>
              <a:t>17</a:t>
            </a:r>
            <a:r>
              <a:rPr lang="nn-NO" sz="2800" dirty="0"/>
              <a:t>, 6072-6092, (2015)</a:t>
            </a:r>
            <a:endParaRPr lang="en-US" sz="2800" dirty="0"/>
          </a:p>
          <a:p>
            <a:r>
              <a:rPr lang="en-US" sz="2800" dirty="0" smtClean="0"/>
              <a:t>[2</a:t>
            </a:r>
            <a:r>
              <a:rPr lang="en-US" sz="2800" dirty="0"/>
              <a:t>] Laser Photon. Rev. </a:t>
            </a:r>
            <a:r>
              <a:rPr lang="en-US" sz="2800" b="1" dirty="0"/>
              <a:t>4</a:t>
            </a:r>
            <a:r>
              <a:rPr lang="en-US" sz="2800" dirty="0"/>
              <a:t>, </a:t>
            </a:r>
            <a:r>
              <a:rPr lang="en-US" sz="2800" dirty="0" smtClean="0"/>
              <a:t>337–354 (2010</a:t>
            </a:r>
            <a:r>
              <a:rPr lang="en-US" sz="2800" dirty="0"/>
              <a:t>)</a:t>
            </a:r>
            <a:endParaRPr lang="en-US" sz="2800" dirty="0" smtClean="0"/>
          </a:p>
        </p:txBody>
      </p:sp>
      <p:sp>
        <p:nvSpPr>
          <p:cNvPr id="315" name="TextBox 314"/>
          <p:cNvSpPr txBox="1"/>
          <p:nvPr/>
        </p:nvSpPr>
        <p:spPr>
          <a:xfrm>
            <a:off x="731297" y="30705038"/>
            <a:ext cx="4700081" cy="3970318"/>
          </a:xfrm>
          <a:prstGeom prst="rect">
            <a:avLst/>
          </a:prstGeom>
          <a:noFill/>
        </p:spPr>
        <p:txBody>
          <a:bodyPr wrap="square" rtlCol="0">
            <a:spAutoFit/>
          </a:bodyPr>
          <a:lstStyle/>
          <a:p>
            <a:pPr marL="457200" indent="-457200">
              <a:buFont typeface="Arial" panose="020B0604020202020204" pitchFamily="34" charset="0"/>
              <a:buChar char="•"/>
            </a:pPr>
            <a:r>
              <a:rPr lang="en-US" sz="2800" dirty="0" smtClean="0"/>
              <a:t>Data processing performed offline in MATLAB </a:t>
            </a:r>
            <a:r>
              <a:rPr lang="en-US" sz="2800" smtClean="0"/>
              <a:t>with </a:t>
            </a:r>
            <a:r>
              <a:rPr lang="en-US" sz="2800" smtClean="0"/>
              <a:t>digital phase locked loop (PLL) </a:t>
            </a:r>
            <a:r>
              <a:rPr lang="en-US" sz="2800" dirty="0" smtClean="0"/>
              <a:t>for recovering the modulated data</a:t>
            </a:r>
          </a:p>
          <a:p>
            <a:pPr marL="457200" indent="-457200">
              <a:buFont typeface="Arial" panose="020B0604020202020204" pitchFamily="34" charset="0"/>
              <a:buChar char="•"/>
            </a:pPr>
            <a:r>
              <a:rPr lang="en-US" sz="2800" smtClean="0"/>
              <a:t>(Undesired) double sidebands created due to employing intensity </a:t>
            </a:r>
            <a:r>
              <a:rPr lang="en-US" sz="2800" dirty="0" smtClean="0"/>
              <a:t>and phase modulators</a:t>
            </a:r>
            <a:endParaRPr lang="en-US" sz="2800" dirty="0"/>
          </a:p>
        </p:txBody>
      </p:sp>
      <p:sp>
        <p:nvSpPr>
          <p:cNvPr id="316" name="TextBox 315"/>
          <p:cNvSpPr txBox="1"/>
          <p:nvPr/>
        </p:nvSpPr>
        <p:spPr>
          <a:xfrm>
            <a:off x="724035" y="36080841"/>
            <a:ext cx="7665550" cy="4832092"/>
          </a:xfrm>
          <a:prstGeom prst="rect">
            <a:avLst/>
          </a:prstGeom>
          <a:noFill/>
        </p:spPr>
        <p:txBody>
          <a:bodyPr wrap="square" rtlCol="0">
            <a:spAutoFit/>
          </a:bodyPr>
          <a:lstStyle/>
          <a:p>
            <a:pPr marL="457200" indent="-457200">
              <a:buFont typeface="Arial" panose="020B0604020202020204" pitchFamily="34" charset="0"/>
              <a:buChar char="•"/>
            </a:pPr>
            <a:r>
              <a:rPr lang="en-US" sz="2800" dirty="0" smtClean="0"/>
              <a:t>Using single-sideband modulation for spectral efficiency and avoiding security loopholes</a:t>
            </a:r>
          </a:p>
          <a:p>
            <a:pPr marL="457200" indent="-457200">
              <a:buFont typeface="Arial" panose="020B0604020202020204" pitchFamily="34" charset="0"/>
              <a:buChar char="•"/>
            </a:pPr>
            <a:r>
              <a:rPr lang="en-US" sz="2800" dirty="0"/>
              <a:t>P</a:t>
            </a:r>
            <a:r>
              <a:rPr lang="en-US" sz="2800" dirty="0" smtClean="0"/>
              <a:t>ilot signals for clock recovery, multiplexed in frequency with the quantum signal</a:t>
            </a:r>
          </a:p>
          <a:p>
            <a:pPr marL="457200" indent="-457200">
              <a:buFont typeface="Arial" panose="020B0604020202020204" pitchFamily="34" charset="0"/>
              <a:buChar char="•"/>
            </a:pPr>
            <a:r>
              <a:rPr lang="en-US" sz="2800" dirty="0" smtClean="0"/>
              <a:t>Carrier synchronization on receiver side</a:t>
            </a:r>
          </a:p>
          <a:p>
            <a:pPr marL="457200" indent="-457200">
              <a:buFont typeface="Arial" panose="020B0604020202020204" pitchFamily="34" charset="0"/>
              <a:buChar char="•"/>
            </a:pPr>
            <a:r>
              <a:rPr lang="en-US" sz="2800" dirty="0" smtClean="0"/>
              <a:t>Replacing AWG and oscilloscope with FPGA DAC/ADC for online signal generation and recovery</a:t>
            </a:r>
          </a:p>
          <a:p>
            <a:pPr marL="457200" indent="-457200">
              <a:buFont typeface="Arial" panose="020B0604020202020204" pitchFamily="34" charset="0"/>
              <a:buChar char="•"/>
            </a:pPr>
            <a:r>
              <a:rPr lang="en-US" sz="2800" dirty="0" smtClean="0"/>
              <a:t>Using beat signal for dynamic polarization control</a:t>
            </a:r>
          </a:p>
          <a:p>
            <a:pPr marL="457200" indent="-457200">
              <a:buFontTx/>
              <a:buChar char="-"/>
            </a:pPr>
            <a:endParaRPr lang="en-US" sz="2800" dirty="0" smtClean="0"/>
          </a:p>
        </p:txBody>
      </p:sp>
      <p:sp>
        <p:nvSpPr>
          <p:cNvPr id="318" name="TextBox 317"/>
          <p:cNvSpPr txBox="1"/>
          <p:nvPr/>
        </p:nvSpPr>
        <p:spPr>
          <a:xfrm>
            <a:off x="731297" y="35288827"/>
            <a:ext cx="4211671" cy="807380"/>
          </a:xfrm>
          <a:prstGeom prst="rect">
            <a:avLst/>
          </a:prstGeom>
          <a:noFill/>
        </p:spPr>
        <p:txBody>
          <a:bodyPr wrap="square" lIns="129013" tIns="64506" rIns="129013" bIns="64506" rtlCol="0">
            <a:spAutoFit/>
          </a:bodyPr>
          <a:lstStyle/>
          <a:p>
            <a:r>
              <a:rPr lang="en-US" sz="4400" dirty="0" smtClean="0">
                <a:latin typeface="Arial" panose="020B0604020202020204" pitchFamily="34" charset="0"/>
                <a:cs typeface="Arial" panose="020B0604020202020204" pitchFamily="34" charset="0"/>
              </a:rPr>
              <a:t>Planned setup</a:t>
            </a:r>
            <a:endParaRPr lang="en-US" sz="4400" dirty="0">
              <a:latin typeface="Arial" panose="020B0604020202020204" pitchFamily="34" charset="0"/>
              <a:cs typeface="Arial" panose="020B0604020202020204" pitchFamily="34" charset="0"/>
            </a:endParaRPr>
          </a:p>
        </p:txBody>
      </p:sp>
      <p:sp>
        <p:nvSpPr>
          <p:cNvPr id="319" name="AutoShape 13 8"/>
          <p:cNvSpPr>
            <a:spLocks noChangeArrowheads="1"/>
          </p:cNvSpPr>
          <p:nvPr/>
        </p:nvSpPr>
        <p:spPr bwMode="auto">
          <a:xfrm>
            <a:off x="17626481" y="35232102"/>
            <a:ext cx="11981769" cy="5202268"/>
          </a:xfrm>
          <a:prstGeom prst="roundRect">
            <a:avLst>
              <a:gd name="adj" fmla="val 10870"/>
            </a:avLst>
          </a:prstGeom>
          <a:ln w="76200">
            <a:headEnd/>
            <a:tailEnd/>
          </a:ln>
          <a:extLst/>
        </p:spPr>
        <p:style>
          <a:lnRef idx="2">
            <a:schemeClr val="accent2"/>
          </a:lnRef>
          <a:fillRef idx="1">
            <a:schemeClr val="lt1"/>
          </a:fillRef>
          <a:effectRef idx="0">
            <a:schemeClr val="accent2"/>
          </a:effectRef>
          <a:fontRef idx="minor">
            <a:schemeClr val="dk1"/>
          </a:fontRef>
        </p:style>
        <p:txBody>
          <a:bodyPr wrap="none" lIns="102784" tIns="51392" rIns="102784" bIns="51392" anchor="ctr"/>
          <a:lstStyle>
            <a:defPPr>
              <a:defRPr lang="en-US"/>
            </a:defPPr>
            <a:lvl1pPr algn="ctr" rtl="0" fontAlgn="base">
              <a:spcBef>
                <a:spcPct val="0"/>
              </a:spcBef>
              <a:spcAft>
                <a:spcPct val="0"/>
              </a:spcAft>
              <a:defRPr sz="6900" kern="1200">
                <a:solidFill>
                  <a:schemeClr val="tx1"/>
                </a:solidFill>
                <a:latin typeface="Arial" charset="0"/>
                <a:ea typeface="+mn-ea"/>
                <a:cs typeface="+mn-cs"/>
              </a:defRPr>
            </a:lvl1pPr>
            <a:lvl2pPr marL="457200" algn="ctr" rtl="0" fontAlgn="base">
              <a:spcBef>
                <a:spcPct val="0"/>
              </a:spcBef>
              <a:spcAft>
                <a:spcPct val="0"/>
              </a:spcAft>
              <a:defRPr sz="6900" kern="1200">
                <a:solidFill>
                  <a:schemeClr val="tx1"/>
                </a:solidFill>
                <a:latin typeface="Arial" charset="0"/>
                <a:ea typeface="+mn-ea"/>
                <a:cs typeface="+mn-cs"/>
              </a:defRPr>
            </a:lvl2pPr>
            <a:lvl3pPr marL="914400" algn="ctr" rtl="0" fontAlgn="base">
              <a:spcBef>
                <a:spcPct val="0"/>
              </a:spcBef>
              <a:spcAft>
                <a:spcPct val="0"/>
              </a:spcAft>
              <a:defRPr sz="6900" kern="1200">
                <a:solidFill>
                  <a:schemeClr val="tx1"/>
                </a:solidFill>
                <a:latin typeface="Arial" charset="0"/>
                <a:ea typeface="+mn-ea"/>
                <a:cs typeface="+mn-cs"/>
              </a:defRPr>
            </a:lvl3pPr>
            <a:lvl4pPr marL="1371600" algn="ctr" rtl="0" fontAlgn="base">
              <a:spcBef>
                <a:spcPct val="0"/>
              </a:spcBef>
              <a:spcAft>
                <a:spcPct val="0"/>
              </a:spcAft>
              <a:defRPr sz="6900" kern="1200">
                <a:solidFill>
                  <a:schemeClr val="tx1"/>
                </a:solidFill>
                <a:latin typeface="Arial" charset="0"/>
                <a:ea typeface="+mn-ea"/>
                <a:cs typeface="+mn-cs"/>
              </a:defRPr>
            </a:lvl4pPr>
            <a:lvl5pPr marL="1828800" algn="ctr" rtl="0" fontAlgn="base">
              <a:spcBef>
                <a:spcPct val="0"/>
              </a:spcBef>
              <a:spcAft>
                <a:spcPct val="0"/>
              </a:spcAft>
              <a:defRPr sz="6900" kern="1200">
                <a:solidFill>
                  <a:schemeClr val="tx1"/>
                </a:solidFill>
                <a:latin typeface="Arial" charset="0"/>
                <a:ea typeface="+mn-ea"/>
                <a:cs typeface="+mn-cs"/>
              </a:defRPr>
            </a:lvl5pPr>
            <a:lvl6pPr marL="2286000" algn="l" defTabSz="914400" rtl="0" eaLnBrk="1" latinLnBrk="0" hangingPunct="1">
              <a:defRPr sz="6900" kern="1200">
                <a:solidFill>
                  <a:schemeClr val="tx1"/>
                </a:solidFill>
                <a:latin typeface="Arial" charset="0"/>
                <a:ea typeface="+mn-ea"/>
                <a:cs typeface="+mn-cs"/>
              </a:defRPr>
            </a:lvl6pPr>
            <a:lvl7pPr marL="2743200" algn="l" defTabSz="914400" rtl="0" eaLnBrk="1" latinLnBrk="0" hangingPunct="1">
              <a:defRPr sz="6900" kern="1200">
                <a:solidFill>
                  <a:schemeClr val="tx1"/>
                </a:solidFill>
                <a:latin typeface="Arial" charset="0"/>
                <a:ea typeface="+mn-ea"/>
                <a:cs typeface="+mn-cs"/>
              </a:defRPr>
            </a:lvl7pPr>
            <a:lvl8pPr marL="3200400" algn="l" defTabSz="914400" rtl="0" eaLnBrk="1" latinLnBrk="0" hangingPunct="1">
              <a:defRPr sz="6900" kern="1200">
                <a:solidFill>
                  <a:schemeClr val="tx1"/>
                </a:solidFill>
                <a:latin typeface="Arial" charset="0"/>
                <a:ea typeface="+mn-ea"/>
                <a:cs typeface="+mn-cs"/>
              </a:defRPr>
            </a:lvl8pPr>
            <a:lvl9pPr marL="3657600" algn="l" defTabSz="914400" rtl="0" eaLnBrk="1" latinLnBrk="0" hangingPunct="1">
              <a:defRPr sz="6900" kern="1200">
                <a:solidFill>
                  <a:schemeClr val="tx1"/>
                </a:solidFill>
                <a:latin typeface="Arial" charset="0"/>
                <a:ea typeface="+mn-ea"/>
                <a:cs typeface="+mn-cs"/>
              </a:defRPr>
            </a:lvl9pPr>
          </a:lstStyle>
          <a:p>
            <a:pPr eaLnBrk="1" hangingPunct="1"/>
            <a:endParaRPr lang="en-US" altLang="en-US" dirty="0">
              <a:solidFill>
                <a:schemeClr val="bg1"/>
              </a:solidFill>
            </a:endParaRPr>
          </a:p>
        </p:txBody>
      </p:sp>
      <p:sp>
        <p:nvSpPr>
          <p:cNvPr id="320" name="TextBox 319"/>
          <p:cNvSpPr txBox="1"/>
          <p:nvPr/>
        </p:nvSpPr>
        <p:spPr>
          <a:xfrm>
            <a:off x="17891847" y="35257683"/>
            <a:ext cx="5014190" cy="807380"/>
          </a:xfrm>
          <a:prstGeom prst="rect">
            <a:avLst/>
          </a:prstGeom>
          <a:noFill/>
        </p:spPr>
        <p:txBody>
          <a:bodyPr wrap="square" lIns="129013" tIns="64506" rIns="129013" bIns="64506" rtlCol="0">
            <a:spAutoFit/>
          </a:bodyPr>
          <a:lstStyle/>
          <a:p>
            <a:r>
              <a:rPr lang="en-US" sz="4400" dirty="0" smtClean="0">
                <a:latin typeface="Arial" panose="020B0604020202020204" pitchFamily="34" charset="0"/>
                <a:cs typeface="Arial" panose="020B0604020202020204" pitchFamily="34" charset="0"/>
              </a:rPr>
              <a:t>Security analysis</a:t>
            </a:r>
            <a:endParaRPr lang="en-US" sz="4400" dirty="0">
              <a:latin typeface="Arial" panose="020B0604020202020204" pitchFamily="34" charset="0"/>
              <a:cs typeface="Arial" panose="020B0604020202020204" pitchFamily="34" charset="0"/>
            </a:endParaRPr>
          </a:p>
        </p:txBody>
      </p:sp>
      <p:grpSp>
        <p:nvGrpSpPr>
          <p:cNvPr id="366" name="Group 365"/>
          <p:cNvGrpSpPr/>
          <p:nvPr/>
        </p:nvGrpSpPr>
        <p:grpSpPr>
          <a:xfrm>
            <a:off x="15987244" y="35448886"/>
            <a:ext cx="1059281" cy="504318"/>
            <a:chOff x="1348146" y="3581156"/>
            <a:chExt cx="1995722" cy="999649"/>
          </a:xfrm>
        </p:grpSpPr>
        <p:cxnSp>
          <p:nvCxnSpPr>
            <p:cNvPr id="367" name="Straight Connector 366"/>
            <p:cNvCxnSpPr/>
            <p:nvPr/>
          </p:nvCxnSpPr>
          <p:spPr>
            <a:xfrm flipV="1">
              <a:off x="1348146" y="4228641"/>
              <a:ext cx="609057" cy="2577"/>
            </a:xfrm>
            <a:prstGeom prst="line">
              <a:avLst/>
            </a:prstGeom>
            <a:noFill/>
            <a:ln w="28575" cap="flat" cmpd="sng" algn="ctr">
              <a:solidFill>
                <a:srgbClr val="0070C0"/>
              </a:solidFill>
              <a:prstDash val="solid"/>
              <a:miter lim="800000"/>
            </a:ln>
            <a:effectLst/>
          </p:spPr>
        </p:cxnSp>
        <p:cxnSp>
          <p:nvCxnSpPr>
            <p:cNvPr id="368" name="Straight Connector 367"/>
            <p:cNvCxnSpPr/>
            <p:nvPr/>
          </p:nvCxnSpPr>
          <p:spPr>
            <a:xfrm flipV="1">
              <a:off x="1348146" y="4578228"/>
              <a:ext cx="609057" cy="2577"/>
            </a:xfrm>
            <a:prstGeom prst="line">
              <a:avLst/>
            </a:prstGeom>
            <a:noFill/>
            <a:ln w="28575" cap="flat" cmpd="sng" algn="ctr">
              <a:solidFill>
                <a:srgbClr val="FF6600"/>
              </a:solidFill>
              <a:prstDash val="solid"/>
              <a:miter lim="800000"/>
            </a:ln>
            <a:effectLst/>
          </p:spPr>
        </p:cxnSp>
        <p:sp>
          <p:nvSpPr>
            <p:cNvPr id="369" name="CustomShape 2 6"/>
            <p:cNvSpPr/>
            <p:nvPr/>
          </p:nvSpPr>
          <p:spPr>
            <a:xfrm>
              <a:off x="2170188" y="3581156"/>
              <a:ext cx="1173680" cy="836290"/>
            </a:xfrm>
            <a:prstGeom prst="rect">
              <a:avLst/>
            </a:prstGeom>
            <a:noFill/>
            <a:ln>
              <a:noFill/>
            </a:ln>
          </p:spPr>
          <p:txBody>
            <a:bodyPr wrap="none" lIns="90000" tIns="45000" rIns="90000" bIns="4500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smtClean="0">
                  <a:ln>
                    <a:noFill/>
                  </a:ln>
                  <a:solidFill>
                    <a:srgbClr val="000000"/>
                  </a:solidFill>
                  <a:effectLst/>
                  <a:uLnTx/>
                  <a:uFillTx/>
                  <a:latin typeface="Arial"/>
                </a:rPr>
                <a:t>PMF</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400" b="0" i="0" u="none" strike="noStrike" kern="0" cap="none" spc="0" normalizeH="0" baseline="0" noProof="0" dirty="0" smtClean="0">
                <a:ln>
                  <a:noFill/>
                </a:ln>
                <a:solidFill>
                  <a:srgbClr val="000000"/>
                </a:solidFill>
                <a:effectLst/>
                <a:uLnTx/>
                <a:uFillTx/>
                <a:latin typeface="Arial"/>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smtClean="0">
                  <a:ln>
                    <a:noFill/>
                  </a:ln>
                  <a:solidFill>
                    <a:srgbClr val="000000"/>
                  </a:solidFill>
                  <a:effectLst/>
                  <a:uLnTx/>
                  <a:uFillTx/>
                  <a:latin typeface="Arial"/>
                </a:rPr>
                <a:t>SMF</a:t>
              </a:r>
              <a:endParaRPr kumimoji="0" sz="1800" b="0" i="0" u="none" strike="noStrike" kern="0" cap="none" spc="0" normalizeH="0" baseline="0" noProof="0" dirty="0" smtClean="0">
                <a:ln>
                  <a:noFill/>
                </a:ln>
                <a:solidFill>
                  <a:prstClr val="black"/>
                </a:solidFill>
                <a:effectLst/>
                <a:uLnTx/>
                <a:uFillTx/>
              </a:endParaRPr>
            </a:p>
          </p:txBody>
        </p:sp>
      </p:grpSp>
      <p:cxnSp>
        <p:nvCxnSpPr>
          <p:cNvPr id="370" name="Straight Connector 369"/>
          <p:cNvCxnSpPr/>
          <p:nvPr/>
        </p:nvCxnSpPr>
        <p:spPr>
          <a:xfrm>
            <a:off x="13332066" y="36611965"/>
            <a:ext cx="2322176" cy="6524"/>
          </a:xfrm>
          <a:prstGeom prst="line">
            <a:avLst/>
          </a:prstGeom>
          <a:noFill/>
          <a:ln w="28575" cap="flat" cmpd="sng" algn="ctr">
            <a:solidFill>
              <a:srgbClr val="FF6600"/>
            </a:solidFill>
            <a:prstDash val="solid"/>
            <a:miter lim="800000"/>
          </a:ln>
          <a:effectLst/>
        </p:spPr>
      </p:cxnSp>
      <p:cxnSp>
        <p:nvCxnSpPr>
          <p:cNvPr id="371" name="Straight Connector 370"/>
          <p:cNvCxnSpPr/>
          <p:nvPr/>
        </p:nvCxnSpPr>
        <p:spPr>
          <a:xfrm flipV="1">
            <a:off x="9827600" y="36619791"/>
            <a:ext cx="274320" cy="2577"/>
          </a:xfrm>
          <a:prstGeom prst="line">
            <a:avLst/>
          </a:prstGeom>
          <a:noFill/>
          <a:ln w="28575" cap="flat" cmpd="sng" algn="ctr">
            <a:solidFill>
              <a:srgbClr val="0070C0"/>
            </a:solidFill>
            <a:prstDash val="solid"/>
            <a:miter lim="800000"/>
            <a:headEnd type="none" w="med" len="med"/>
            <a:tailEnd type="arrow" w="med" len="med"/>
          </a:ln>
          <a:effectLst/>
        </p:spPr>
      </p:cxnSp>
      <p:cxnSp>
        <p:nvCxnSpPr>
          <p:cNvPr id="372" name="Straight Connector 371"/>
          <p:cNvCxnSpPr/>
          <p:nvPr/>
        </p:nvCxnSpPr>
        <p:spPr>
          <a:xfrm flipV="1">
            <a:off x="9142223" y="36614697"/>
            <a:ext cx="4212000" cy="6869"/>
          </a:xfrm>
          <a:prstGeom prst="line">
            <a:avLst/>
          </a:prstGeom>
          <a:noFill/>
          <a:ln w="28575" cap="flat" cmpd="sng" algn="ctr">
            <a:solidFill>
              <a:srgbClr val="0070C0"/>
            </a:solidFill>
            <a:prstDash val="solid"/>
            <a:miter lim="800000"/>
          </a:ln>
          <a:effectLst/>
        </p:spPr>
      </p:cxnSp>
      <p:sp>
        <p:nvSpPr>
          <p:cNvPr id="374" name="Hexagon 373"/>
          <p:cNvSpPr/>
          <p:nvPr/>
        </p:nvSpPr>
        <p:spPr>
          <a:xfrm>
            <a:off x="10602322" y="36340748"/>
            <a:ext cx="1273597" cy="534307"/>
          </a:xfrm>
          <a:prstGeom prst="hexagon">
            <a:avLst/>
          </a:prstGeom>
          <a:solidFill>
            <a:srgbClr val="BF9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Calibri" panose="020F0502020204030204"/>
              <a:ea typeface="+mn-ea"/>
              <a:cs typeface="+mn-cs"/>
            </a:endParaRPr>
          </a:p>
        </p:txBody>
      </p:sp>
      <p:sp>
        <p:nvSpPr>
          <p:cNvPr id="375" name="CustomShape 2 7"/>
          <p:cNvSpPr/>
          <p:nvPr/>
        </p:nvSpPr>
        <p:spPr>
          <a:xfrm>
            <a:off x="10744315" y="36378274"/>
            <a:ext cx="937726" cy="408514"/>
          </a:xfrm>
          <a:prstGeom prst="rect">
            <a:avLst/>
          </a:prstGeom>
          <a:noFill/>
          <a:ln>
            <a:noFill/>
          </a:ln>
        </p:spPr>
        <p:txBody>
          <a:bodyPr wrap="none" lIns="90000" tIns="45000" rIns="90000" bIns="4500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err="1" smtClean="0">
                <a:ln>
                  <a:noFill/>
                </a:ln>
                <a:solidFill>
                  <a:srgbClr val="000000"/>
                </a:solidFill>
                <a:effectLst/>
                <a:uLnTx/>
                <a:uFillTx/>
                <a:latin typeface="Arial"/>
              </a:rPr>
              <a:t>IQmod</a:t>
            </a:r>
            <a:endParaRPr kumimoji="0" sz="1800" b="0" i="0" u="none" strike="noStrike" kern="0" cap="none" spc="0" normalizeH="0" baseline="0" noProof="0" dirty="0" smtClean="0">
              <a:ln>
                <a:noFill/>
              </a:ln>
              <a:solidFill>
                <a:prstClr val="black"/>
              </a:solidFill>
              <a:effectLst/>
              <a:uLnTx/>
              <a:uFillTx/>
            </a:endParaRPr>
          </a:p>
        </p:txBody>
      </p:sp>
      <p:sp>
        <p:nvSpPr>
          <p:cNvPr id="378" name="Rectangle 377"/>
          <p:cNvSpPr/>
          <p:nvPr/>
        </p:nvSpPr>
        <p:spPr>
          <a:xfrm>
            <a:off x="10700518" y="35418544"/>
            <a:ext cx="1073016" cy="647661"/>
          </a:xfrm>
          <a:prstGeom prst="rect">
            <a:avLst/>
          </a:prstGeom>
          <a:solidFill>
            <a:srgbClr val="ED7D31">
              <a:lumMod val="60000"/>
              <a:lumOff val="40000"/>
            </a:srgbClr>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Calibri" panose="020F0502020204030204"/>
              <a:ea typeface="+mn-ea"/>
              <a:cs typeface="+mn-cs"/>
            </a:endParaRPr>
          </a:p>
        </p:txBody>
      </p:sp>
      <p:sp>
        <p:nvSpPr>
          <p:cNvPr id="379" name="CustomShape 18 5"/>
          <p:cNvSpPr/>
          <p:nvPr/>
        </p:nvSpPr>
        <p:spPr>
          <a:xfrm>
            <a:off x="10707118" y="35416251"/>
            <a:ext cx="1034638" cy="568367"/>
          </a:xfrm>
          <a:prstGeom prst="rect">
            <a:avLst/>
          </a:prstGeom>
          <a:noFill/>
          <a:ln>
            <a:noFill/>
          </a:ln>
        </p:spPr>
        <p:txBody>
          <a:bodyPr wrap="none" lIns="90000" tIns="45000" rIns="90000" bIns="4500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srgbClr val="000000"/>
                </a:solidFill>
                <a:effectLst/>
                <a:uLnTx/>
                <a:uFillTx/>
                <a:latin typeface="Arial"/>
              </a:rPr>
              <a:t>FPGA</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srgbClr val="000000"/>
                </a:solidFill>
                <a:effectLst/>
                <a:uLnTx/>
                <a:uFillTx/>
                <a:latin typeface="Arial"/>
              </a:rPr>
              <a:t>(RF mod)</a:t>
            </a:r>
            <a:endParaRPr kumimoji="0" sz="1800" b="0" i="0" u="none" strike="noStrike" kern="0" cap="none" spc="0" normalizeH="0" baseline="0" noProof="0" dirty="0" smtClean="0">
              <a:ln>
                <a:noFill/>
              </a:ln>
              <a:solidFill>
                <a:prstClr val="black"/>
              </a:solidFill>
              <a:effectLst/>
              <a:uLnTx/>
              <a:uFillTx/>
            </a:endParaRPr>
          </a:p>
        </p:txBody>
      </p:sp>
      <p:cxnSp>
        <p:nvCxnSpPr>
          <p:cNvPr id="380" name="Straight Arrow Connector 379"/>
          <p:cNvCxnSpPr/>
          <p:nvPr/>
        </p:nvCxnSpPr>
        <p:spPr>
          <a:xfrm>
            <a:off x="11230442" y="36066384"/>
            <a:ext cx="6584" cy="275794"/>
          </a:xfrm>
          <a:prstGeom prst="straightConnector1">
            <a:avLst/>
          </a:prstGeom>
          <a:noFill/>
          <a:ln w="38100" cap="flat" cmpd="sng" algn="ctr">
            <a:solidFill>
              <a:sysClr val="windowText" lastClr="000000"/>
            </a:solidFill>
            <a:prstDash val="solid"/>
            <a:miter lim="800000"/>
            <a:tailEnd type="triangle"/>
          </a:ln>
          <a:effectLst/>
        </p:spPr>
      </p:cxnSp>
      <p:sp>
        <p:nvSpPr>
          <p:cNvPr id="381" name="CustomShape 34 4"/>
          <p:cNvSpPr/>
          <p:nvPr/>
        </p:nvSpPr>
        <p:spPr>
          <a:xfrm>
            <a:off x="12325982" y="36437316"/>
            <a:ext cx="661798" cy="330351"/>
          </a:xfrm>
          <a:prstGeom prst="roundRect">
            <a:avLst>
              <a:gd name="adj" fmla="val 12277"/>
            </a:avLst>
          </a:prstGeom>
          <a:gradFill>
            <a:gsLst>
              <a:gs pos="0">
                <a:srgbClr val="9BBB59"/>
              </a:gs>
              <a:gs pos="100000">
                <a:srgbClr val="000000"/>
              </a:gs>
            </a:gsLst>
            <a:lin ang="0"/>
          </a:gradFill>
          <a:ln w="25560">
            <a:noFill/>
          </a:ln>
        </p:spPr>
      </p:sp>
      <p:sp>
        <p:nvSpPr>
          <p:cNvPr id="382" name="CustomShape 35 4"/>
          <p:cNvSpPr/>
          <p:nvPr/>
        </p:nvSpPr>
        <p:spPr>
          <a:xfrm>
            <a:off x="12288371" y="36437692"/>
            <a:ext cx="868690" cy="422712"/>
          </a:xfrm>
          <a:prstGeom prst="rect">
            <a:avLst/>
          </a:prstGeom>
          <a:noFill/>
          <a:ln>
            <a:noFill/>
          </a:ln>
        </p:spPr>
        <p:txBody>
          <a:bodyPr wrap="none" lIns="90000" tIns="45000" rIns="90000" bIns="45000"/>
          <a:lstStyle/>
          <a:p>
            <a:pPr marL="0" marR="0" lvl="0" indent="0" defTabSz="914400" eaLnBrk="1" fontAlgn="auto" latinLnBrk="0" hangingPunct="1">
              <a:lnSpc>
                <a:spcPct val="100000"/>
              </a:lnSpc>
              <a:spcBef>
                <a:spcPts val="0"/>
              </a:spcBef>
              <a:spcAft>
                <a:spcPts val="0"/>
              </a:spcAft>
              <a:buClrTx/>
              <a:buSzTx/>
              <a:buFontTx/>
              <a:buNone/>
              <a:tabLst/>
              <a:defRPr/>
            </a:pPr>
            <a:r>
              <a:rPr kumimoji="0" lang="da-DK" sz="1600" b="0" i="0" u="none" strike="noStrike" kern="0" cap="none" spc="0" normalizeH="0" baseline="0" noProof="0" dirty="0" smtClean="0">
                <a:ln>
                  <a:noFill/>
                </a:ln>
                <a:solidFill>
                  <a:srgbClr val="000000"/>
                </a:solidFill>
                <a:effectLst/>
                <a:uLnTx/>
                <a:uFillTx/>
                <a:latin typeface="Arial"/>
              </a:rPr>
              <a:t>VATT</a:t>
            </a:r>
            <a:endParaRPr kumimoji="0" sz="1600" b="0" i="0" u="none" strike="noStrike" kern="0" cap="none" spc="0" normalizeH="0" baseline="0" noProof="0" dirty="0" smtClean="0">
              <a:ln>
                <a:noFill/>
              </a:ln>
              <a:solidFill>
                <a:prstClr val="black"/>
              </a:solidFill>
              <a:effectLst/>
              <a:uLnTx/>
              <a:uFillTx/>
            </a:endParaRPr>
          </a:p>
        </p:txBody>
      </p:sp>
      <p:grpSp>
        <p:nvGrpSpPr>
          <p:cNvPr id="383" name="Group 382"/>
          <p:cNvGrpSpPr/>
          <p:nvPr/>
        </p:nvGrpSpPr>
        <p:grpSpPr>
          <a:xfrm>
            <a:off x="8832545" y="35430604"/>
            <a:ext cx="1605272" cy="685782"/>
            <a:chOff x="137734" y="3578280"/>
            <a:chExt cx="1728930" cy="850303"/>
          </a:xfrm>
        </p:grpSpPr>
        <p:sp>
          <p:nvSpPr>
            <p:cNvPr id="384" name="Oval 383"/>
            <p:cNvSpPr/>
            <p:nvPr/>
          </p:nvSpPr>
          <p:spPr>
            <a:xfrm>
              <a:off x="371578" y="3578280"/>
              <a:ext cx="1261241" cy="780192"/>
            </a:xfrm>
            <a:prstGeom prst="ellipse">
              <a:avLst/>
            </a:prstGeom>
            <a:solidFill>
              <a:srgbClr val="F4B183"/>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Calibri" panose="020F0502020204030204"/>
                <a:ea typeface="+mn-ea"/>
                <a:cs typeface="+mn-cs"/>
              </a:endParaRPr>
            </a:p>
          </p:txBody>
        </p:sp>
        <p:sp>
          <p:nvSpPr>
            <p:cNvPr id="385" name="CustomShape 18 6"/>
            <p:cNvSpPr/>
            <p:nvPr/>
          </p:nvSpPr>
          <p:spPr>
            <a:xfrm>
              <a:off x="137734" y="3740333"/>
              <a:ext cx="1728930" cy="688250"/>
            </a:xfrm>
            <a:prstGeom prst="rect">
              <a:avLst/>
            </a:prstGeom>
            <a:noFill/>
            <a:ln>
              <a:noFill/>
            </a:ln>
          </p:spPr>
          <p:txBody>
            <a:bodyPr wrap="none" lIns="90000" tIns="45000" rIns="90000" bIns="4500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smtClean="0">
                  <a:ln>
                    <a:noFill/>
                  </a:ln>
                  <a:solidFill>
                    <a:srgbClr val="000000"/>
                  </a:solidFill>
                  <a:effectLst/>
                  <a:uLnTx/>
                  <a:uFillTx/>
                  <a:latin typeface="Arial"/>
                </a:rPr>
                <a:t>QRNG</a:t>
              </a:r>
              <a:endParaRPr kumimoji="0" sz="1800" b="0" i="0" u="none" strike="noStrike" kern="0" cap="none" spc="0" normalizeH="0" baseline="0" noProof="0" dirty="0" smtClean="0">
                <a:ln>
                  <a:noFill/>
                </a:ln>
                <a:solidFill>
                  <a:prstClr val="black"/>
                </a:solidFill>
                <a:effectLst/>
                <a:uLnTx/>
                <a:uFillTx/>
              </a:endParaRPr>
            </a:p>
          </p:txBody>
        </p:sp>
      </p:grpSp>
      <p:cxnSp>
        <p:nvCxnSpPr>
          <p:cNvPr id="386" name="Straight Arrow Connector 385"/>
          <p:cNvCxnSpPr/>
          <p:nvPr/>
        </p:nvCxnSpPr>
        <p:spPr>
          <a:xfrm flipV="1">
            <a:off x="10225929" y="35741651"/>
            <a:ext cx="471924" cy="723"/>
          </a:xfrm>
          <a:prstGeom prst="straightConnector1">
            <a:avLst/>
          </a:prstGeom>
          <a:noFill/>
          <a:ln w="38100" cap="flat" cmpd="sng" algn="ctr">
            <a:solidFill>
              <a:sysClr val="windowText" lastClr="000000"/>
            </a:solidFill>
            <a:prstDash val="solid"/>
            <a:miter lim="800000"/>
            <a:tailEnd type="triangle"/>
          </a:ln>
          <a:effectLst/>
        </p:spPr>
      </p:cxnSp>
      <p:sp>
        <p:nvSpPr>
          <p:cNvPr id="387" name="Oval 386"/>
          <p:cNvSpPr/>
          <p:nvPr/>
        </p:nvSpPr>
        <p:spPr>
          <a:xfrm>
            <a:off x="14196804" y="36285263"/>
            <a:ext cx="372781" cy="333155"/>
          </a:xfrm>
          <a:prstGeom prst="ellipse">
            <a:avLst/>
          </a:prstGeom>
          <a:noFill/>
          <a:ln w="28575" cap="flat" cmpd="sng" algn="ctr">
            <a:solidFill>
              <a:srgbClr val="FF66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Calibri" panose="020F0502020204030204"/>
              <a:ea typeface="+mn-ea"/>
              <a:cs typeface="+mn-cs"/>
            </a:endParaRPr>
          </a:p>
        </p:txBody>
      </p:sp>
      <p:cxnSp>
        <p:nvCxnSpPr>
          <p:cNvPr id="390" name="Straight Connector 389"/>
          <p:cNvCxnSpPr/>
          <p:nvPr/>
        </p:nvCxnSpPr>
        <p:spPr>
          <a:xfrm>
            <a:off x="11284596" y="39680299"/>
            <a:ext cx="1609764" cy="2425"/>
          </a:xfrm>
          <a:prstGeom prst="line">
            <a:avLst/>
          </a:prstGeom>
          <a:noFill/>
          <a:ln w="28575" cap="flat" cmpd="sng" algn="ctr">
            <a:solidFill>
              <a:srgbClr val="0070C0"/>
            </a:solidFill>
            <a:prstDash val="solid"/>
            <a:miter lim="800000"/>
          </a:ln>
          <a:effectLst/>
        </p:spPr>
      </p:cxnSp>
      <p:cxnSp>
        <p:nvCxnSpPr>
          <p:cNvPr id="391" name="Straight Connector 390"/>
          <p:cNvCxnSpPr/>
          <p:nvPr/>
        </p:nvCxnSpPr>
        <p:spPr>
          <a:xfrm flipV="1">
            <a:off x="8406470" y="38122089"/>
            <a:ext cx="4402810" cy="2142"/>
          </a:xfrm>
          <a:prstGeom prst="line">
            <a:avLst/>
          </a:prstGeom>
          <a:noFill/>
          <a:ln w="28575" cap="flat" cmpd="sng" algn="ctr">
            <a:solidFill>
              <a:srgbClr val="FF6600"/>
            </a:solidFill>
            <a:prstDash val="solid"/>
            <a:miter lim="800000"/>
          </a:ln>
          <a:effectLst/>
        </p:spPr>
      </p:cxnSp>
      <p:grpSp>
        <p:nvGrpSpPr>
          <p:cNvPr id="392" name="Group 391"/>
          <p:cNvGrpSpPr/>
          <p:nvPr/>
        </p:nvGrpSpPr>
        <p:grpSpPr>
          <a:xfrm>
            <a:off x="12784870" y="38119225"/>
            <a:ext cx="965030" cy="1569643"/>
            <a:chOff x="7321991" y="4382428"/>
            <a:chExt cx="1352355" cy="1569643"/>
          </a:xfrm>
        </p:grpSpPr>
        <p:sp>
          <p:nvSpPr>
            <p:cNvPr id="393" name="CustomShape 5 3"/>
            <p:cNvSpPr/>
            <p:nvPr/>
          </p:nvSpPr>
          <p:spPr>
            <a:xfrm rot="10800000">
              <a:off x="7321991" y="4382428"/>
              <a:ext cx="1341741" cy="863243"/>
            </a:xfrm>
            <a:prstGeom prst="curvedConnector3">
              <a:avLst>
                <a:gd name="adj1" fmla="val 50000"/>
              </a:avLst>
            </a:prstGeom>
            <a:noFill/>
            <a:ln w="28575">
              <a:solidFill>
                <a:srgbClr val="0070C0"/>
              </a:solidFill>
              <a:round/>
            </a:ln>
          </p:spPr>
        </p:sp>
        <p:sp>
          <p:nvSpPr>
            <p:cNvPr id="394" name="CustomShape 6 5"/>
            <p:cNvSpPr/>
            <p:nvPr/>
          </p:nvSpPr>
          <p:spPr>
            <a:xfrm flipV="1">
              <a:off x="7321992" y="5256714"/>
              <a:ext cx="1352354" cy="695357"/>
            </a:xfrm>
            <a:prstGeom prst="curvedConnector3">
              <a:avLst>
                <a:gd name="adj1" fmla="val 65833"/>
              </a:avLst>
            </a:prstGeom>
            <a:noFill/>
            <a:ln w="31680">
              <a:solidFill>
                <a:srgbClr val="0070C0"/>
              </a:solidFill>
              <a:round/>
            </a:ln>
          </p:spPr>
        </p:sp>
      </p:grpSp>
      <p:sp>
        <p:nvSpPr>
          <p:cNvPr id="396" name="CustomShape 17 4"/>
          <p:cNvSpPr/>
          <p:nvPr/>
        </p:nvSpPr>
        <p:spPr>
          <a:xfrm>
            <a:off x="10517479" y="39494671"/>
            <a:ext cx="977230" cy="420675"/>
          </a:xfrm>
          <a:prstGeom prst="parallelogram">
            <a:avLst>
              <a:gd name="adj" fmla="val 25000"/>
            </a:avLst>
          </a:prstGeom>
          <a:solidFill>
            <a:srgbClr val="E7E6E6">
              <a:lumMod val="75000"/>
            </a:srgbClr>
          </a:solidFill>
          <a:ln w="25560">
            <a:noFill/>
          </a:ln>
        </p:spPr>
      </p:sp>
      <p:sp>
        <p:nvSpPr>
          <p:cNvPr id="398" name="CustomShape 35 5"/>
          <p:cNvSpPr/>
          <p:nvPr/>
        </p:nvSpPr>
        <p:spPr>
          <a:xfrm>
            <a:off x="10668651" y="38374364"/>
            <a:ext cx="2268901" cy="695042"/>
          </a:xfrm>
          <a:prstGeom prst="rect">
            <a:avLst/>
          </a:prstGeom>
          <a:noFill/>
          <a:ln>
            <a:noFill/>
          </a:ln>
        </p:spPr>
        <p:txBody>
          <a:bodyPr wrap="none" lIns="90000" tIns="45000" rIns="90000" bIns="45000"/>
          <a:lstStyle/>
          <a:p>
            <a:pPr marL="0" marR="0" lvl="0" indent="0" defTabSz="914400" eaLnBrk="1" fontAlgn="auto" latinLnBrk="0" hangingPunct="1">
              <a:lnSpc>
                <a:spcPct val="100000"/>
              </a:lnSpc>
              <a:spcBef>
                <a:spcPts val="0"/>
              </a:spcBef>
              <a:spcAft>
                <a:spcPts val="0"/>
              </a:spcAft>
              <a:buClrTx/>
              <a:buSzTx/>
              <a:buFontTx/>
              <a:buNone/>
              <a:tabLst/>
              <a:defRPr/>
            </a:pPr>
            <a:r>
              <a:rPr kumimoji="0" lang="da-DK" sz="1800" b="0" i="0" u="none" strike="noStrike" kern="0" cap="none" spc="0" normalizeH="0" baseline="0" noProof="0" smtClean="0">
                <a:ln>
                  <a:noFill/>
                </a:ln>
                <a:solidFill>
                  <a:srgbClr val="000000"/>
                </a:solidFill>
                <a:effectLst/>
                <a:uLnTx/>
                <a:uFillTx/>
                <a:latin typeface="Arial"/>
              </a:rPr>
              <a:t>dynamic polarization </a:t>
            </a:r>
            <a:endParaRPr kumimoji="0" lang="da-DK" sz="1800" b="0" i="0" u="none" strike="noStrike" kern="0" cap="none" spc="0" normalizeH="0" baseline="0" noProof="0" dirty="0" smtClean="0">
              <a:ln>
                <a:noFill/>
              </a:ln>
              <a:solidFill>
                <a:srgbClr val="000000"/>
              </a:solidFill>
              <a:effectLst/>
              <a:uLnTx/>
              <a:uFillTx/>
              <a:latin typeface="Arial"/>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da-DK" sz="1800" b="0" i="0" u="none" strike="noStrike" kern="0" cap="none" spc="0" normalizeH="0" baseline="0" noProof="0" smtClean="0">
                <a:ln>
                  <a:noFill/>
                </a:ln>
                <a:solidFill>
                  <a:srgbClr val="000000"/>
                </a:solidFill>
                <a:effectLst/>
                <a:uLnTx/>
                <a:uFillTx/>
                <a:latin typeface="Arial"/>
              </a:rPr>
              <a:t>controller</a:t>
            </a:r>
            <a:endParaRPr kumimoji="0" sz="1800" b="0" i="0" u="none" strike="noStrike" kern="0" cap="none" spc="0" normalizeH="0" baseline="0" noProof="0" dirty="0" smtClean="0">
              <a:ln>
                <a:noFill/>
              </a:ln>
              <a:solidFill>
                <a:prstClr val="black"/>
              </a:solidFill>
              <a:effectLst/>
              <a:uLnTx/>
              <a:uFillTx/>
            </a:endParaRPr>
          </a:p>
        </p:txBody>
      </p:sp>
      <p:grpSp>
        <p:nvGrpSpPr>
          <p:cNvPr id="400" name="Group 399"/>
          <p:cNvGrpSpPr/>
          <p:nvPr/>
        </p:nvGrpSpPr>
        <p:grpSpPr>
          <a:xfrm>
            <a:off x="11215357" y="37909381"/>
            <a:ext cx="752587" cy="436480"/>
            <a:chOff x="6072867" y="1992156"/>
            <a:chExt cx="752587" cy="436480"/>
          </a:xfrm>
        </p:grpSpPr>
        <p:sp>
          <p:nvSpPr>
            <p:cNvPr id="401" name="Rounded Rectangle 400"/>
            <p:cNvSpPr/>
            <p:nvPr/>
          </p:nvSpPr>
          <p:spPr>
            <a:xfrm>
              <a:off x="6072867" y="1992156"/>
              <a:ext cx="752587" cy="436480"/>
            </a:xfrm>
            <a:prstGeom prst="roundRect">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a-DK" sz="1800" b="0" i="0" u="none" strike="noStrike" kern="0" cap="none" spc="0" normalizeH="0" baseline="0" noProof="0" dirty="0" smtClean="0">
                <a:ln>
                  <a:noFill/>
                </a:ln>
                <a:solidFill>
                  <a:prstClr val="white"/>
                </a:solidFill>
                <a:effectLst/>
                <a:uLnTx/>
                <a:uFillTx/>
                <a:latin typeface="Calibri" panose="020F0502020204030204"/>
                <a:ea typeface="+mn-ea"/>
                <a:cs typeface="+mn-cs"/>
              </a:endParaRPr>
            </a:p>
          </p:txBody>
        </p:sp>
        <p:pic>
          <p:nvPicPr>
            <p:cNvPr id="402" name="Picture 40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275836" y="2016951"/>
              <a:ext cx="369882" cy="393370"/>
            </a:xfrm>
            <a:prstGeom prst="rect">
              <a:avLst/>
            </a:prstGeom>
          </p:spPr>
        </p:pic>
      </p:grpSp>
      <p:cxnSp>
        <p:nvCxnSpPr>
          <p:cNvPr id="403" name="Straight Connector 402"/>
          <p:cNvCxnSpPr/>
          <p:nvPr/>
        </p:nvCxnSpPr>
        <p:spPr>
          <a:xfrm flipV="1">
            <a:off x="11911023" y="39675217"/>
            <a:ext cx="274320" cy="2577"/>
          </a:xfrm>
          <a:prstGeom prst="line">
            <a:avLst/>
          </a:prstGeom>
          <a:noFill/>
          <a:ln w="28575" cap="flat" cmpd="sng" algn="ctr">
            <a:solidFill>
              <a:srgbClr val="0070C0"/>
            </a:solidFill>
            <a:prstDash val="solid"/>
            <a:miter lim="800000"/>
            <a:headEnd type="none" w="med" len="med"/>
            <a:tailEnd type="arrow" w="med" len="med"/>
          </a:ln>
          <a:effectLst/>
        </p:spPr>
      </p:cxnSp>
      <p:sp>
        <p:nvSpPr>
          <p:cNvPr id="404" name="Oval 403"/>
          <p:cNvSpPr/>
          <p:nvPr/>
        </p:nvSpPr>
        <p:spPr>
          <a:xfrm>
            <a:off x="9688718" y="37787502"/>
            <a:ext cx="372781" cy="333155"/>
          </a:xfrm>
          <a:prstGeom prst="ellipse">
            <a:avLst/>
          </a:prstGeom>
          <a:noFill/>
          <a:ln w="28575" cap="flat" cmpd="sng" algn="ctr">
            <a:solidFill>
              <a:srgbClr val="FF66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smtClean="0">
                <a:ln>
                  <a:noFill/>
                </a:ln>
                <a:solidFill>
                  <a:prstClr val="white"/>
                </a:solidFill>
                <a:effectLst/>
                <a:uLnTx/>
                <a:uFillTx/>
                <a:latin typeface="Calibri" panose="020F0502020204030204"/>
                <a:ea typeface="+mn-ea"/>
                <a:cs typeface="+mn-cs"/>
              </a:rPr>
              <a:t>½</a:t>
            </a:r>
          </a:p>
        </p:txBody>
      </p:sp>
      <p:sp>
        <p:nvSpPr>
          <p:cNvPr id="405" name="CustomShape 18 7"/>
          <p:cNvSpPr/>
          <p:nvPr/>
        </p:nvSpPr>
        <p:spPr>
          <a:xfrm>
            <a:off x="10542618" y="39541819"/>
            <a:ext cx="938823" cy="326378"/>
          </a:xfrm>
          <a:prstGeom prst="rect">
            <a:avLst/>
          </a:prstGeom>
          <a:noFill/>
          <a:ln>
            <a:noFill/>
          </a:ln>
        </p:spPr>
        <p:txBody>
          <a:bodyPr wrap="none" lIns="90000" tIns="45000" rIns="90000" bIns="4500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smtClean="0">
                <a:ln>
                  <a:noFill/>
                </a:ln>
                <a:solidFill>
                  <a:srgbClr val="000000"/>
                </a:solidFill>
                <a:effectLst/>
                <a:uLnTx/>
                <a:uFillTx/>
                <a:latin typeface="Arial"/>
              </a:rPr>
              <a:t>LLO laser</a:t>
            </a:r>
            <a:endParaRPr kumimoji="0" sz="1400" b="0" i="0" u="none" strike="noStrike" kern="0" cap="none" spc="0" normalizeH="0" baseline="0" noProof="0" dirty="0" smtClean="0">
              <a:ln>
                <a:noFill/>
              </a:ln>
              <a:solidFill>
                <a:prstClr val="black"/>
              </a:solidFill>
              <a:effectLst/>
              <a:uLnTx/>
              <a:uFillTx/>
            </a:endParaRPr>
          </a:p>
        </p:txBody>
      </p:sp>
      <p:sp>
        <p:nvSpPr>
          <p:cNvPr id="408" name="CustomShape 49 2"/>
          <p:cNvSpPr/>
          <p:nvPr/>
        </p:nvSpPr>
        <p:spPr>
          <a:xfrm rot="10800000" flipV="1">
            <a:off x="11613218" y="37633807"/>
            <a:ext cx="3902139" cy="282054"/>
          </a:xfrm>
          <a:prstGeom prst="bentConnector2">
            <a:avLst/>
          </a:prstGeom>
          <a:noFill/>
          <a:ln w="38160">
            <a:solidFill>
              <a:srgbClr val="000000"/>
            </a:solidFill>
            <a:round/>
            <a:tailEnd type="triangle" w="med" len="med"/>
          </a:ln>
        </p:spPr>
      </p:sp>
      <p:sp>
        <p:nvSpPr>
          <p:cNvPr id="411" name="Rectangle 410"/>
          <p:cNvSpPr/>
          <p:nvPr/>
        </p:nvSpPr>
        <p:spPr>
          <a:xfrm>
            <a:off x="14846125" y="37241316"/>
            <a:ext cx="1982906" cy="847218"/>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3" name="CustomShape 18 9"/>
          <p:cNvSpPr/>
          <p:nvPr/>
        </p:nvSpPr>
        <p:spPr>
          <a:xfrm>
            <a:off x="15021115" y="37250659"/>
            <a:ext cx="1728930" cy="874923"/>
          </a:xfrm>
          <a:prstGeom prst="rect">
            <a:avLst/>
          </a:prstGeom>
          <a:noFill/>
          <a:ln>
            <a:noFill/>
          </a:ln>
        </p:spPr>
        <p:txBody>
          <a:bodyPr wrap="none" lIns="90000" tIns="45000" rIns="90000" bIns="4500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smtClean="0">
                <a:ln>
                  <a:noFill/>
                </a:ln>
                <a:solidFill>
                  <a:srgbClr val="000000"/>
                </a:solidFill>
                <a:effectLst/>
                <a:uLnTx/>
                <a:uFillTx/>
                <a:latin typeface="Arial"/>
              </a:rPr>
              <a:t>ADC, clock recovery,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smtClean="0">
                <a:ln>
                  <a:noFill/>
                </a:ln>
                <a:solidFill>
                  <a:srgbClr val="000000"/>
                </a:solidFill>
                <a:effectLst/>
                <a:uLnTx/>
                <a:uFillTx/>
                <a:latin typeface="Arial"/>
              </a:rPr>
              <a:t>demodulation,</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smtClean="0">
                <a:ln>
                  <a:noFill/>
                </a:ln>
                <a:solidFill>
                  <a:srgbClr val="000000"/>
                </a:solidFill>
                <a:effectLst/>
                <a:uLnTx/>
                <a:uFillTx/>
                <a:latin typeface="Arial"/>
              </a:rPr>
              <a:t>reconstruction etc.</a:t>
            </a:r>
            <a:endParaRPr kumimoji="0" sz="1600" b="0" i="0" u="none" strike="noStrike" kern="0" cap="none" spc="0" normalizeH="0" baseline="0" noProof="0" dirty="0" smtClean="0">
              <a:ln>
                <a:noFill/>
              </a:ln>
              <a:solidFill>
                <a:prstClr val="black"/>
              </a:solidFill>
              <a:effectLst/>
              <a:uLnTx/>
              <a:uFillTx/>
            </a:endParaRPr>
          </a:p>
        </p:txBody>
      </p:sp>
      <p:sp>
        <p:nvSpPr>
          <p:cNvPr id="416" name="CustomShape 49 3"/>
          <p:cNvSpPr/>
          <p:nvPr/>
        </p:nvSpPr>
        <p:spPr>
          <a:xfrm rot="10800000" flipH="1">
            <a:off x="16097088" y="38114826"/>
            <a:ext cx="370876" cy="901612"/>
          </a:xfrm>
          <a:prstGeom prst="bentConnector2">
            <a:avLst/>
          </a:prstGeom>
          <a:noFill/>
          <a:ln w="57150">
            <a:solidFill>
              <a:srgbClr val="000000"/>
            </a:solidFill>
            <a:round/>
            <a:tailEnd type="triangle" w="med" len="med"/>
          </a:ln>
        </p:spPr>
      </p:sp>
      <p:sp>
        <p:nvSpPr>
          <p:cNvPr id="417" name="Rectangle 416"/>
          <p:cNvSpPr/>
          <p:nvPr/>
        </p:nvSpPr>
        <p:spPr>
          <a:xfrm>
            <a:off x="14268147" y="38578724"/>
            <a:ext cx="1652249" cy="1046440"/>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pitchFamily="34" charset="0"/>
              </a:rPr>
              <a:t>heterodyne detection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smtClean="0">
                <a:ln>
                  <a:noFill/>
                </a:ln>
                <a:solidFill>
                  <a:prstClr val="black"/>
                </a:solidFill>
                <a:effectLst/>
                <a:uLnTx/>
                <a:uFillTx/>
                <a:latin typeface="Times New Roman" panose="02020603050405020304" pitchFamily="18" charset="0"/>
                <a:cs typeface="Times New Roman" panose="02020603050405020304" pitchFamily="18" charset="0"/>
              </a:rPr>
              <a:t>(</a:t>
            </a:r>
            <a:r>
              <a:rPr kumimoji="0" lang="el-GR" sz="1400" b="0" i="0" u="none" strike="noStrike" kern="0" cap="none" spc="0" normalizeH="0" baseline="0" noProof="0" dirty="0" smtClean="0">
                <a:ln>
                  <a:noFill/>
                </a:ln>
                <a:solidFill>
                  <a:prstClr val="black"/>
                </a:solidFill>
                <a:effectLst/>
                <a:uLnTx/>
                <a:uFillTx/>
                <a:latin typeface="Times New Roman" panose="02020603050405020304" pitchFamily="18" charset="0"/>
                <a:cs typeface="Times New Roman" panose="02020603050405020304" pitchFamily="18" charset="0"/>
              </a:rPr>
              <a:t>ω</a:t>
            </a:r>
            <a:r>
              <a:rPr kumimoji="0" lang="en-US" sz="1400" b="0" i="0" u="none" strike="noStrike" kern="0" cap="none" spc="0" normalizeH="0" baseline="-25000" noProof="0" dirty="0" smtClean="0">
                <a:ln>
                  <a:noFill/>
                </a:ln>
                <a:solidFill>
                  <a:prstClr val="black"/>
                </a:solidFill>
                <a:effectLst/>
                <a:uLnTx/>
                <a:uFillTx/>
                <a:latin typeface="Times New Roman" panose="02020603050405020304" pitchFamily="18" charset="0"/>
                <a:cs typeface="Times New Roman" panose="02020603050405020304" pitchFamily="18" charset="0"/>
              </a:rPr>
              <a:t>b</a:t>
            </a:r>
            <a:r>
              <a:rPr kumimoji="0" lang="en-US" sz="1400" b="0" i="0" u="none" strike="noStrike" kern="0" cap="none" spc="0" normalizeH="0" baseline="0" noProof="0" dirty="0" smtClean="0">
                <a:ln>
                  <a:noFill/>
                </a:ln>
                <a:solidFill>
                  <a:prstClr val="black"/>
                </a:solidFill>
                <a:effectLst/>
                <a:uLnTx/>
                <a:uFillTx/>
                <a:latin typeface="Times New Roman" panose="02020603050405020304" pitchFamily="18" charset="0"/>
                <a:cs typeface="Times New Roman" panose="02020603050405020304" pitchFamily="18" charset="0"/>
              </a:rPr>
              <a:t> ≠ 0)</a:t>
            </a:r>
            <a:endParaRPr kumimoji="0" lang="en-US" sz="1400" b="0" i="0" u="none" strike="noStrike" kern="0" cap="none" spc="0" normalizeH="0" baseline="0" noProof="0" dirty="0" smtClean="0">
              <a:ln>
                <a:noFill/>
              </a:ln>
              <a:solidFill>
                <a:prstClr val="black"/>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pitchFamily="34" charset="0"/>
            </a:endParaRPr>
          </a:p>
        </p:txBody>
      </p:sp>
      <p:sp>
        <p:nvSpPr>
          <p:cNvPr id="418" name="CustomShape 6 6"/>
          <p:cNvSpPr/>
          <p:nvPr/>
        </p:nvSpPr>
        <p:spPr>
          <a:xfrm flipH="1">
            <a:off x="13725644" y="38421205"/>
            <a:ext cx="1184152" cy="562967"/>
          </a:xfrm>
          <a:prstGeom prst="curvedConnector3">
            <a:avLst>
              <a:gd name="adj1" fmla="val 55788"/>
            </a:avLst>
          </a:prstGeom>
          <a:noFill/>
          <a:ln w="31680">
            <a:solidFill>
              <a:srgbClr val="0070C0"/>
            </a:solidFill>
            <a:round/>
          </a:ln>
        </p:spPr>
      </p:sp>
      <p:sp>
        <p:nvSpPr>
          <p:cNvPr id="419" name="CustomShape 6 7"/>
          <p:cNvSpPr/>
          <p:nvPr/>
        </p:nvSpPr>
        <p:spPr>
          <a:xfrm>
            <a:off x="13753067" y="38993515"/>
            <a:ext cx="1156729" cy="496002"/>
          </a:xfrm>
          <a:prstGeom prst="curvedConnector3">
            <a:avLst>
              <a:gd name="adj1" fmla="val 41619"/>
            </a:avLst>
          </a:prstGeom>
          <a:noFill/>
          <a:ln w="31680">
            <a:solidFill>
              <a:srgbClr val="0070C0"/>
            </a:solidFill>
            <a:round/>
          </a:ln>
        </p:spPr>
      </p:sp>
      <p:sp>
        <p:nvSpPr>
          <p:cNvPr id="420" name="Flowchart: Delay 419"/>
          <p:cNvSpPr/>
          <p:nvPr/>
        </p:nvSpPr>
        <p:spPr>
          <a:xfrm>
            <a:off x="14909796" y="38228278"/>
            <a:ext cx="390698" cy="407324"/>
          </a:xfrm>
          <a:prstGeom prst="flowChartDelay">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 name="CustomShape 5 4"/>
          <p:cNvSpPr/>
          <p:nvPr/>
        </p:nvSpPr>
        <p:spPr>
          <a:xfrm rot="10800000">
            <a:off x="15300494" y="38433396"/>
            <a:ext cx="508985" cy="583040"/>
          </a:xfrm>
          <a:prstGeom prst="curvedConnector3">
            <a:avLst>
              <a:gd name="adj1" fmla="val 50000"/>
            </a:avLst>
          </a:prstGeom>
          <a:noFill/>
          <a:ln w="28575">
            <a:solidFill>
              <a:schemeClr val="tx1"/>
            </a:solidFill>
            <a:round/>
          </a:ln>
        </p:spPr>
      </p:sp>
      <p:sp>
        <p:nvSpPr>
          <p:cNvPr id="422" name="CustomShape 34 6"/>
          <p:cNvSpPr/>
          <p:nvPr/>
        </p:nvSpPr>
        <p:spPr>
          <a:xfrm>
            <a:off x="15809480" y="38828215"/>
            <a:ext cx="338809" cy="330591"/>
          </a:xfrm>
          <a:prstGeom prst="roundRect">
            <a:avLst>
              <a:gd name="adj" fmla="val 16667"/>
            </a:avLst>
          </a:prstGeom>
          <a:ln/>
        </p:spPr>
        <p:style>
          <a:lnRef idx="2">
            <a:schemeClr val="dk1"/>
          </a:lnRef>
          <a:fillRef idx="1">
            <a:schemeClr val="lt1"/>
          </a:fillRef>
          <a:effectRef idx="0">
            <a:schemeClr val="dk1"/>
          </a:effectRef>
          <a:fontRef idx="minor">
            <a:schemeClr val="dk1"/>
          </a:fontRef>
        </p:style>
      </p:sp>
      <p:sp>
        <p:nvSpPr>
          <p:cNvPr id="178" name="CustomShape 18 4"/>
          <p:cNvSpPr/>
          <p:nvPr/>
        </p:nvSpPr>
        <p:spPr>
          <a:xfrm>
            <a:off x="5893722" y="34071196"/>
            <a:ext cx="5523762" cy="633429"/>
          </a:xfrm>
          <a:prstGeom prst="rect">
            <a:avLst/>
          </a:prstGeom>
          <a:noFill/>
          <a:ln>
            <a:noFill/>
          </a:ln>
        </p:spPr>
        <p:txBody>
          <a:bodyPr wrap="none" lIns="90000" tIns="45000" rIns="90000" bIns="45000"/>
          <a:lstStyle/>
          <a:p>
            <a:pPr lvl="0" defTabSz="914400"/>
            <a:r>
              <a:rPr lang="en-US" sz="1400" kern="0" dirty="0" smtClean="0">
                <a:solidFill>
                  <a:srgbClr val="000000"/>
                </a:solidFill>
                <a:latin typeface="Arial"/>
              </a:rPr>
              <a:t>Digitally </a:t>
            </a:r>
            <a:r>
              <a:rPr lang="en-US" sz="1400" kern="0" err="1" smtClean="0">
                <a:solidFill>
                  <a:srgbClr val="000000"/>
                </a:solidFill>
                <a:latin typeface="Arial"/>
              </a:rPr>
              <a:t>upconverted</a:t>
            </a:r>
            <a:r>
              <a:rPr lang="en-US" sz="1400" kern="0" smtClean="0">
                <a:solidFill>
                  <a:srgbClr val="000000"/>
                </a:solidFill>
                <a:latin typeface="Arial"/>
              </a:rPr>
              <a:t> </a:t>
            </a:r>
            <a:r>
              <a:rPr lang="en-US" sz="1400" kern="0" smtClean="0">
                <a:solidFill>
                  <a:srgbClr val="000000"/>
                </a:solidFill>
                <a:latin typeface="Arial"/>
              </a:rPr>
              <a:t>signal generated using the AWG and input to</a:t>
            </a:r>
          </a:p>
          <a:p>
            <a:pPr lvl="0" defTabSz="914400"/>
            <a:r>
              <a:rPr lang="en-US" sz="1400" kern="0" smtClean="0">
                <a:solidFill>
                  <a:srgbClr val="000000"/>
                </a:solidFill>
                <a:latin typeface="Arial"/>
              </a:rPr>
              <a:t>the intensity modulator, shown both </a:t>
            </a:r>
            <a:r>
              <a:rPr lang="en-US" sz="1400" kern="0">
                <a:solidFill>
                  <a:srgbClr val="000000"/>
                </a:solidFill>
                <a:latin typeface="Arial"/>
              </a:rPr>
              <a:t>i</a:t>
            </a:r>
            <a:r>
              <a:rPr lang="en-US" sz="1400" kern="0" smtClean="0">
                <a:solidFill>
                  <a:srgbClr val="000000"/>
                </a:solidFill>
                <a:latin typeface="Arial"/>
              </a:rPr>
              <a:t>n time and frequency domains.</a:t>
            </a:r>
            <a:endParaRPr lang="en-US" sz="1400" kern="0" dirty="0" smtClean="0">
              <a:solidFill>
                <a:srgbClr val="000000"/>
              </a:solidFill>
              <a:latin typeface="Arial"/>
            </a:endParaRPr>
          </a:p>
          <a:p>
            <a:pPr lvl="0" defTabSz="914400"/>
            <a:r>
              <a:rPr lang="en-US" sz="1200" kern="0" dirty="0" smtClean="0">
                <a:solidFill>
                  <a:srgbClr val="000000"/>
                </a:solidFill>
                <a:latin typeface="Arial"/>
              </a:rPr>
              <a:t> </a:t>
            </a:r>
            <a:endParaRPr kumimoji="0" sz="1200" b="0" i="0" u="none" strike="noStrike" kern="0" cap="none" spc="0" normalizeH="0" baseline="0" noProof="0" dirty="0" smtClean="0">
              <a:ln>
                <a:noFill/>
              </a:ln>
              <a:solidFill>
                <a:prstClr val="black"/>
              </a:solidFill>
              <a:effectLst/>
              <a:uLnTx/>
              <a:uFillTx/>
            </a:endParaRPr>
          </a:p>
        </p:txBody>
      </p:sp>
      <p:sp>
        <p:nvSpPr>
          <p:cNvPr id="179" name="CustomShape 18 4"/>
          <p:cNvSpPr/>
          <p:nvPr/>
        </p:nvSpPr>
        <p:spPr>
          <a:xfrm>
            <a:off x="11967944" y="34044512"/>
            <a:ext cx="5204596" cy="728442"/>
          </a:xfrm>
          <a:prstGeom prst="rect">
            <a:avLst/>
          </a:prstGeom>
          <a:noFill/>
          <a:ln>
            <a:noFill/>
          </a:ln>
        </p:spPr>
        <p:txBody>
          <a:bodyPr wrap="none" lIns="90000" tIns="45000" rIns="90000" bIns="45000"/>
          <a:lstStyle/>
          <a:p>
            <a:pPr lvl="0" defTabSz="914400"/>
            <a:r>
              <a:rPr lang="en-US" sz="1400" kern="0" dirty="0" smtClean="0">
                <a:solidFill>
                  <a:srgbClr val="000000"/>
                </a:solidFill>
                <a:latin typeface="Arial"/>
              </a:rPr>
              <a:t>Heterodyne </a:t>
            </a:r>
            <a:r>
              <a:rPr lang="en-US" sz="1400" kern="0" smtClean="0">
                <a:solidFill>
                  <a:srgbClr val="000000"/>
                </a:solidFill>
                <a:latin typeface="Arial"/>
              </a:rPr>
              <a:t>signal </a:t>
            </a:r>
            <a:r>
              <a:rPr lang="en-US" sz="1400" kern="0" smtClean="0">
                <a:solidFill>
                  <a:srgbClr val="000000"/>
                </a:solidFill>
                <a:latin typeface="Arial"/>
              </a:rPr>
              <a:t>(red trace) used </a:t>
            </a:r>
            <a:r>
              <a:rPr lang="en-US" sz="1400" kern="0" smtClean="0">
                <a:solidFill>
                  <a:srgbClr val="000000"/>
                </a:solidFill>
                <a:latin typeface="Arial"/>
              </a:rPr>
              <a:t>as </a:t>
            </a:r>
            <a:r>
              <a:rPr lang="en-US" sz="1400" kern="0" smtClean="0">
                <a:solidFill>
                  <a:srgbClr val="000000"/>
                </a:solidFill>
                <a:latin typeface="Arial"/>
              </a:rPr>
              <a:t>the input </a:t>
            </a:r>
            <a:r>
              <a:rPr lang="en-US" sz="1400" kern="0" dirty="0" smtClean="0">
                <a:solidFill>
                  <a:srgbClr val="000000"/>
                </a:solidFill>
                <a:latin typeface="Arial"/>
              </a:rPr>
              <a:t>to PLL </a:t>
            </a:r>
            <a:r>
              <a:rPr lang="en-US" sz="1400" kern="0" smtClean="0">
                <a:solidFill>
                  <a:srgbClr val="000000"/>
                </a:solidFill>
                <a:latin typeface="Arial"/>
              </a:rPr>
              <a:t>with </a:t>
            </a:r>
            <a:r>
              <a:rPr lang="en-US" sz="1400" kern="0" smtClean="0">
                <a:solidFill>
                  <a:srgbClr val="000000"/>
                </a:solidFill>
                <a:latin typeface="Arial"/>
              </a:rPr>
              <a:t>an </a:t>
            </a:r>
          </a:p>
          <a:p>
            <a:pPr lvl="0" defTabSz="914400"/>
            <a:r>
              <a:rPr lang="en-US" sz="1400" kern="0" smtClean="0">
                <a:solidFill>
                  <a:srgbClr val="000000"/>
                </a:solidFill>
                <a:latin typeface="Arial"/>
              </a:rPr>
              <a:t>initial </a:t>
            </a:r>
            <a:r>
              <a:rPr lang="en-US" sz="1400" kern="0" smtClean="0">
                <a:solidFill>
                  <a:srgbClr val="000000"/>
                </a:solidFill>
                <a:latin typeface="Arial"/>
              </a:rPr>
              <a:t>DDS </a:t>
            </a:r>
            <a:r>
              <a:rPr lang="en-US" sz="1400" kern="0" smtClean="0">
                <a:solidFill>
                  <a:srgbClr val="000000"/>
                </a:solidFill>
                <a:latin typeface="Arial"/>
              </a:rPr>
              <a:t>frequency </a:t>
            </a:r>
            <a:r>
              <a:rPr lang="en-US" sz="1400" kern="0" dirty="0" smtClean="0">
                <a:solidFill>
                  <a:srgbClr val="000000"/>
                </a:solidFill>
                <a:latin typeface="Arial"/>
              </a:rPr>
              <a:t>of </a:t>
            </a:r>
            <a:r>
              <a:rPr lang="en-US" sz="1400" kern="0" smtClean="0">
                <a:solidFill>
                  <a:srgbClr val="000000"/>
                </a:solidFill>
                <a:latin typeface="Arial"/>
              </a:rPr>
              <a:t>99.19 </a:t>
            </a:r>
            <a:r>
              <a:rPr lang="en-US" sz="1400" kern="0" smtClean="0">
                <a:solidFill>
                  <a:srgbClr val="000000"/>
                </a:solidFill>
                <a:latin typeface="Arial"/>
              </a:rPr>
              <a:t>MHz</a:t>
            </a:r>
            <a:r>
              <a:rPr lang="en-US" sz="1400" kern="0" smtClean="0">
                <a:solidFill>
                  <a:srgbClr val="000000"/>
                </a:solidFill>
                <a:latin typeface="Arial"/>
              </a:rPr>
              <a:t>, shown with the</a:t>
            </a:r>
            <a:r>
              <a:rPr lang="en-US" sz="1400" kern="0" smtClean="0">
                <a:solidFill>
                  <a:srgbClr val="000000"/>
                </a:solidFill>
                <a:latin typeface="Arial"/>
              </a:rPr>
              <a:t> PLL output </a:t>
            </a:r>
          </a:p>
          <a:p>
            <a:pPr lvl="0" defTabSz="914400"/>
            <a:r>
              <a:rPr lang="en-US" sz="1400" kern="0" smtClean="0">
                <a:solidFill>
                  <a:srgbClr val="000000"/>
                </a:solidFill>
                <a:latin typeface="Arial"/>
              </a:rPr>
              <a:t>(black trace) in both </a:t>
            </a:r>
            <a:r>
              <a:rPr lang="en-US" sz="1400" kern="0" smtClean="0">
                <a:solidFill>
                  <a:srgbClr val="000000"/>
                </a:solidFill>
                <a:latin typeface="Arial"/>
              </a:rPr>
              <a:t>time </a:t>
            </a:r>
            <a:r>
              <a:rPr lang="en-US" sz="1400" kern="0" smtClean="0">
                <a:solidFill>
                  <a:srgbClr val="000000"/>
                </a:solidFill>
                <a:latin typeface="Arial"/>
              </a:rPr>
              <a:t>and </a:t>
            </a:r>
            <a:r>
              <a:rPr lang="en-US" sz="1400" kern="0" smtClean="0">
                <a:solidFill>
                  <a:srgbClr val="000000"/>
                </a:solidFill>
                <a:latin typeface="Arial"/>
              </a:rPr>
              <a:t>frequency </a:t>
            </a:r>
            <a:r>
              <a:rPr lang="en-US" sz="1400" kern="0" smtClean="0">
                <a:solidFill>
                  <a:srgbClr val="000000"/>
                </a:solidFill>
                <a:latin typeface="Arial"/>
              </a:rPr>
              <a:t>domains. </a:t>
            </a:r>
            <a:endParaRPr kumimoji="0" sz="1200" b="0" i="0" u="none" strike="noStrike" kern="0" cap="none" spc="0" normalizeH="0" baseline="0" noProof="0" dirty="0" smtClean="0">
              <a:ln>
                <a:noFill/>
              </a:ln>
              <a:solidFill>
                <a:prstClr val="black"/>
              </a:solidFill>
              <a:effectLst/>
              <a:uLnTx/>
              <a:uFillTx/>
            </a:endParaRPr>
          </a:p>
        </p:txBody>
      </p:sp>
      <p:sp>
        <p:nvSpPr>
          <p:cNvPr id="180" name="CustomShape 18 4"/>
          <p:cNvSpPr/>
          <p:nvPr/>
        </p:nvSpPr>
        <p:spPr>
          <a:xfrm>
            <a:off x="17838708" y="34027675"/>
            <a:ext cx="5641269" cy="687278"/>
          </a:xfrm>
          <a:prstGeom prst="rect">
            <a:avLst/>
          </a:prstGeom>
          <a:noFill/>
          <a:ln>
            <a:noFill/>
          </a:ln>
        </p:spPr>
        <p:txBody>
          <a:bodyPr wrap="none" lIns="90000" tIns="45000" rIns="90000" bIns="45000"/>
          <a:lstStyle/>
          <a:p>
            <a:pPr lvl="0" defTabSz="914400"/>
            <a:r>
              <a:rPr lang="en-US" sz="1400" kern="0" dirty="0" smtClean="0">
                <a:solidFill>
                  <a:srgbClr val="000000"/>
                </a:solidFill>
                <a:latin typeface="Arial"/>
              </a:rPr>
              <a:t>PLL-compensated </a:t>
            </a:r>
            <a:r>
              <a:rPr lang="en-US" sz="1400" kern="0" smtClean="0">
                <a:solidFill>
                  <a:srgbClr val="000000"/>
                </a:solidFill>
                <a:latin typeface="Arial"/>
              </a:rPr>
              <a:t>and </a:t>
            </a:r>
            <a:r>
              <a:rPr lang="en-US" sz="1400" kern="0" smtClean="0">
                <a:solidFill>
                  <a:srgbClr val="000000"/>
                </a:solidFill>
                <a:latin typeface="Arial"/>
              </a:rPr>
              <a:t>band pass filtered </a:t>
            </a:r>
            <a:r>
              <a:rPr lang="en-US" sz="1400" kern="0" dirty="0" smtClean="0">
                <a:solidFill>
                  <a:srgbClr val="000000"/>
                </a:solidFill>
                <a:latin typeface="Arial"/>
              </a:rPr>
              <a:t>output in comparison </a:t>
            </a:r>
            <a:r>
              <a:rPr lang="en-US" sz="1400" kern="0" smtClean="0">
                <a:solidFill>
                  <a:srgbClr val="000000"/>
                </a:solidFill>
                <a:latin typeface="Arial"/>
              </a:rPr>
              <a:t>with </a:t>
            </a:r>
            <a:endParaRPr lang="en-US" sz="1400" kern="0" smtClean="0">
              <a:solidFill>
                <a:srgbClr val="000000"/>
              </a:solidFill>
              <a:latin typeface="Arial"/>
            </a:endParaRPr>
          </a:p>
          <a:p>
            <a:pPr lvl="0" defTabSz="914400"/>
            <a:r>
              <a:rPr lang="en-US" sz="1400" kern="0" smtClean="0">
                <a:solidFill>
                  <a:srgbClr val="000000"/>
                </a:solidFill>
                <a:latin typeface="Arial"/>
              </a:rPr>
              <a:t>the </a:t>
            </a:r>
            <a:r>
              <a:rPr lang="en-US" sz="1400" kern="0" smtClean="0">
                <a:solidFill>
                  <a:srgbClr val="000000"/>
                </a:solidFill>
                <a:latin typeface="Arial"/>
              </a:rPr>
              <a:t>original </a:t>
            </a:r>
            <a:r>
              <a:rPr lang="en-US" sz="1400" kern="0" smtClean="0">
                <a:solidFill>
                  <a:srgbClr val="000000"/>
                </a:solidFill>
                <a:latin typeface="Arial"/>
              </a:rPr>
              <a:t>upconverted </a:t>
            </a:r>
            <a:r>
              <a:rPr lang="en-US" sz="1400" kern="0" smtClean="0">
                <a:solidFill>
                  <a:srgbClr val="000000"/>
                </a:solidFill>
                <a:latin typeface="Arial"/>
              </a:rPr>
              <a:t>AM </a:t>
            </a:r>
            <a:r>
              <a:rPr lang="en-US" sz="1400" kern="0" smtClean="0">
                <a:solidFill>
                  <a:srgbClr val="000000"/>
                </a:solidFill>
                <a:latin typeface="Arial"/>
              </a:rPr>
              <a:t>signal,in </a:t>
            </a:r>
            <a:r>
              <a:rPr lang="en-US" sz="1400" kern="0" smtClean="0">
                <a:solidFill>
                  <a:srgbClr val="000000"/>
                </a:solidFill>
                <a:latin typeface="Arial"/>
              </a:rPr>
              <a:t>time </a:t>
            </a:r>
            <a:r>
              <a:rPr lang="en-US" sz="1400" kern="0" smtClean="0">
                <a:solidFill>
                  <a:srgbClr val="000000"/>
                </a:solidFill>
                <a:latin typeface="Arial"/>
              </a:rPr>
              <a:t>domain (top</a:t>
            </a:r>
            <a:r>
              <a:rPr lang="en-US" sz="1400" kern="0" dirty="0" smtClean="0">
                <a:solidFill>
                  <a:srgbClr val="000000"/>
                </a:solidFill>
                <a:latin typeface="Arial"/>
              </a:rPr>
              <a:t>) </a:t>
            </a:r>
            <a:r>
              <a:rPr lang="en-US" sz="1400" kern="0" smtClean="0">
                <a:solidFill>
                  <a:srgbClr val="000000"/>
                </a:solidFill>
                <a:latin typeface="Arial"/>
              </a:rPr>
              <a:t>and </a:t>
            </a:r>
            <a:r>
              <a:rPr lang="en-US" sz="1400" kern="0" smtClean="0">
                <a:solidFill>
                  <a:srgbClr val="000000"/>
                </a:solidFill>
                <a:latin typeface="Arial"/>
              </a:rPr>
              <a:t>frequency </a:t>
            </a:r>
          </a:p>
          <a:p>
            <a:pPr lvl="0" defTabSz="914400"/>
            <a:r>
              <a:rPr lang="en-US" sz="1400" kern="0" smtClean="0">
                <a:solidFill>
                  <a:srgbClr val="000000"/>
                </a:solidFill>
                <a:latin typeface="Arial"/>
              </a:rPr>
              <a:t>domain </a:t>
            </a:r>
            <a:r>
              <a:rPr lang="en-US" sz="1400" kern="0">
                <a:solidFill>
                  <a:srgbClr val="000000"/>
                </a:solidFill>
                <a:latin typeface="Arial"/>
              </a:rPr>
              <a:t>(</a:t>
            </a:r>
            <a:r>
              <a:rPr lang="en-US" sz="1400" kern="0" smtClean="0">
                <a:solidFill>
                  <a:srgbClr val="000000"/>
                </a:solidFill>
                <a:latin typeface="Arial"/>
              </a:rPr>
              <a:t>bottom). </a:t>
            </a:r>
            <a:endParaRPr kumimoji="0" sz="1400" b="0" i="0" u="none" strike="noStrike" kern="0" cap="none" spc="0" normalizeH="0" baseline="0" noProof="0" dirty="0" smtClean="0">
              <a:ln>
                <a:noFill/>
              </a:ln>
              <a:solidFill>
                <a:prstClr val="black"/>
              </a:solidFill>
              <a:effectLst/>
              <a:uLnTx/>
              <a:uFillTx/>
            </a:endParaRPr>
          </a:p>
        </p:txBody>
      </p:sp>
      <p:sp>
        <p:nvSpPr>
          <p:cNvPr id="181" name="CustomShape 18 4"/>
          <p:cNvSpPr/>
          <p:nvPr/>
        </p:nvSpPr>
        <p:spPr>
          <a:xfrm>
            <a:off x="24117731" y="34002155"/>
            <a:ext cx="5031809" cy="764361"/>
          </a:xfrm>
          <a:prstGeom prst="rect">
            <a:avLst/>
          </a:prstGeom>
          <a:noFill/>
          <a:ln>
            <a:noFill/>
          </a:ln>
        </p:spPr>
        <p:txBody>
          <a:bodyPr wrap="none" lIns="90000" tIns="45000" rIns="90000" bIns="45000"/>
          <a:lstStyle/>
          <a:p>
            <a:pPr lvl="0" defTabSz="914400"/>
            <a:r>
              <a:rPr lang="en-US" sz="1400" kern="0" dirty="0" smtClean="0">
                <a:solidFill>
                  <a:srgbClr val="000000"/>
                </a:solidFill>
                <a:latin typeface="Arial"/>
              </a:rPr>
              <a:t>Cross correlation of </a:t>
            </a:r>
            <a:r>
              <a:rPr lang="en-US" sz="1400" kern="0" smtClean="0">
                <a:solidFill>
                  <a:srgbClr val="000000"/>
                </a:solidFill>
                <a:latin typeface="Arial"/>
              </a:rPr>
              <a:t>PLL-compensated </a:t>
            </a:r>
            <a:r>
              <a:rPr lang="en-US" sz="1400" kern="0" smtClean="0">
                <a:solidFill>
                  <a:srgbClr val="000000"/>
                </a:solidFill>
                <a:latin typeface="Arial"/>
              </a:rPr>
              <a:t>&amp; </a:t>
            </a:r>
            <a:r>
              <a:rPr lang="en-US" sz="1400" kern="0" dirty="0" smtClean="0">
                <a:solidFill>
                  <a:srgbClr val="000000"/>
                </a:solidFill>
                <a:latin typeface="Arial"/>
              </a:rPr>
              <a:t>filtered signal </a:t>
            </a:r>
          </a:p>
          <a:p>
            <a:pPr lvl="0" defTabSz="914400"/>
            <a:r>
              <a:rPr lang="en-US" sz="1400" kern="0" smtClean="0">
                <a:solidFill>
                  <a:srgbClr val="000000"/>
                </a:solidFill>
                <a:latin typeface="Arial"/>
              </a:rPr>
              <a:t>with the input </a:t>
            </a:r>
            <a:r>
              <a:rPr lang="en-US" sz="1400" kern="0" dirty="0" smtClean="0">
                <a:solidFill>
                  <a:srgbClr val="000000"/>
                </a:solidFill>
                <a:latin typeface="Arial"/>
              </a:rPr>
              <a:t>to </a:t>
            </a:r>
            <a:r>
              <a:rPr lang="en-US" sz="1400" kern="0" smtClean="0">
                <a:solidFill>
                  <a:srgbClr val="000000"/>
                </a:solidFill>
                <a:latin typeface="Arial"/>
              </a:rPr>
              <a:t>AM</a:t>
            </a:r>
            <a:r>
              <a:rPr lang="en-US" sz="1400" kern="0" smtClean="0">
                <a:solidFill>
                  <a:srgbClr val="000000"/>
                </a:solidFill>
                <a:latin typeface="Arial"/>
              </a:rPr>
              <a:t>. Inset shows a zoom in the vicinity of </a:t>
            </a:r>
          </a:p>
          <a:p>
            <a:pPr lvl="0" defTabSz="914400"/>
            <a:r>
              <a:rPr lang="en-US" sz="1400" kern="0" smtClean="0">
                <a:solidFill>
                  <a:srgbClr val="000000"/>
                </a:solidFill>
                <a:latin typeface="Arial"/>
              </a:rPr>
              <a:t>the peak cross correlation </a:t>
            </a:r>
            <a:r>
              <a:rPr kumimoji="0" lang="en-US" sz="1400" b="0" i="0" u="none" strike="noStrike" kern="0" cap="none" spc="0" normalizeH="0" baseline="0" noProof="0" smtClean="0">
                <a:ln>
                  <a:noFill/>
                </a:ln>
                <a:solidFill>
                  <a:srgbClr val="000000"/>
                </a:solidFill>
                <a:effectLst/>
                <a:uLnTx/>
                <a:uFillTx/>
                <a:latin typeface="Arial"/>
              </a:rPr>
              <a:t>value </a:t>
            </a:r>
            <a:endParaRPr kumimoji="0" sz="1400" b="0" i="0" u="none" strike="noStrike" kern="0" cap="none" spc="0" normalizeH="0" baseline="0" noProof="0" dirty="0" smtClean="0">
              <a:ln>
                <a:noFill/>
              </a:ln>
              <a:solidFill>
                <a:prstClr val="black"/>
              </a:solidFill>
              <a:effectLst/>
              <a:uLnTx/>
              <a:uFillTx/>
            </a:endParaRPr>
          </a:p>
        </p:txBody>
      </p:sp>
      <p:pic>
        <p:nvPicPr>
          <p:cNvPr id="7" name="Picture 6"/>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428168" y="30745748"/>
            <a:ext cx="5956697" cy="3278300"/>
          </a:xfrm>
          <a:prstGeom prst="rect">
            <a:avLst/>
          </a:prstGeom>
        </p:spPr>
      </p:pic>
      <p:pic>
        <p:nvPicPr>
          <p:cNvPr id="10" name="Picture 9"/>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1565688" y="30711324"/>
            <a:ext cx="5522336" cy="3249780"/>
          </a:xfrm>
          <a:prstGeom prst="rect">
            <a:avLst/>
          </a:prstGeom>
        </p:spPr>
      </p:pic>
      <p:pic>
        <p:nvPicPr>
          <p:cNvPr id="16" name="Picture 15"/>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7585848" y="30505869"/>
            <a:ext cx="5738345" cy="3406395"/>
          </a:xfrm>
          <a:prstGeom prst="rect">
            <a:avLst/>
          </a:prstGeom>
        </p:spPr>
      </p:pic>
      <p:pic>
        <p:nvPicPr>
          <p:cNvPr id="27" name="Picture 26"/>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23683150" y="30388719"/>
            <a:ext cx="5609279" cy="3456000"/>
          </a:xfrm>
          <a:prstGeom prst="rect">
            <a:avLst/>
          </a:prstGeom>
        </p:spPr>
      </p:pic>
      <p:sp>
        <p:nvSpPr>
          <p:cNvPr id="186" name="Rectangle 185"/>
          <p:cNvSpPr/>
          <p:nvPr/>
        </p:nvSpPr>
        <p:spPr>
          <a:xfrm>
            <a:off x="8315702" y="35351703"/>
            <a:ext cx="7462356" cy="1549833"/>
          </a:xfrm>
          <a:prstGeom prst="rect">
            <a:avLst/>
          </a:prstGeom>
          <a:noFill/>
          <a:ln>
            <a:solidFill>
              <a:schemeClr val="accent1">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CustomShape 18 1"/>
          <p:cNvSpPr/>
          <p:nvPr/>
        </p:nvSpPr>
        <p:spPr>
          <a:xfrm>
            <a:off x="14637944" y="35354208"/>
            <a:ext cx="1142336" cy="481440"/>
          </a:xfrm>
          <a:prstGeom prst="rect">
            <a:avLst/>
          </a:prstGeom>
          <a:noFill/>
          <a:ln>
            <a:noFill/>
          </a:ln>
        </p:spPr>
        <p:txBody>
          <a:bodyPr wrap="none" lIns="90000" tIns="45000" rIns="90000" bIns="45000"/>
          <a:lstStyle/>
          <a:p>
            <a:pPr algn="ctr">
              <a:lnSpc>
                <a:spcPct val="100000"/>
              </a:lnSpc>
            </a:pPr>
            <a:r>
              <a:rPr lang="en-US" sz="2800" b="1" dirty="0" smtClean="0">
                <a:solidFill>
                  <a:schemeClr val="tx2">
                    <a:lumMod val="40000"/>
                    <a:lumOff val="60000"/>
                  </a:schemeClr>
                </a:solidFill>
                <a:latin typeface="Arial"/>
              </a:rPr>
              <a:t>Alice</a:t>
            </a:r>
            <a:endParaRPr sz="2800" b="1" dirty="0">
              <a:solidFill>
                <a:schemeClr val="tx2">
                  <a:lumMod val="40000"/>
                  <a:lumOff val="60000"/>
                </a:schemeClr>
              </a:solidFill>
            </a:endParaRPr>
          </a:p>
        </p:txBody>
      </p:sp>
      <p:sp>
        <p:nvSpPr>
          <p:cNvPr id="188" name="Rectangle 187"/>
          <p:cNvSpPr/>
          <p:nvPr/>
        </p:nvSpPr>
        <p:spPr>
          <a:xfrm>
            <a:off x="8315702" y="37166148"/>
            <a:ext cx="8614841" cy="2899582"/>
          </a:xfrm>
          <a:prstGeom prst="rect">
            <a:avLst/>
          </a:prstGeom>
          <a:noFill/>
          <a:ln>
            <a:solidFill>
              <a:schemeClr val="accent1">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CustomShape 18 1"/>
          <p:cNvSpPr/>
          <p:nvPr/>
        </p:nvSpPr>
        <p:spPr>
          <a:xfrm>
            <a:off x="8115630" y="39525342"/>
            <a:ext cx="1433829" cy="685710"/>
          </a:xfrm>
          <a:prstGeom prst="rect">
            <a:avLst/>
          </a:prstGeom>
          <a:noFill/>
          <a:ln>
            <a:noFill/>
          </a:ln>
        </p:spPr>
        <p:txBody>
          <a:bodyPr wrap="none" lIns="90000" tIns="45000" rIns="90000" bIns="45000"/>
          <a:lstStyle/>
          <a:p>
            <a:pPr algn="ctr">
              <a:lnSpc>
                <a:spcPct val="100000"/>
              </a:lnSpc>
            </a:pPr>
            <a:r>
              <a:rPr lang="en-US" sz="2800" b="1" dirty="0" smtClean="0">
                <a:solidFill>
                  <a:schemeClr val="tx2">
                    <a:lumMod val="40000"/>
                    <a:lumOff val="60000"/>
                  </a:schemeClr>
                </a:solidFill>
                <a:latin typeface="Arial"/>
              </a:rPr>
              <a:t>Bob</a:t>
            </a:r>
            <a:endParaRPr sz="2800" b="1" dirty="0">
              <a:solidFill>
                <a:schemeClr val="tx2">
                  <a:lumMod val="40000"/>
                  <a:lumOff val="60000"/>
                </a:schemeClr>
              </a:solidFill>
            </a:endParaRPr>
          </a:p>
        </p:txBody>
      </p:sp>
      <p:sp>
        <p:nvSpPr>
          <p:cNvPr id="201" name="CustomShape 17 4"/>
          <p:cNvSpPr/>
          <p:nvPr/>
        </p:nvSpPr>
        <p:spPr>
          <a:xfrm>
            <a:off x="8460208" y="36426121"/>
            <a:ext cx="977230" cy="420675"/>
          </a:xfrm>
          <a:prstGeom prst="parallelogram">
            <a:avLst>
              <a:gd name="adj" fmla="val 25000"/>
            </a:avLst>
          </a:prstGeom>
          <a:solidFill>
            <a:srgbClr val="E7E6E6">
              <a:lumMod val="75000"/>
            </a:srgbClr>
          </a:solidFill>
          <a:ln w="25560">
            <a:noFill/>
          </a:ln>
        </p:spPr>
      </p:sp>
      <p:sp>
        <p:nvSpPr>
          <p:cNvPr id="376" name="CustomShape 2 8"/>
          <p:cNvSpPr/>
          <p:nvPr/>
        </p:nvSpPr>
        <p:spPr>
          <a:xfrm>
            <a:off x="8458070" y="36478447"/>
            <a:ext cx="869128" cy="395280"/>
          </a:xfrm>
          <a:prstGeom prst="rect">
            <a:avLst/>
          </a:prstGeom>
          <a:noFill/>
          <a:ln>
            <a:noFill/>
          </a:ln>
        </p:spPr>
        <p:txBody>
          <a:bodyPr wrap="none" lIns="90000" tIns="45000" rIns="90000" bIns="4500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smtClean="0">
                <a:ln>
                  <a:noFill/>
                </a:ln>
                <a:solidFill>
                  <a:srgbClr val="000000"/>
                </a:solidFill>
                <a:effectLst/>
                <a:uLnTx/>
                <a:uFillTx/>
                <a:latin typeface="Arial"/>
              </a:rPr>
              <a:t>Signal laser</a:t>
            </a:r>
            <a:endParaRPr kumimoji="0" sz="1200" b="0" i="0" u="none" strike="noStrike" kern="0" cap="none" spc="0" normalizeH="0" baseline="0" noProof="0" dirty="0" smtClean="0">
              <a:ln>
                <a:noFill/>
              </a:ln>
              <a:solidFill>
                <a:prstClr val="black"/>
              </a:solidFill>
              <a:effectLst/>
              <a:uLnTx/>
              <a:uFillTx/>
            </a:endParaRPr>
          </a:p>
        </p:txBody>
      </p:sp>
      <p:sp>
        <p:nvSpPr>
          <p:cNvPr id="204" name="CustomShape 35 4"/>
          <p:cNvSpPr/>
          <p:nvPr/>
        </p:nvSpPr>
        <p:spPr>
          <a:xfrm>
            <a:off x="15015523" y="36314098"/>
            <a:ext cx="868690" cy="422712"/>
          </a:xfrm>
          <a:prstGeom prst="rect">
            <a:avLst/>
          </a:prstGeom>
          <a:noFill/>
          <a:ln>
            <a:noFill/>
          </a:ln>
        </p:spPr>
        <p:txBody>
          <a:bodyPr wrap="none" lIns="90000" tIns="45000" rIns="90000" bIns="45000"/>
          <a:lstStyle/>
          <a:p>
            <a:pPr marL="0" marR="0" lvl="0" indent="0" defTabSz="914400" eaLnBrk="1" fontAlgn="auto" latinLnBrk="0" hangingPunct="1">
              <a:lnSpc>
                <a:spcPct val="100000"/>
              </a:lnSpc>
              <a:spcBef>
                <a:spcPts val="0"/>
              </a:spcBef>
              <a:spcAft>
                <a:spcPts val="0"/>
              </a:spcAft>
              <a:buClrTx/>
              <a:buSzTx/>
              <a:buFontTx/>
              <a:buNone/>
              <a:tabLst/>
              <a:defRPr/>
            </a:pPr>
            <a:r>
              <a:rPr lang="da-DK" sz="1400" kern="0" dirty="0">
                <a:solidFill>
                  <a:srgbClr val="000000"/>
                </a:solidFill>
                <a:latin typeface="Arial"/>
              </a:rPr>
              <a:t>t</a:t>
            </a:r>
            <a:r>
              <a:rPr kumimoji="0" lang="da-DK" sz="1400" b="0" i="0" u="none" strike="noStrike" kern="0" cap="none" spc="0" normalizeH="0" baseline="0" noProof="0" dirty="0" smtClean="0">
                <a:ln>
                  <a:noFill/>
                </a:ln>
                <a:solidFill>
                  <a:srgbClr val="000000"/>
                </a:solidFill>
                <a:effectLst/>
                <a:uLnTx/>
                <a:uFillTx/>
                <a:latin typeface="Arial"/>
              </a:rPr>
              <a:t>o Bob</a:t>
            </a:r>
            <a:endParaRPr kumimoji="0" sz="1400" b="0" i="0" u="none" strike="noStrike" kern="0" cap="none" spc="0" normalizeH="0" baseline="0" noProof="0" dirty="0" smtClean="0">
              <a:ln>
                <a:noFill/>
              </a:ln>
              <a:solidFill>
                <a:prstClr val="black"/>
              </a:solidFill>
              <a:effectLst/>
              <a:uLnTx/>
              <a:uFillTx/>
            </a:endParaRPr>
          </a:p>
        </p:txBody>
      </p:sp>
      <p:sp>
        <p:nvSpPr>
          <p:cNvPr id="206" name="CustomShape 35 4"/>
          <p:cNvSpPr/>
          <p:nvPr/>
        </p:nvSpPr>
        <p:spPr>
          <a:xfrm>
            <a:off x="8406470" y="37829101"/>
            <a:ext cx="868690" cy="422712"/>
          </a:xfrm>
          <a:prstGeom prst="rect">
            <a:avLst/>
          </a:prstGeom>
          <a:noFill/>
          <a:ln>
            <a:noFill/>
          </a:ln>
        </p:spPr>
        <p:txBody>
          <a:bodyPr wrap="none" lIns="90000" tIns="45000" rIns="90000" bIns="45000"/>
          <a:lstStyle/>
          <a:p>
            <a:pPr marL="0" marR="0" lvl="0" indent="0" defTabSz="914400" eaLnBrk="1" fontAlgn="auto" latinLnBrk="0" hangingPunct="1">
              <a:lnSpc>
                <a:spcPct val="100000"/>
              </a:lnSpc>
              <a:spcBef>
                <a:spcPts val="0"/>
              </a:spcBef>
              <a:spcAft>
                <a:spcPts val="0"/>
              </a:spcAft>
              <a:buClrTx/>
              <a:buSzTx/>
              <a:buFontTx/>
              <a:buNone/>
              <a:tabLst/>
              <a:defRPr/>
            </a:pPr>
            <a:r>
              <a:rPr lang="da-DK" sz="1400" kern="0" dirty="0">
                <a:solidFill>
                  <a:srgbClr val="000000"/>
                </a:solidFill>
                <a:latin typeface="Arial"/>
              </a:rPr>
              <a:t>f</a:t>
            </a:r>
            <a:r>
              <a:rPr lang="da-DK" sz="1400" kern="0" dirty="0" smtClean="0">
                <a:solidFill>
                  <a:srgbClr val="000000"/>
                </a:solidFill>
                <a:latin typeface="Arial"/>
              </a:rPr>
              <a:t>rom Alice</a:t>
            </a:r>
            <a:endParaRPr kumimoji="0" sz="1400" b="0" i="0" u="none" strike="noStrike" kern="0" cap="none" spc="0" normalizeH="0" baseline="0" noProof="0" dirty="0" smtClean="0">
              <a:ln>
                <a:noFill/>
              </a:ln>
              <a:solidFill>
                <a:prstClr val="black"/>
              </a:solidFill>
              <a:effectLst/>
              <a:uLnTx/>
              <a:uFillTx/>
            </a:endParaRPr>
          </a:p>
        </p:txBody>
      </p:sp>
      <p:sp>
        <p:nvSpPr>
          <p:cNvPr id="217" name="CustomShape 34 4"/>
          <p:cNvSpPr/>
          <p:nvPr/>
        </p:nvSpPr>
        <p:spPr>
          <a:xfrm>
            <a:off x="12426376" y="39520226"/>
            <a:ext cx="661798" cy="330351"/>
          </a:xfrm>
          <a:prstGeom prst="roundRect">
            <a:avLst>
              <a:gd name="adj" fmla="val 12277"/>
            </a:avLst>
          </a:prstGeom>
          <a:gradFill>
            <a:gsLst>
              <a:gs pos="0">
                <a:srgbClr val="9BBB59"/>
              </a:gs>
              <a:gs pos="100000">
                <a:srgbClr val="000000"/>
              </a:gs>
            </a:gsLst>
            <a:lin ang="0"/>
          </a:gradFill>
          <a:ln w="25560">
            <a:noFill/>
          </a:ln>
        </p:spPr>
      </p:sp>
      <p:sp>
        <p:nvSpPr>
          <p:cNvPr id="406" name="CustomShape 35 6"/>
          <p:cNvSpPr/>
          <p:nvPr/>
        </p:nvSpPr>
        <p:spPr>
          <a:xfrm>
            <a:off x="12374935" y="39518151"/>
            <a:ext cx="868690" cy="422712"/>
          </a:xfrm>
          <a:prstGeom prst="rect">
            <a:avLst/>
          </a:prstGeom>
          <a:noFill/>
          <a:ln>
            <a:noFill/>
          </a:ln>
        </p:spPr>
        <p:txBody>
          <a:bodyPr wrap="none" lIns="90000" tIns="45000" rIns="90000" bIns="45000"/>
          <a:lstStyle/>
          <a:p>
            <a:pPr marL="0" marR="0" lvl="0" indent="0" defTabSz="914400" eaLnBrk="1" fontAlgn="auto" latinLnBrk="0" hangingPunct="1">
              <a:lnSpc>
                <a:spcPct val="100000"/>
              </a:lnSpc>
              <a:spcBef>
                <a:spcPts val="0"/>
              </a:spcBef>
              <a:spcAft>
                <a:spcPts val="0"/>
              </a:spcAft>
              <a:buClrTx/>
              <a:buSzTx/>
              <a:buFontTx/>
              <a:buNone/>
              <a:tabLst/>
              <a:defRPr/>
            </a:pPr>
            <a:r>
              <a:rPr kumimoji="0" lang="da-DK" sz="1600" b="0" i="0" u="none" strike="noStrike" kern="0" cap="none" spc="0" normalizeH="0" baseline="0" noProof="0" dirty="0" smtClean="0">
                <a:ln>
                  <a:noFill/>
                </a:ln>
                <a:solidFill>
                  <a:srgbClr val="000000"/>
                </a:solidFill>
                <a:effectLst/>
                <a:uLnTx/>
                <a:uFillTx/>
                <a:latin typeface="Arial"/>
              </a:rPr>
              <a:t>VATT</a:t>
            </a:r>
            <a:endParaRPr kumimoji="0" sz="1600" b="0" i="0" u="none" strike="noStrike" kern="0" cap="none" spc="0" normalizeH="0" baseline="0" noProof="0" dirty="0" smtClean="0">
              <a:ln>
                <a:noFill/>
              </a:ln>
              <a:solidFill>
                <a:prstClr val="black"/>
              </a:solidFill>
              <a:effectLst/>
              <a:uLnTx/>
              <a:uFillTx/>
            </a:endParaRPr>
          </a:p>
        </p:txBody>
      </p:sp>
      <p:sp>
        <p:nvSpPr>
          <p:cNvPr id="219" name="Flowchart: Delay 218"/>
          <p:cNvSpPr/>
          <p:nvPr/>
        </p:nvSpPr>
        <p:spPr>
          <a:xfrm>
            <a:off x="14917813" y="39264666"/>
            <a:ext cx="390698" cy="407324"/>
          </a:xfrm>
          <a:prstGeom prst="flowChartDelay">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CustomShape 6 4"/>
          <p:cNvSpPr/>
          <p:nvPr/>
        </p:nvSpPr>
        <p:spPr>
          <a:xfrm flipV="1">
            <a:off x="15308510" y="39025722"/>
            <a:ext cx="496961" cy="443856"/>
          </a:xfrm>
          <a:prstGeom prst="curvedConnector3">
            <a:avLst>
              <a:gd name="adj1" fmla="val 50990"/>
            </a:avLst>
          </a:prstGeom>
          <a:noFill/>
          <a:ln w="31680">
            <a:solidFill>
              <a:schemeClr val="tx1"/>
            </a:solidFill>
            <a:round/>
          </a:ln>
        </p:spPr>
      </p:sp>
      <p:sp>
        <p:nvSpPr>
          <p:cNvPr id="225" name="CustomShape 35 3"/>
          <p:cNvSpPr/>
          <p:nvPr/>
        </p:nvSpPr>
        <p:spPr>
          <a:xfrm>
            <a:off x="15821764" y="38728148"/>
            <a:ext cx="225125" cy="348984"/>
          </a:xfrm>
          <a:prstGeom prst="rect">
            <a:avLst/>
          </a:prstGeom>
          <a:noFill/>
          <a:ln>
            <a:noFill/>
          </a:ln>
        </p:spPr>
        <p:txBody>
          <a:bodyPr wrap="none" lIns="90000" tIns="45000" rIns="90000" bIns="45000"/>
          <a:lstStyle/>
          <a:p>
            <a:pPr marL="0" marR="0" lvl="0" indent="0" defTabSz="914400" eaLnBrk="1" fontAlgn="auto" latinLnBrk="0" hangingPunct="1">
              <a:lnSpc>
                <a:spcPct val="100000"/>
              </a:lnSpc>
              <a:spcBef>
                <a:spcPts val="0"/>
              </a:spcBef>
              <a:spcAft>
                <a:spcPts val="0"/>
              </a:spcAft>
              <a:buClrTx/>
              <a:buSzTx/>
              <a:buFontTx/>
              <a:buNone/>
              <a:tabLst/>
              <a:defRPr/>
            </a:pPr>
            <a:r>
              <a:rPr kumimoji="0" lang="da-DK" sz="2800" b="0" i="0" u="none" strike="noStrike" kern="0" cap="none" spc="0" normalizeH="0" baseline="0" noProof="0" dirty="0" smtClean="0">
                <a:ln>
                  <a:noFill/>
                </a:ln>
                <a:solidFill>
                  <a:srgbClr val="000000"/>
                </a:solidFill>
                <a:effectLst/>
                <a:uLnTx/>
                <a:uFillTx/>
                <a:latin typeface="Arial"/>
              </a:rPr>
              <a:t>-</a:t>
            </a:r>
            <a:endParaRPr kumimoji="0" sz="2800" b="0" i="0" u="none" strike="noStrike" kern="0" cap="none" spc="0" normalizeH="0" baseline="0" noProof="0" dirty="0" smtClean="0">
              <a:ln>
                <a:noFill/>
              </a:ln>
              <a:solidFill>
                <a:prstClr val="black"/>
              </a:solidFill>
              <a:effectLst/>
              <a:uLnTx/>
              <a:uFillTx/>
            </a:endParaRPr>
          </a:p>
        </p:txBody>
      </p:sp>
      <p:sp>
        <p:nvSpPr>
          <p:cNvPr id="226" name="TextBox 225"/>
          <p:cNvSpPr txBox="1"/>
          <p:nvPr/>
        </p:nvSpPr>
        <p:spPr>
          <a:xfrm>
            <a:off x="17812376" y="36034791"/>
            <a:ext cx="11418261" cy="400110"/>
          </a:xfrm>
          <a:prstGeom prst="rect">
            <a:avLst/>
          </a:prstGeom>
          <a:noFill/>
        </p:spPr>
        <p:txBody>
          <a:bodyPr wrap="square" rtlCol="0">
            <a:spAutoFit/>
          </a:bodyPr>
          <a:lstStyle/>
          <a:p>
            <a:pPr marL="457200" indent="-457200">
              <a:buFontTx/>
              <a:buChar char="-"/>
            </a:pPr>
            <a:endParaRPr lang="en-US" sz="2000" dirty="0"/>
          </a:p>
        </p:txBody>
      </p:sp>
      <p:pic>
        <p:nvPicPr>
          <p:cNvPr id="28" name="Picture 27"/>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967186" y="3400092"/>
            <a:ext cx="5354171" cy="954884"/>
          </a:xfrm>
          <a:prstGeom prst="rect">
            <a:avLst/>
          </a:prstGeom>
        </p:spPr>
      </p:pic>
      <p:pic>
        <p:nvPicPr>
          <p:cNvPr id="29" name="Picture 28"/>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94173" y="4909331"/>
            <a:ext cx="5253586" cy="2017685"/>
          </a:xfrm>
          <a:prstGeom prst="rect">
            <a:avLst/>
          </a:prstGeom>
        </p:spPr>
      </p:pic>
      <p:sp>
        <p:nvSpPr>
          <p:cNvPr id="203" name="TextBox 202"/>
          <p:cNvSpPr txBox="1"/>
          <p:nvPr/>
        </p:nvSpPr>
        <p:spPr>
          <a:xfrm>
            <a:off x="23799093" y="35558130"/>
            <a:ext cx="6070584" cy="4832092"/>
          </a:xfrm>
          <a:prstGeom prst="rect">
            <a:avLst/>
          </a:prstGeom>
          <a:noFill/>
        </p:spPr>
        <p:txBody>
          <a:bodyPr wrap="square" rtlCol="0">
            <a:spAutoFit/>
          </a:bodyPr>
          <a:lstStyle/>
          <a:p>
            <a:pPr marL="457200" indent="-457200">
              <a:buFont typeface="Arial" panose="020B0604020202020204" pitchFamily="34" charset="0"/>
              <a:buChar char="•"/>
            </a:pPr>
            <a:r>
              <a:rPr lang="en-US" sz="2800" dirty="0" smtClean="0"/>
              <a:t>Security established for collective attacks and continuous Gaussian modulation</a:t>
            </a:r>
          </a:p>
          <a:p>
            <a:pPr marL="457200" indent="-457200">
              <a:buFont typeface="Arial" panose="020B0604020202020204" pitchFamily="34" charset="0"/>
              <a:buChar char="•"/>
            </a:pPr>
            <a:r>
              <a:rPr lang="en-US" sz="2800" dirty="0" smtClean="0"/>
              <a:t>Continuous modulation can be approximated with a discrete one with small error</a:t>
            </a:r>
          </a:p>
          <a:p>
            <a:pPr marL="457200" indent="-457200">
              <a:buFont typeface="Arial" panose="020B0604020202020204" pitchFamily="34" charset="0"/>
              <a:buChar char="•"/>
            </a:pPr>
            <a:r>
              <a:rPr lang="en-US" sz="2800" dirty="0" smtClean="0"/>
              <a:t>The proof against coherent attacks requires currently an unfeasible </a:t>
            </a:r>
            <a:r>
              <a:rPr lang="en-US" sz="2800" dirty="0" err="1" smtClean="0"/>
              <a:t>symmetrization</a:t>
            </a:r>
            <a:r>
              <a:rPr lang="en-US" sz="2800" dirty="0" smtClean="0"/>
              <a:t> procedure during </a:t>
            </a:r>
            <a:r>
              <a:rPr lang="en-US" sz="2800" dirty="0" err="1" smtClean="0"/>
              <a:t>postprocessing</a:t>
            </a:r>
            <a:endParaRPr lang="en-US" sz="2800" dirty="0" smtClean="0"/>
          </a:p>
          <a:p>
            <a:pPr marL="457200" indent="-457200">
              <a:buFontTx/>
              <a:buChar char="-"/>
            </a:pPr>
            <a:endParaRPr lang="en-US" sz="2800" dirty="0" smtClean="0"/>
          </a:p>
        </p:txBody>
      </p:sp>
      <p:sp>
        <p:nvSpPr>
          <p:cNvPr id="227" name="CustomShape 18 4"/>
          <p:cNvSpPr/>
          <p:nvPr/>
        </p:nvSpPr>
        <p:spPr>
          <a:xfrm>
            <a:off x="18120127" y="39046328"/>
            <a:ext cx="5652252" cy="1267941"/>
          </a:xfrm>
          <a:prstGeom prst="rect">
            <a:avLst/>
          </a:prstGeom>
          <a:noFill/>
          <a:ln>
            <a:noFill/>
          </a:ln>
        </p:spPr>
        <p:txBody>
          <a:bodyPr wrap="none" lIns="90000" tIns="45000" rIns="90000" bIns="45000"/>
          <a:lstStyle/>
          <a:p>
            <a:pPr lvl="0" defTabSz="914400"/>
            <a:r>
              <a:rPr lang="en-US" sz="1400" kern="0" dirty="0" smtClean="0">
                <a:solidFill>
                  <a:srgbClr val="000000"/>
                </a:solidFill>
                <a:latin typeface="Arial"/>
              </a:rPr>
              <a:t>Comparison of secret key rates as a function of block size. Key rates </a:t>
            </a:r>
          </a:p>
          <a:p>
            <a:pPr lvl="0" defTabSz="914400"/>
            <a:r>
              <a:rPr lang="en-US" sz="1400" kern="0" dirty="0" smtClean="0">
                <a:solidFill>
                  <a:srgbClr val="000000"/>
                </a:solidFill>
                <a:latin typeface="Arial"/>
              </a:rPr>
              <a:t>are compared for collective attacks (dashed and lines with (+)) and</a:t>
            </a:r>
          </a:p>
          <a:p>
            <a:pPr lvl="0" defTabSz="914400"/>
            <a:r>
              <a:rPr lang="en-US" sz="1400" kern="0" dirty="0">
                <a:solidFill>
                  <a:srgbClr val="000000"/>
                </a:solidFill>
                <a:latin typeface="Arial"/>
              </a:rPr>
              <a:t>i</a:t>
            </a:r>
            <a:r>
              <a:rPr lang="en-US" sz="1400" kern="0" dirty="0" smtClean="0">
                <a:solidFill>
                  <a:srgbClr val="000000"/>
                </a:solidFill>
                <a:latin typeface="Arial"/>
              </a:rPr>
              <a:t>ndividual (solid and lines with (o)) attacks. The discretization introduces </a:t>
            </a:r>
          </a:p>
          <a:p>
            <a:pPr lvl="0" defTabSz="914400"/>
            <a:r>
              <a:rPr lang="en-US" sz="1400" kern="0" dirty="0" smtClean="0">
                <a:solidFill>
                  <a:srgbClr val="000000"/>
                </a:solidFill>
                <a:latin typeface="Arial"/>
              </a:rPr>
              <a:t>a penalty (solid and dashed lines) compared to the case where the </a:t>
            </a:r>
          </a:p>
          <a:p>
            <a:pPr lvl="0" defTabSz="914400"/>
            <a:r>
              <a:rPr lang="en-US" sz="1400" kern="0" dirty="0" smtClean="0">
                <a:solidFill>
                  <a:srgbClr val="000000"/>
                </a:solidFill>
                <a:latin typeface="Arial"/>
              </a:rPr>
              <a:t>discretization noise is negligible </a:t>
            </a:r>
            <a:r>
              <a:rPr lang="en-US" sz="1400" kern="0" dirty="0">
                <a:solidFill>
                  <a:srgbClr val="000000"/>
                </a:solidFill>
                <a:latin typeface="Arial"/>
              </a:rPr>
              <a:t>(lines with (o) and (+)) </a:t>
            </a:r>
            <a:r>
              <a:rPr lang="en-US" sz="1400" kern="0" dirty="0" smtClean="0">
                <a:solidFill>
                  <a:srgbClr val="000000"/>
                </a:solidFill>
                <a:latin typeface="Arial"/>
              </a:rPr>
              <a:t>.</a:t>
            </a:r>
          </a:p>
        </p:txBody>
      </p:sp>
      <p:sp>
        <p:nvSpPr>
          <p:cNvPr id="228" name="TextBox 227"/>
          <p:cNvSpPr txBox="1"/>
          <p:nvPr/>
        </p:nvSpPr>
        <p:spPr>
          <a:xfrm>
            <a:off x="15077531" y="40973491"/>
            <a:ext cx="6439365" cy="1384995"/>
          </a:xfrm>
          <a:prstGeom prst="rect">
            <a:avLst/>
          </a:prstGeom>
          <a:noFill/>
        </p:spPr>
        <p:txBody>
          <a:bodyPr wrap="square" rtlCol="0">
            <a:spAutoFit/>
          </a:bodyPr>
          <a:lstStyle/>
          <a:p>
            <a:r>
              <a:rPr lang="en-US" sz="2800" dirty="0"/>
              <a:t>[6] </a:t>
            </a:r>
            <a:r>
              <a:rPr lang="nn-NO" sz="2800" dirty="0"/>
              <a:t>Opt. Lett. </a:t>
            </a:r>
            <a:r>
              <a:rPr lang="nn-NO" sz="2800" b="1" dirty="0"/>
              <a:t>40</a:t>
            </a:r>
            <a:r>
              <a:rPr lang="nn-NO" sz="2800" dirty="0"/>
              <a:t> (16), 3695–3698, (2015</a:t>
            </a:r>
            <a:r>
              <a:rPr lang="nn-NO" sz="2800" dirty="0" smtClean="0"/>
              <a:t>)</a:t>
            </a:r>
          </a:p>
          <a:p>
            <a:r>
              <a:rPr lang="nn-NO" sz="2800" dirty="0" smtClean="0"/>
              <a:t>[7] Opt. Lett. </a:t>
            </a:r>
            <a:r>
              <a:rPr lang="nn-NO" sz="2800" b="1" dirty="0" smtClean="0"/>
              <a:t>42</a:t>
            </a:r>
            <a:r>
              <a:rPr lang="nn-NO" sz="2800" dirty="0" smtClean="0"/>
              <a:t> (8</a:t>
            </a:r>
            <a:r>
              <a:rPr lang="nn-NO" sz="2800"/>
              <a:t>), </a:t>
            </a:r>
            <a:r>
              <a:rPr lang="nn-NO" sz="2800" smtClean="0"/>
              <a:t>1588-1591 </a:t>
            </a:r>
            <a:r>
              <a:rPr lang="nn-NO" sz="2800" dirty="0"/>
              <a:t>(2017</a:t>
            </a:r>
            <a:r>
              <a:rPr lang="nn-NO" sz="2800" dirty="0" smtClean="0"/>
              <a:t>)</a:t>
            </a:r>
          </a:p>
          <a:p>
            <a:r>
              <a:rPr lang="da-DK" sz="2800" dirty="0"/>
              <a:t>[8] Rev. Mod. </a:t>
            </a:r>
            <a:r>
              <a:rPr lang="da-DK" sz="2800" dirty="0" err="1"/>
              <a:t>Phys</a:t>
            </a:r>
            <a:r>
              <a:rPr lang="da-DK" sz="2800" dirty="0"/>
              <a:t>. </a:t>
            </a:r>
            <a:r>
              <a:rPr lang="da-DK" sz="2800" b="1" dirty="0"/>
              <a:t>84</a:t>
            </a:r>
            <a:r>
              <a:rPr lang="da-DK" sz="2800" dirty="0"/>
              <a:t>, </a:t>
            </a:r>
            <a:r>
              <a:rPr lang="da-DK" sz="2800" dirty="0" smtClean="0"/>
              <a:t>621, </a:t>
            </a:r>
            <a:r>
              <a:rPr lang="da-DK" sz="2800" dirty="0"/>
              <a:t>(2012</a:t>
            </a:r>
            <a:r>
              <a:rPr lang="da-DK" sz="2800" dirty="0" smtClean="0"/>
              <a:t>)</a:t>
            </a:r>
            <a:endParaRPr lang="da-DK" sz="2800" dirty="0"/>
          </a:p>
        </p:txBody>
      </p:sp>
      <p:sp>
        <p:nvSpPr>
          <p:cNvPr id="230" name="TextBox 229"/>
          <p:cNvSpPr txBox="1"/>
          <p:nvPr/>
        </p:nvSpPr>
        <p:spPr>
          <a:xfrm>
            <a:off x="8105529" y="40969667"/>
            <a:ext cx="6387625" cy="1384995"/>
          </a:xfrm>
          <a:prstGeom prst="rect">
            <a:avLst/>
          </a:prstGeom>
          <a:noFill/>
        </p:spPr>
        <p:txBody>
          <a:bodyPr wrap="square" rtlCol="0">
            <a:spAutoFit/>
          </a:bodyPr>
          <a:lstStyle/>
          <a:p>
            <a:r>
              <a:rPr lang="nn-NO" sz="2800" dirty="0"/>
              <a:t>[3</a:t>
            </a:r>
            <a:r>
              <a:rPr lang="nn-NO" sz="2800" dirty="0" smtClean="0"/>
              <a:t>] Rev</a:t>
            </a:r>
            <a:r>
              <a:rPr lang="nn-NO" sz="2800" dirty="0"/>
              <a:t>. Mod. Phys. </a:t>
            </a:r>
            <a:r>
              <a:rPr lang="nn-NO" sz="2800" b="1" dirty="0"/>
              <a:t>81</a:t>
            </a:r>
            <a:r>
              <a:rPr lang="nn-NO" sz="2800" dirty="0"/>
              <a:t>, 1301, (2009</a:t>
            </a:r>
            <a:r>
              <a:rPr lang="nn-NO" sz="2800" dirty="0" smtClean="0"/>
              <a:t>)</a:t>
            </a:r>
            <a:endParaRPr lang="en-US" sz="2800" dirty="0" smtClean="0"/>
          </a:p>
          <a:p>
            <a:r>
              <a:rPr lang="en-US" sz="2800" dirty="0" smtClean="0"/>
              <a:t>[4] Phys. Rev. X </a:t>
            </a:r>
            <a:r>
              <a:rPr lang="en-US" sz="2800" b="1" dirty="0" smtClean="0"/>
              <a:t>5</a:t>
            </a:r>
            <a:r>
              <a:rPr lang="en-US" sz="2800" dirty="0" smtClean="0"/>
              <a:t>, 041009, </a:t>
            </a:r>
            <a:r>
              <a:rPr lang="en-US" sz="2800" dirty="0"/>
              <a:t>(2015</a:t>
            </a:r>
            <a:r>
              <a:rPr lang="en-US" sz="2800" dirty="0" smtClean="0"/>
              <a:t>)</a:t>
            </a:r>
          </a:p>
          <a:p>
            <a:r>
              <a:rPr lang="en-US" sz="2800" dirty="0" smtClean="0"/>
              <a:t>[5] </a:t>
            </a:r>
            <a:r>
              <a:rPr lang="en-US" sz="2800" dirty="0"/>
              <a:t>Phys. Rev. </a:t>
            </a:r>
            <a:r>
              <a:rPr lang="en-US" sz="2800" dirty="0" smtClean="0"/>
              <a:t>X </a:t>
            </a:r>
            <a:r>
              <a:rPr lang="en-US" sz="2800" b="1" dirty="0" smtClean="0"/>
              <a:t>5</a:t>
            </a:r>
            <a:r>
              <a:rPr lang="en-US" sz="2800" dirty="0" smtClean="0"/>
              <a:t>, 041010, (2015)</a:t>
            </a:r>
          </a:p>
        </p:txBody>
      </p:sp>
      <p:sp>
        <p:nvSpPr>
          <p:cNvPr id="233" name="TextBox 232"/>
          <p:cNvSpPr txBox="1"/>
          <p:nvPr/>
        </p:nvSpPr>
        <p:spPr>
          <a:xfrm>
            <a:off x="22565964" y="40973490"/>
            <a:ext cx="6439365" cy="954107"/>
          </a:xfrm>
          <a:prstGeom prst="rect">
            <a:avLst/>
          </a:prstGeom>
          <a:noFill/>
        </p:spPr>
        <p:txBody>
          <a:bodyPr wrap="square" rtlCol="0">
            <a:spAutoFit/>
          </a:bodyPr>
          <a:lstStyle/>
          <a:p>
            <a:r>
              <a:rPr lang="nn-NO" sz="2800" dirty="0" smtClean="0"/>
              <a:t>[9] Phys</a:t>
            </a:r>
            <a:r>
              <a:rPr lang="nn-NO" sz="2800" dirty="0"/>
              <a:t>. Rev. Lett. </a:t>
            </a:r>
            <a:r>
              <a:rPr lang="nn-NO" sz="2800" b="1" dirty="0"/>
              <a:t>114</a:t>
            </a:r>
            <a:r>
              <a:rPr lang="nn-NO" sz="2800" dirty="0"/>
              <a:t>, </a:t>
            </a:r>
            <a:r>
              <a:rPr lang="nn-NO" sz="2800" dirty="0" smtClean="0"/>
              <a:t>070501, </a:t>
            </a:r>
            <a:r>
              <a:rPr lang="nn-NO" sz="2800" dirty="0"/>
              <a:t>(2015</a:t>
            </a:r>
            <a:r>
              <a:rPr lang="nn-NO" sz="2800" dirty="0" smtClean="0"/>
              <a:t>)</a:t>
            </a:r>
          </a:p>
          <a:p>
            <a:r>
              <a:rPr lang="nn-NO" sz="2800" dirty="0" smtClean="0"/>
              <a:t>[10] Phys</a:t>
            </a:r>
            <a:r>
              <a:rPr lang="nn-NO" sz="2800" dirty="0"/>
              <a:t>. Rev. Lett. </a:t>
            </a:r>
            <a:r>
              <a:rPr lang="nn-NO" sz="2800" b="1" dirty="0"/>
              <a:t>118</a:t>
            </a:r>
            <a:r>
              <a:rPr lang="nn-NO" sz="2800" dirty="0"/>
              <a:t>, </a:t>
            </a:r>
            <a:r>
              <a:rPr lang="nn-NO" sz="2800" dirty="0" smtClean="0"/>
              <a:t>200501, </a:t>
            </a:r>
            <a:r>
              <a:rPr lang="nn-NO" sz="2800" dirty="0"/>
              <a:t>(2017)</a:t>
            </a:r>
            <a:endParaRPr lang="nn-NO" sz="2800" dirty="0" smtClean="0"/>
          </a:p>
        </p:txBody>
      </p:sp>
      <p:pic>
        <p:nvPicPr>
          <p:cNvPr id="36" name="Picture 35"/>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25542204" y="5098004"/>
            <a:ext cx="3467060" cy="1827446"/>
          </a:xfrm>
          <a:prstGeom prst="rect">
            <a:avLst/>
          </a:prstGeom>
        </p:spPr>
      </p:pic>
      <p:sp>
        <p:nvSpPr>
          <p:cNvPr id="240" name="AutoShape 13 5"/>
          <p:cNvSpPr>
            <a:spLocks noChangeArrowheads="1"/>
          </p:cNvSpPr>
          <p:nvPr/>
        </p:nvSpPr>
        <p:spPr bwMode="auto">
          <a:xfrm>
            <a:off x="539999" y="7919999"/>
            <a:ext cx="7200000" cy="10008000"/>
          </a:xfrm>
          <a:prstGeom prst="roundRect">
            <a:avLst>
              <a:gd name="adj" fmla="val 10341"/>
            </a:avLst>
          </a:prstGeom>
          <a:ln w="76200">
            <a:headEnd/>
            <a:tailEnd/>
          </a:ln>
          <a:extLst/>
        </p:spPr>
        <p:style>
          <a:lnRef idx="2">
            <a:schemeClr val="accent2"/>
          </a:lnRef>
          <a:fillRef idx="1">
            <a:schemeClr val="lt1"/>
          </a:fillRef>
          <a:effectRef idx="0">
            <a:schemeClr val="accent2"/>
          </a:effectRef>
          <a:fontRef idx="minor">
            <a:schemeClr val="dk1"/>
          </a:fontRef>
        </p:style>
        <p:txBody>
          <a:bodyPr wrap="none" lIns="102784" tIns="51392" rIns="102784" bIns="51392" anchor="ctr"/>
          <a:lstStyle>
            <a:defPPr>
              <a:defRPr lang="en-US"/>
            </a:defPPr>
            <a:lvl1pPr algn="ctr" rtl="0" fontAlgn="base">
              <a:spcBef>
                <a:spcPct val="0"/>
              </a:spcBef>
              <a:spcAft>
                <a:spcPct val="0"/>
              </a:spcAft>
              <a:defRPr sz="6900" kern="1200">
                <a:solidFill>
                  <a:schemeClr val="tx1"/>
                </a:solidFill>
                <a:latin typeface="Arial" charset="0"/>
                <a:ea typeface="+mn-ea"/>
                <a:cs typeface="+mn-cs"/>
              </a:defRPr>
            </a:lvl1pPr>
            <a:lvl2pPr marL="457200" algn="ctr" rtl="0" fontAlgn="base">
              <a:spcBef>
                <a:spcPct val="0"/>
              </a:spcBef>
              <a:spcAft>
                <a:spcPct val="0"/>
              </a:spcAft>
              <a:defRPr sz="6900" kern="1200">
                <a:solidFill>
                  <a:schemeClr val="tx1"/>
                </a:solidFill>
                <a:latin typeface="Arial" charset="0"/>
                <a:ea typeface="+mn-ea"/>
                <a:cs typeface="+mn-cs"/>
              </a:defRPr>
            </a:lvl2pPr>
            <a:lvl3pPr marL="914400" algn="ctr" rtl="0" fontAlgn="base">
              <a:spcBef>
                <a:spcPct val="0"/>
              </a:spcBef>
              <a:spcAft>
                <a:spcPct val="0"/>
              </a:spcAft>
              <a:defRPr sz="6900" kern="1200">
                <a:solidFill>
                  <a:schemeClr val="tx1"/>
                </a:solidFill>
                <a:latin typeface="Arial" charset="0"/>
                <a:ea typeface="+mn-ea"/>
                <a:cs typeface="+mn-cs"/>
              </a:defRPr>
            </a:lvl3pPr>
            <a:lvl4pPr marL="1371600" algn="ctr" rtl="0" fontAlgn="base">
              <a:spcBef>
                <a:spcPct val="0"/>
              </a:spcBef>
              <a:spcAft>
                <a:spcPct val="0"/>
              </a:spcAft>
              <a:defRPr sz="6900" kern="1200">
                <a:solidFill>
                  <a:schemeClr val="tx1"/>
                </a:solidFill>
                <a:latin typeface="Arial" charset="0"/>
                <a:ea typeface="+mn-ea"/>
                <a:cs typeface="+mn-cs"/>
              </a:defRPr>
            </a:lvl4pPr>
            <a:lvl5pPr marL="1828800" algn="ctr" rtl="0" fontAlgn="base">
              <a:spcBef>
                <a:spcPct val="0"/>
              </a:spcBef>
              <a:spcAft>
                <a:spcPct val="0"/>
              </a:spcAft>
              <a:defRPr sz="6900" kern="1200">
                <a:solidFill>
                  <a:schemeClr val="tx1"/>
                </a:solidFill>
                <a:latin typeface="Arial" charset="0"/>
                <a:ea typeface="+mn-ea"/>
                <a:cs typeface="+mn-cs"/>
              </a:defRPr>
            </a:lvl5pPr>
            <a:lvl6pPr marL="2286000" algn="l" defTabSz="914400" rtl="0" eaLnBrk="1" latinLnBrk="0" hangingPunct="1">
              <a:defRPr sz="6900" kern="1200">
                <a:solidFill>
                  <a:schemeClr val="tx1"/>
                </a:solidFill>
                <a:latin typeface="Arial" charset="0"/>
                <a:ea typeface="+mn-ea"/>
                <a:cs typeface="+mn-cs"/>
              </a:defRPr>
            </a:lvl6pPr>
            <a:lvl7pPr marL="2743200" algn="l" defTabSz="914400" rtl="0" eaLnBrk="1" latinLnBrk="0" hangingPunct="1">
              <a:defRPr sz="6900" kern="1200">
                <a:solidFill>
                  <a:schemeClr val="tx1"/>
                </a:solidFill>
                <a:latin typeface="Arial" charset="0"/>
                <a:ea typeface="+mn-ea"/>
                <a:cs typeface="+mn-cs"/>
              </a:defRPr>
            </a:lvl7pPr>
            <a:lvl8pPr marL="3200400" algn="l" defTabSz="914400" rtl="0" eaLnBrk="1" latinLnBrk="0" hangingPunct="1">
              <a:defRPr sz="6900" kern="1200">
                <a:solidFill>
                  <a:schemeClr val="tx1"/>
                </a:solidFill>
                <a:latin typeface="Arial" charset="0"/>
                <a:ea typeface="+mn-ea"/>
                <a:cs typeface="+mn-cs"/>
              </a:defRPr>
            </a:lvl8pPr>
            <a:lvl9pPr marL="3657600" algn="l" defTabSz="914400" rtl="0" eaLnBrk="1" latinLnBrk="0" hangingPunct="1">
              <a:defRPr sz="6900" kern="1200">
                <a:solidFill>
                  <a:schemeClr val="tx1"/>
                </a:solidFill>
                <a:latin typeface="Arial" charset="0"/>
                <a:ea typeface="+mn-ea"/>
                <a:cs typeface="+mn-cs"/>
              </a:defRPr>
            </a:lvl9pPr>
          </a:lstStyle>
          <a:p>
            <a:pPr eaLnBrk="1" hangingPunct="1"/>
            <a:endParaRPr lang="en-US" altLang="en-US" dirty="0">
              <a:solidFill>
                <a:schemeClr val="bg1"/>
              </a:solidFill>
            </a:endParaRPr>
          </a:p>
        </p:txBody>
      </p:sp>
      <p:sp>
        <p:nvSpPr>
          <p:cNvPr id="241" name="TextBox 240"/>
          <p:cNvSpPr txBox="1"/>
          <p:nvPr/>
        </p:nvSpPr>
        <p:spPr>
          <a:xfrm>
            <a:off x="900000" y="8280000"/>
            <a:ext cx="6997909" cy="807380"/>
          </a:xfrm>
          <a:prstGeom prst="rect">
            <a:avLst/>
          </a:prstGeom>
          <a:noFill/>
        </p:spPr>
        <p:txBody>
          <a:bodyPr wrap="square" lIns="129013" tIns="64506" rIns="129013" bIns="64506" rtlCol="0">
            <a:spAutoFit/>
          </a:bodyPr>
          <a:lstStyle/>
          <a:p>
            <a:r>
              <a:rPr lang="en-US" sz="4400" smtClean="0">
                <a:latin typeface="Arial" panose="020B0604020202020204" pitchFamily="34" charset="0"/>
                <a:cs typeface="Arial" panose="020B0604020202020204" pitchFamily="34" charset="0"/>
              </a:rPr>
              <a:t>Introduction [1-3]</a:t>
            </a:r>
            <a:endParaRPr lang="en-US" sz="4400" dirty="0">
              <a:latin typeface="Arial" panose="020B0604020202020204" pitchFamily="34" charset="0"/>
              <a:cs typeface="Arial" panose="020B0604020202020204" pitchFamily="34" charset="0"/>
            </a:endParaRPr>
          </a:p>
        </p:txBody>
      </p:sp>
      <p:sp>
        <p:nvSpPr>
          <p:cNvPr id="245" name="TextBox 244"/>
          <p:cNvSpPr txBox="1"/>
          <p:nvPr/>
        </p:nvSpPr>
        <p:spPr>
          <a:xfrm>
            <a:off x="632220" y="9180000"/>
            <a:ext cx="6681051" cy="8710077"/>
          </a:xfrm>
          <a:prstGeom prst="rect">
            <a:avLst/>
          </a:prstGeom>
          <a:noFill/>
        </p:spPr>
        <p:txBody>
          <a:bodyPr wrap="square" rtlCol="0">
            <a:spAutoFit/>
          </a:bodyPr>
          <a:lstStyle/>
          <a:p>
            <a:pPr marL="457200" indent="-457200">
              <a:buFont typeface="Arial" panose="020B0604020202020204" pitchFamily="34" charset="0"/>
              <a:buChar char="•"/>
            </a:pPr>
            <a:r>
              <a:rPr lang="en-US" sz="2800" smtClean="0"/>
              <a:t>Continuous-variable </a:t>
            </a:r>
            <a:r>
              <a:rPr lang="en-US" sz="2800"/>
              <a:t>quantum key distribution </a:t>
            </a:r>
            <a:r>
              <a:rPr lang="en-US" sz="2800" smtClean="0"/>
              <a:t>(CVQKD) </a:t>
            </a:r>
            <a:r>
              <a:rPr lang="en-US" sz="2800"/>
              <a:t>implementations </a:t>
            </a:r>
            <a:r>
              <a:rPr lang="en-US" sz="2800" smtClean="0"/>
              <a:t>have the potential </a:t>
            </a:r>
            <a:r>
              <a:rPr lang="en-US" sz="2800"/>
              <a:t>to reach Gbit key rates while staying </a:t>
            </a:r>
            <a:r>
              <a:rPr lang="en-US" sz="2800" smtClean="0"/>
              <a:t>cost-effective by using standard telecom technology. </a:t>
            </a:r>
            <a:endParaRPr lang="en-US" sz="2800"/>
          </a:p>
          <a:p>
            <a:pPr marL="457200" indent="-457200">
              <a:buFont typeface="Arial" panose="020B0604020202020204" pitchFamily="34" charset="0"/>
              <a:buChar char="•"/>
            </a:pPr>
            <a:r>
              <a:rPr lang="en-US" sz="2800" smtClean="0"/>
              <a:t>One possible realization, for instance, is via encoding </a:t>
            </a:r>
            <a:r>
              <a:rPr lang="en-US" sz="2800" dirty="0"/>
              <a:t>quantum states </a:t>
            </a:r>
            <a:r>
              <a:rPr lang="en-US" sz="2800"/>
              <a:t>in </a:t>
            </a:r>
            <a:r>
              <a:rPr lang="en-US" sz="2800" smtClean="0"/>
              <a:t>GHz-wide optical </a:t>
            </a:r>
            <a:r>
              <a:rPr lang="en-US" sz="2800" dirty="0"/>
              <a:t>sidebands (</a:t>
            </a:r>
            <a:r>
              <a:rPr lang="en-US" sz="2800"/>
              <a:t>at </a:t>
            </a:r>
            <a:r>
              <a:rPr lang="en-US" sz="2800" smtClean="0"/>
              <a:t>Alice</a:t>
            </a:r>
            <a:r>
              <a:rPr lang="en-US" sz="2800" dirty="0"/>
              <a:t>) </a:t>
            </a:r>
            <a:r>
              <a:rPr lang="en-US" sz="2800"/>
              <a:t>and </a:t>
            </a:r>
            <a:r>
              <a:rPr lang="en-US" sz="2800" smtClean="0"/>
              <a:t>decoding them with </a:t>
            </a:r>
            <a:r>
              <a:rPr lang="en-US" sz="2800"/>
              <a:t>a </a:t>
            </a:r>
            <a:r>
              <a:rPr lang="en-US" sz="2800" smtClean="0"/>
              <a:t>broadband coherent detector </a:t>
            </a:r>
            <a:r>
              <a:rPr lang="en-US" sz="2800" dirty="0"/>
              <a:t>(</a:t>
            </a:r>
            <a:r>
              <a:rPr lang="en-US" sz="2800"/>
              <a:t>at </a:t>
            </a:r>
            <a:r>
              <a:rPr lang="en-US" sz="2800" smtClean="0"/>
              <a:t>Bob). </a:t>
            </a:r>
          </a:p>
          <a:p>
            <a:pPr marL="457200" indent="-457200">
              <a:buFont typeface="Arial" panose="020B0604020202020204" pitchFamily="34" charset="0"/>
              <a:buChar char="•"/>
            </a:pPr>
            <a:r>
              <a:rPr lang="en-US" sz="2800" smtClean="0"/>
              <a:t>Here</a:t>
            </a:r>
            <a:r>
              <a:rPr lang="en-US" sz="2800" dirty="0"/>
              <a:t>, we present the progress in realization of such a CV-QKD </a:t>
            </a:r>
            <a:r>
              <a:rPr lang="en-US" sz="2800"/>
              <a:t>scheme </a:t>
            </a:r>
            <a:r>
              <a:rPr lang="en-US" sz="2800" smtClean="0"/>
              <a:t>using </a:t>
            </a:r>
            <a:r>
              <a:rPr lang="en-US" sz="2800" dirty="0"/>
              <a:t>coherent states with Gaussian modulation, and the various challenges in adapting the security proof to real-world </a:t>
            </a:r>
            <a:r>
              <a:rPr lang="en-US" sz="2800"/>
              <a:t>scenarios</a:t>
            </a:r>
            <a:r>
              <a:rPr lang="en-US" sz="2800" smtClean="0"/>
              <a:t>.</a:t>
            </a:r>
          </a:p>
          <a:p>
            <a:pPr marL="457200" indent="-457200">
              <a:buFont typeface="Arial" panose="020B0604020202020204" pitchFamily="34" charset="0"/>
              <a:buChar char="•"/>
            </a:pPr>
            <a:r>
              <a:rPr lang="en-US" sz="2800" smtClean="0"/>
              <a:t>We use the recently proposed </a:t>
            </a:r>
            <a:r>
              <a:rPr lang="en-US" sz="2800" i="1" smtClean="0"/>
              <a:t>local</a:t>
            </a:r>
            <a:r>
              <a:rPr lang="en-US" sz="2800" smtClean="0"/>
              <a:t> </a:t>
            </a:r>
            <a:r>
              <a:rPr lang="en-US" sz="2800"/>
              <a:t>local oscillator (LO</a:t>
            </a:r>
            <a:r>
              <a:rPr lang="en-US" sz="2800" smtClean="0"/>
              <a:t>) design and heterodyne detection in Bob to recover the info in the quantum signal (qSig) from Alice.</a:t>
            </a:r>
            <a:endParaRPr lang="en-US" sz="2800" dirty="0"/>
          </a:p>
        </p:txBody>
      </p:sp>
      <p:sp>
        <p:nvSpPr>
          <p:cNvPr id="246" name="AutoShape 13 7"/>
          <p:cNvSpPr>
            <a:spLocks noChangeArrowheads="1"/>
          </p:cNvSpPr>
          <p:nvPr/>
        </p:nvSpPr>
        <p:spPr bwMode="auto">
          <a:xfrm>
            <a:off x="8280000" y="7920000"/>
            <a:ext cx="21456000" cy="10008000"/>
          </a:xfrm>
          <a:prstGeom prst="roundRect">
            <a:avLst>
              <a:gd name="adj" fmla="val 7063"/>
            </a:avLst>
          </a:prstGeom>
          <a:ln w="76200">
            <a:headEnd/>
            <a:tailEnd/>
          </a:ln>
          <a:extLst/>
        </p:spPr>
        <p:style>
          <a:lnRef idx="2">
            <a:schemeClr val="accent2"/>
          </a:lnRef>
          <a:fillRef idx="1">
            <a:schemeClr val="lt1"/>
          </a:fillRef>
          <a:effectRef idx="0">
            <a:schemeClr val="accent2"/>
          </a:effectRef>
          <a:fontRef idx="minor">
            <a:schemeClr val="dk1"/>
          </a:fontRef>
        </p:style>
        <p:txBody>
          <a:bodyPr wrap="none" lIns="102784" tIns="51392" rIns="102784" bIns="51392" anchor="ctr"/>
          <a:lstStyle>
            <a:defPPr>
              <a:defRPr lang="en-US"/>
            </a:defPPr>
            <a:lvl1pPr algn="ctr" rtl="0" fontAlgn="base">
              <a:spcBef>
                <a:spcPct val="0"/>
              </a:spcBef>
              <a:spcAft>
                <a:spcPct val="0"/>
              </a:spcAft>
              <a:defRPr sz="6900" kern="1200">
                <a:solidFill>
                  <a:schemeClr val="tx1"/>
                </a:solidFill>
                <a:latin typeface="Arial" charset="0"/>
                <a:ea typeface="+mn-ea"/>
                <a:cs typeface="+mn-cs"/>
              </a:defRPr>
            </a:lvl1pPr>
            <a:lvl2pPr marL="457200" algn="ctr" rtl="0" fontAlgn="base">
              <a:spcBef>
                <a:spcPct val="0"/>
              </a:spcBef>
              <a:spcAft>
                <a:spcPct val="0"/>
              </a:spcAft>
              <a:defRPr sz="6900" kern="1200">
                <a:solidFill>
                  <a:schemeClr val="tx1"/>
                </a:solidFill>
                <a:latin typeface="Arial" charset="0"/>
                <a:ea typeface="+mn-ea"/>
                <a:cs typeface="+mn-cs"/>
              </a:defRPr>
            </a:lvl2pPr>
            <a:lvl3pPr marL="914400" algn="ctr" rtl="0" fontAlgn="base">
              <a:spcBef>
                <a:spcPct val="0"/>
              </a:spcBef>
              <a:spcAft>
                <a:spcPct val="0"/>
              </a:spcAft>
              <a:defRPr sz="6900" kern="1200">
                <a:solidFill>
                  <a:schemeClr val="tx1"/>
                </a:solidFill>
                <a:latin typeface="Arial" charset="0"/>
                <a:ea typeface="+mn-ea"/>
                <a:cs typeface="+mn-cs"/>
              </a:defRPr>
            </a:lvl3pPr>
            <a:lvl4pPr marL="1371600" algn="ctr" rtl="0" fontAlgn="base">
              <a:spcBef>
                <a:spcPct val="0"/>
              </a:spcBef>
              <a:spcAft>
                <a:spcPct val="0"/>
              </a:spcAft>
              <a:defRPr sz="6900" kern="1200">
                <a:solidFill>
                  <a:schemeClr val="tx1"/>
                </a:solidFill>
                <a:latin typeface="Arial" charset="0"/>
                <a:ea typeface="+mn-ea"/>
                <a:cs typeface="+mn-cs"/>
              </a:defRPr>
            </a:lvl4pPr>
            <a:lvl5pPr marL="1828800" algn="ctr" rtl="0" fontAlgn="base">
              <a:spcBef>
                <a:spcPct val="0"/>
              </a:spcBef>
              <a:spcAft>
                <a:spcPct val="0"/>
              </a:spcAft>
              <a:defRPr sz="6900" kern="1200">
                <a:solidFill>
                  <a:schemeClr val="tx1"/>
                </a:solidFill>
                <a:latin typeface="Arial" charset="0"/>
                <a:ea typeface="+mn-ea"/>
                <a:cs typeface="+mn-cs"/>
              </a:defRPr>
            </a:lvl5pPr>
            <a:lvl6pPr marL="2286000" algn="l" defTabSz="914400" rtl="0" eaLnBrk="1" latinLnBrk="0" hangingPunct="1">
              <a:defRPr sz="6900" kern="1200">
                <a:solidFill>
                  <a:schemeClr val="tx1"/>
                </a:solidFill>
                <a:latin typeface="Arial" charset="0"/>
                <a:ea typeface="+mn-ea"/>
                <a:cs typeface="+mn-cs"/>
              </a:defRPr>
            </a:lvl6pPr>
            <a:lvl7pPr marL="2743200" algn="l" defTabSz="914400" rtl="0" eaLnBrk="1" latinLnBrk="0" hangingPunct="1">
              <a:defRPr sz="6900" kern="1200">
                <a:solidFill>
                  <a:schemeClr val="tx1"/>
                </a:solidFill>
                <a:latin typeface="Arial" charset="0"/>
                <a:ea typeface="+mn-ea"/>
                <a:cs typeface="+mn-cs"/>
              </a:defRPr>
            </a:lvl7pPr>
            <a:lvl8pPr marL="3200400" algn="l" defTabSz="914400" rtl="0" eaLnBrk="1" latinLnBrk="0" hangingPunct="1">
              <a:defRPr sz="6900" kern="1200">
                <a:solidFill>
                  <a:schemeClr val="tx1"/>
                </a:solidFill>
                <a:latin typeface="Arial" charset="0"/>
                <a:ea typeface="+mn-ea"/>
                <a:cs typeface="+mn-cs"/>
              </a:defRPr>
            </a:lvl8pPr>
            <a:lvl9pPr marL="3657600" algn="l" defTabSz="914400" rtl="0" eaLnBrk="1" latinLnBrk="0" hangingPunct="1">
              <a:defRPr sz="6900" kern="1200">
                <a:solidFill>
                  <a:schemeClr val="tx1"/>
                </a:solidFill>
                <a:latin typeface="Arial" charset="0"/>
                <a:ea typeface="+mn-ea"/>
                <a:cs typeface="+mn-cs"/>
              </a:defRPr>
            </a:lvl9pPr>
          </a:lstStyle>
          <a:p>
            <a:pPr eaLnBrk="1" hangingPunct="1"/>
            <a:endParaRPr lang="en-US" altLang="en-US" dirty="0">
              <a:solidFill>
                <a:schemeClr val="bg1"/>
              </a:solidFill>
            </a:endParaRPr>
          </a:p>
        </p:txBody>
      </p:sp>
      <p:sp>
        <p:nvSpPr>
          <p:cNvPr id="247" name="TextBox 246"/>
          <p:cNvSpPr txBox="1"/>
          <p:nvPr/>
        </p:nvSpPr>
        <p:spPr>
          <a:xfrm>
            <a:off x="8712000" y="8280000"/>
            <a:ext cx="20723013" cy="838158"/>
          </a:xfrm>
          <a:prstGeom prst="rect">
            <a:avLst/>
          </a:prstGeom>
          <a:noFill/>
        </p:spPr>
        <p:txBody>
          <a:bodyPr wrap="square" lIns="129013" tIns="64506" rIns="129013" bIns="64506" rtlCol="0">
            <a:spAutoFit/>
          </a:bodyPr>
          <a:lstStyle/>
          <a:p>
            <a:r>
              <a:rPr lang="en-US" sz="4400" smtClean="0">
                <a:latin typeface="Arial" panose="020B0604020202020204" pitchFamily="34" charset="0"/>
                <a:cs typeface="Arial" panose="020B0604020202020204" pitchFamily="34" charset="0"/>
              </a:rPr>
              <a:t>Design </a:t>
            </a:r>
            <a:r>
              <a:rPr lang="en-US" sz="4400" smtClean="0">
                <a:latin typeface="Arial" panose="020B0604020202020204" pitchFamily="34" charset="0"/>
                <a:cs typeface="Arial" panose="020B0604020202020204" pitchFamily="34" charset="0"/>
              </a:rPr>
              <a:t>dilemma: </a:t>
            </a:r>
            <a:r>
              <a:rPr lang="en-US" sz="4400" smtClean="0">
                <a:latin typeface="Arial" panose="020B0604020202020204" pitchFamily="34" charset="0"/>
                <a:cs typeface="Arial" panose="020B0604020202020204" pitchFamily="34" charset="0"/>
              </a:rPr>
              <a:t>transmitted </a:t>
            </a:r>
            <a:r>
              <a:rPr lang="en-US" sz="4400" dirty="0" smtClean="0">
                <a:latin typeface="Arial" panose="020B0604020202020204" pitchFamily="34" charset="0"/>
                <a:cs typeface="Arial" panose="020B0604020202020204" pitchFamily="34" charset="0"/>
              </a:rPr>
              <a:t>LO </a:t>
            </a:r>
            <a:r>
              <a:rPr lang="en-US" sz="4400" i="1" dirty="0" smtClean="0">
                <a:latin typeface="Arial" panose="020B0604020202020204" pitchFamily="34" charset="0"/>
                <a:cs typeface="Arial" panose="020B0604020202020204" pitchFamily="34" charset="0"/>
              </a:rPr>
              <a:t>vs</a:t>
            </a:r>
            <a:r>
              <a:rPr lang="en-US" sz="4400" dirty="0" smtClean="0">
                <a:latin typeface="Arial" panose="020B0604020202020204" pitchFamily="34" charset="0"/>
                <a:cs typeface="Arial" panose="020B0604020202020204" pitchFamily="34" charset="0"/>
              </a:rPr>
              <a:t>. </a:t>
            </a:r>
            <a:r>
              <a:rPr lang="en-US" sz="4400" smtClean="0">
                <a:latin typeface="Arial" panose="020B0604020202020204" pitchFamily="34" charset="0"/>
                <a:cs typeface="Arial" panose="020B0604020202020204" pitchFamily="34" charset="0"/>
              </a:rPr>
              <a:t>local LO &amp; homodyne </a:t>
            </a:r>
            <a:r>
              <a:rPr lang="en-US" sz="4400" i="1" smtClean="0">
                <a:latin typeface="Arial" panose="020B0604020202020204" pitchFamily="34" charset="0"/>
                <a:cs typeface="Arial" panose="020B0604020202020204" pitchFamily="34" charset="0"/>
              </a:rPr>
              <a:t>vs</a:t>
            </a:r>
            <a:r>
              <a:rPr lang="en-US" sz="4400" smtClean="0">
                <a:latin typeface="Arial" panose="020B0604020202020204" pitchFamily="34" charset="0"/>
                <a:cs typeface="Arial" panose="020B0604020202020204" pitchFamily="34" charset="0"/>
              </a:rPr>
              <a:t>. heterodyne </a:t>
            </a:r>
            <a:r>
              <a:rPr lang="en-US" sz="4400" smtClean="0">
                <a:latin typeface="Arial" panose="020B0604020202020204" pitchFamily="34" charset="0"/>
                <a:cs typeface="Arial" panose="020B0604020202020204" pitchFamily="34" charset="0"/>
              </a:rPr>
              <a:t>[4-7]</a:t>
            </a:r>
            <a:endParaRPr lang="en-US" sz="4400" dirty="0">
              <a:latin typeface="Arial" panose="020B0604020202020204" pitchFamily="34" charset="0"/>
              <a:cs typeface="Arial" panose="020B0604020202020204" pitchFamily="34" charset="0"/>
            </a:endParaRPr>
          </a:p>
        </p:txBody>
      </p:sp>
      <p:sp>
        <p:nvSpPr>
          <p:cNvPr id="248" name="TextBox 247"/>
          <p:cNvSpPr txBox="1"/>
          <p:nvPr/>
        </p:nvSpPr>
        <p:spPr>
          <a:xfrm>
            <a:off x="8656635" y="11978859"/>
            <a:ext cx="10377025" cy="1200329"/>
          </a:xfrm>
          <a:prstGeom prst="rect">
            <a:avLst/>
          </a:prstGeom>
          <a:noFill/>
        </p:spPr>
        <p:txBody>
          <a:bodyPr wrap="square" rtlCol="0">
            <a:spAutoFit/>
          </a:bodyPr>
          <a:lstStyle/>
          <a:p>
            <a:r>
              <a:rPr lang="en-US" sz="2000" smtClean="0">
                <a:latin typeface="Segoe UI Emoji" panose="020B0502040204020203" pitchFamily="34" charset="0"/>
                <a:ea typeface="Segoe UI Emoji" panose="020B0502040204020203" pitchFamily="34" charset="0"/>
              </a:rPr>
              <a:t>🙂</a:t>
            </a:r>
            <a:r>
              <a:rPr lang="en-US" sz="2400" smtClean="0">
                <a:latin typeface="Segoe UI Emoji" panose="020B0502040204020203" pitchFamily="34" charset="0"/>
                <a:ea typeface="Segoe UI Emoji" panose="020B0502040204020203" pitchFamily="34" charset="0"/>
              </a:rPr>
              <a:t> </a:t>
            </a:r>
            <a:r>
              <a:rPr lang="en-US" sz="2400" smtClean="0"/>
              <a:t>Stable </a:t>
            </a:r>
            <a:r>
              <a:rPr lang="en-US" sz="2400" dirty="0" smtClean="0"/>
              <a:t>relative phase between </a:t>
            </a:r>
            <a:r>
              <a:rPr lang="en-US" sz="2400" i="1" dirty="0" err="1" smtClean="0"/>
              <a:t>qSig</a:t>
            </a:r>
            <a:r>
              <a:rPr lang="en-US" sz="2400" dirty="0" smtClean="0"/>
              <a:t> and LO at the </a:t>
            </a:r>
            <a:r>
              <a:rPr lang="en-US" sz="2400" smtClean="0"/>
              <a:t>receiver </a:t>
            </a:r>
            <a:endParaRPr lang="en-US" sz="2400" dirty="0" smtClean="0"/>
          </a:p>
          <a:p>
            <a:r>
              <a:rPr lang="en-US" sz="2000" smtClean="0">
                <a:latin typeface="Segoe UI Emoji" panose="020B0502040204020203" pitchFamily="34" charset="0"/>
                <a:ea typeface="Segoe UI Emoji" panose="020B0502040204020203" pitchFamily="34" charset="0"/>
              </a:rPr>
              <a:t>🙁</a:t>
            </a:r>
            <a:r>
              <a:rPr lang="en-US" sz="2400" smtClean="0">
                <a:latin typeface="Segoe UI Emoji" panose="020B0502040204020203" pitchFamily="34" charset="0"/>
                <a:ea typeface="Segoe UI Emoji" panose="020B0502040204020203" pitchFamily="34" charset="0"/>
              </a:rPr>
              <a:t> </a:t>
            </a:r>
            <a:r>
              <a:rPr lang="en-US" sz="2400" smtClean="0"/>
              <a:t>Vulnerable </a:t>
            </a:r>
            <a:r>
              <a:rPr lang="en-US" sz="2400" dirty="0" smtClean="0"/>
              <a:t>to LO intensity/wavelength manipulation </a:t>
            </a:r>
            <a:r>
              <a:rPr lang="en-US" sz="2400" dirty="0"/>
              <a:t>on quantum </a:t>
            </a:r>
            <a:r>
              <a:rPr lang="en-US" sz="2400" dirty="0" smtClean="0"/>
              <a:t>channel</a:t>
            </a:r>
          </a:p>
          <a:p>
            <a:r>
              <a:rPr lang="en-US" sz="2000" smtClean="0">
                <a:latin typeface="Segoe UI Emoji" panose="020B0502040204020203" pitchFamily="34" charset="0"/>
                <a:ea typeface="Segoe UI Emoji" panose="020B0502040204020203" pitchFamily="34" charset="0"/>
              </a:rPr>
              <a:t>🙁</a:t>
            </a:r>
            <a:r>
              <a:rPr lang="en-US" sz="2400" smtClean="0">
                <a:latin typeface="Segoe UI Emoji" panose="020B0502040204020203" pitchFamily="34" charset="0"/>
                <a:ea typeface="Segoe UI Emoji" panose="020B0502040204020203" pitchFamily="34" charset="0"/>
              </a:rPr>
              <a:t> </a:t>
            </a:r>
            <a:r>
              <a:rPr lang="en-US" sz="2400" smtClean="0"/>
              <a:t>LO </a:t>
            </a:r>
            <a:r>
              <a:rPr lang="en-US" sz="2400" dirty="0" smtClean="0"/>
              <a:t>intensity limitation </a:t>
            </a:r>
            <a:r>
              <a:rPr lang="en-US" sz="2400" smtClean="0"/>
              <a:t>at Bob </a:t>
            </a:r>
            <a:r>
              <a:rPr lang="en-US" sz="2400" dirty="0" smtClean="0"/>
              <a:t>due to propagation losses </a:t>
            </a:r>
            <a:r>
              <a:rPr lang="en-US" sz="2400" smtClean="0"/>
              <a:t>and nonlinear </a:t>
            </a:r>
            <a:r>
              <a:rPr lang="en-US" sz="2400" dirty="0" smtClean="0"/>
              <a:t>effects</a:t>
            </a:r>
          </a:p>
        </p:txBody>
      </p:sp>
      <p:sp>
        <p:nvSpPr>
          <p:cNvPr id="249" name="TextBox 248"/>
          <p:cNvSpPr txBox="1"/>
          <p:nvPr/>
        </p:nvSpPr>
        <p:spPr>
          <a:xfrm>
            <a:off x="18803766" y="11953276"/>
            <a:ext cx="10804484" cy="1200329"/>
          </a:xfrm>
          <a:prstGeom prst="rect">
            <a:avLst/>
          </a:prstGeom>
          <a:noFill/>
        </p:spPr>
        <p:txBody>
          <a:bodyPr wrap="square" rtlCol="0">
            <a:spAutoFit/>
          </a:bodyPr>
          <a:lstStyle/>
          <a:p>
            <a:r>
              <a:rPr lang="en-US" sz="2000">
                <a:latin typeface="Segoe UI Emoji" panose="020B0502040204020203" pitchFamily="34" charset="0"/>
                <a:ea typeface="Segoe UI Emoji" panose="020B0502040204020203" pitchFamily="34" charset="0"/>
              </a:rPr>
              <a:t>🙁</a:t>
            </a:r>
            <a:r>
              <a:rPr lang="en-US" sz="2400">
                <a:latin typeface="Segoe UI Emoji" panose="020B0502040204020203" pitchFamily="34" charset="0"/>
                <a:ea typeface="Segoe UI Emoji" panose="020B0502040204020203" pitchFamily="34" charset="0"/>
              </a:rPr>
              <a:t> </a:t>
            </a:r>
            <a:r>
              <a:rPr lang="en-US" sz="2400" smtClean="0"/>
              <a:t>High </a:t>
            </a:r>
            <a:r>
              <a:rPr lang="en-US" sz="2400" smtClean="0"/>
              <a:t>requirments on lasers’ phase noise + complex phase reference alignment</a:t>
            </a:r>
            <a:endParaRPr lang="en-US" sz="2400" dirty="0" smtClean="0"/>
          </a:p>
          <a:p>
            <a:r>
              <a:rPr lang="en-US" sz="2000">
                <a:latin typeface="Segoe UI Emoji" panose="020B0502040204020203" pitchFamily="34" charset="0"/>
                <a:ea typeface="Segoe UI Emoji" panose="020B0502040204020203" pitchFamily="34" charset="0"/>
              </a:rPr>
              <a:t>🙂</a:t>
            </a:r>
            <a:r>
              <a:rPr lang="en-US" sz="2400">
                <a:latin typeface="Segoe UI Emoji" panose="020B0502040204020203" pitchFamily="34" charset="0"/>
                <a:ea typeface="Segoe UI Emoji" panose="020B0502040204020203" pitchFamily="34" charset="0"/>
              </a:rPr>
              <a:t> </a:t>
            </a:r>
            <a:r>
              <a:rPr lang="en-US" sz="2400" smtClean="0"/>
              <a:t>LO </a:t>
            </a:r>
            <a:r>
              <a:rPr lang="en-US" sz="2400" dirty="0" smtClean="0"/>
              <a:t>can be fully trusted, security loopholes closed</a:t>
            </a:r>
          </a:p>
          <a:p>
            <a:r>
              <a:rPr lang="en-US" sz="2000">
                <a:latin typeface="Segoe UI Emoji" panose="020B0502040204020203" pitchFamily="34" charset="0"/>
                <a:ea typeface="Segoe UI Emoji" panose="020B0502040204020203" pitchFamily="34" charset="0"/>
              </a:rPr>
              <a:t>🙂</a:t>
            </a:r>
            <a:r>
              <a:rPr lang="en-US" sz="2400">
                <a:latin typeface="Segoe UI Emoji" panose="020B0502040204020203" pitchFamily="34" charset="0"/>
                <a:ea typeface="Segoe UI Emoji" panose="020B0502040204020203" pitchFamily="34" charset="0"/>
              </a:rPr>
              <a:t> </a:t>
            </a:r>
            <a:r>
              <a:rPr lang="en-US" sz="2400" smtClean="0"/>
              <a:t>No </a:t>
            </a:r>
            <a:r>
              <a:rPr lang="en-US" sz="2400" dirty="0" smtClean="0"/>
              <a:t>limitation on the local LO intensity</a:t>
            </a:r>
          </a:p>
        </p:txBody>
      </p:sp>
      <p:pic>
        <p:nvPicPr>
          <p:cNvPr id="250" name="Picture 249"/>
          <p:cNvPicPr>
            <a:picLocks noChangeAspect="1"/>
          </p:cNvPicPr>
          <p:nvPr>
            <p:custDataLst>
              <p:tags r:id="rId1"/>
            </p:custDataLst>
          </p:nvPr>
        </p:nvPicPr>
        <p:blipFill>
          <a:blip r:embed="rId15" cstate="print">
            <a:extLst>
              <a:ext uri="{28A0092B-C50C-407E-A947-70E740481C1C}">
                <a14:useLocalDpi xmlns:a14="http://schemas.microsoft.com/office/drawing/2010/main" val="0"/>
              </a:ext>
            </a:extLst>
          </a:blip>
          <a:stretch>
            <a:fillRect/>
          </a:stretch>
        </p:blipFill>
        <p:spPr>
          <a:xfrm>
            <a:off x="19836000" y="13929519"/>
            <a:ext cx="7925216" cy="288000"/>
          </a:xfrm>
          <a:prstGeom prst="rect">
            <a:avLst/>
          </a:prstGeom>
        </p:spPr>
      </p:pic>
      <p:pic>
        <p:nvPicPr>
          <p:cNvPr id="251" name="Picture 250"/>
          <p:cNvPicPr>
            <a:picLocks noChangeAspect="1"/>
          </p:cNvPicPr>
          <p:nvPr>
            <p:custDataLst>
              <p:tags r:id="rId2"/>
            </p:custDataLst>
          </p:nvPr>
        </p:nvPicPr>
        <p:blipFill>
          <a:blip r:embed="rId16" cstate="print">
            <a:extLst>
              <a:ext uri="{28A0092B-C50C-407E-A947-70E740481C1C}">
                <a14:useLocalDpi xmlns:a14="http://schemas.microsoft.com/office/drawing/2010/main" val="0"/>
              </a:ext>
            </a:extLst>
          </a:blip>
          <a:stretch>
            <a:fillRect/>
          </a:stretch>
        </p:blipFill>
        <p:spPr>
          <a:xfrm>
            <a:off x="19852848" y="14386719"/>
            <a:ext cx="6822364" cy="2412000"/>
          </a:xfrm>
          <a:prstGeom prst="rect">
            <a:avLst/>
          </a:prstGeom>
        </p:spPr>
      </p:pic>
      <p:sp>
        <p:nvSpPr>
          <p:cNvPr id="252" name="TextBox 251"/>
          <p:cNvSpPr txBox="1"/>
          <p:nvPr/>
        </p:nvSpPr>
        <p:spPr>
          <a:xfrm>
            <a:off x="19548000" y="16939488"/>
            <a:ext cx="9430950" cy="461665"/>
          </a:xfrm>
          <a:prstGeom prst="rect">
            <a:avLst/>
          </a:prstGeom>
          <a:noFill/>
        </p:spPr>
        <p:txBody>
          <a:bodyPr wrap="square" rtlCol="0">
            <a:spAutoFit/>
          </a:bodyPr>
          <a:lstStyle/>
          <a:p>
            <a:r>
              <a:rPr lang="en-US" sz="2400" smtClean="0"/>
              <a:t>Assuming small modulation depths, negligible phase noise and drifts etc: </a:t>
            </a:r>
            <a:endParaRPr lang="en-US" sz="2400" dirty="0" smtClean="0"/>
          </a:p>
        </p:txBody>
      </p:sp>
      <p:pic>
        <p:nvPicPr>
          <p:cNvPr id="253" name="Picture 252"/>
          <p:cNvPicPr>
            <a:picLocks noChangeAspect="1"/>
          </p:cNvPicPr>
          <p:nvPr>
            <p:custDataLst>
              <p:tags r:id="rId3"/>
            </p:custDataLst>
          </p:nvPr>
        </p:nvPicPr>
        <p:blipFill>
          <a:blip r:embed="rId17" cstate="print">
            <a:extLst>
              <a:ext uri="{28A0092B-C50C-407E-A947-70E740481C1C}">
                <a14:useLocalDpi xmlns:a14="http://schemas.microsoft.com/office/drawing/2010/main" val="0"/>
              </a:ext>
            </a:extLst>
          </a:blip>
          <a:stretch>
            <a:fillRect/>
          </a:stretch>
        </p:blipFill>
        <p:spPr>
          <a:xfrm>
            <a:off x="19836000" y="17464714"/>
            <a:ext cx="6624010" cy="288000"/>
          </a:xfrm>
          <a:prstGeom prst="rect">
            <a:avLst/>
          </a:prstGeom>
        </p:spPr>
      </p:pic>
      <p:sp>
        <p:nvSpPr>
          <p:cNvPr id="254" name="CustomShape 18 2 2"/>
          <p:cNvSpPr/>
          <p:nvPr/>
        </p:nvSpPr>
        <p:spPr>
          <a:xfrm rot="16200000">
            <a:off x="7447842" y="10213258"/>
            <a:ext cx="3000309" cy="449011"/>
          </a:xfrm>
          <a:prstGeom prst="rect">
            <a:avLst/>
          </a:prstGeom>
          <a:noFill/>
          <a:ln>
            <a:noFill/>
          </a:ln>
        </p:spPr>
        <p:txBody>
          <a:bodyPr wrap="none" lIns="90000" tIns="45000" rIns="90000" bIns="45000"/>
          <a:lstStyle/>
          <a:p>
            <a:pPr marL="0" marR="0" lvl="0" indent="0" defTabSz="914400" eaLnBrk="1" fontAlgn="auto" latinLnBrk="0" hangingPunct="1">
              <a:lnSpc>
                <a:spcPct val="100000"/>
              </a:lnSpc>
              <a:spcBef>
                <a:spcPts val="0"/>
              </a:spcBef>
              <a:spcAft>
                <a:spcPts val="0"/>
              </a:spcAft>
              <a:buClrTx/>
              <a:buSzTx/>
              <a:buFontTx/>
              <a:buNone/>
              <a:tabLst/>
              <a:defRPr/>
            </a:pPr>
            <a:r>
              <a:rPr lang="en-US" sz="2000" i="1" kern="0" smtClean="0">
                <a:solidFill>
                  <a:srgbClr val="000000"/>
                </a:solidFill>
                <a:latin typeface="Arial"/>
              </a:rPr>
              <a:t>Transmitted LO design</a:t>
            </a:r>
            <a:endParaRPr kumimoji="0" lang="en-US" sz="2000" b="0" i="1" u="none" strike="noStrike" kern="0" cap="none" spc="0" normalizeH="0" baseline="0" noProof="0" dirty="0" smtClean="0">
              <a:ln>
                <a:noFill/>
              </a:ln>
              <a:solidFill>
                <a:srgbClr val="000000"/>
              </a:solidFill>
              <a:effectLst/>
              <a:uLnTx/>
              <a:uFillTx/>
              <a:latin typeface="Arial"/>
            </a:endParaRPr>
          </a:p>
        </p:txBody>
      </p:sp>
      <p:sp>
        <p:nvSpPr>
          <p:cNvPr id="255" name="CustomShape 18 2 3"/>
          <p:cNvSpPr/>
          <p:nvPr/>
        </p:nvSpPr>
        <p:spPr>
          <a:xfrm>
            <a:off x="17800637" y="10268003"/>
            <a:ext cx="2275843" cy="449011"/>
          </a:xfrm>
          <a:prstGeom prst="rect">
            <a:avLst/>
          </a:prstGeom>
          <a:noFill/>
          <a:ln>
            <a:noFill/>
          </a:ln>
          <a:scene3d>
            <a:camera prst="orthographicFront">
              <a:rot lat="0" lon="0" rev="5400000"/>
            </a:camera>
            <a:lightRig rig="threePt" dir="t"/>
          </a:scene3d>
        </p:spPr>
        <p:txBody>
          <a:bodyPr wrap="none" lIns="90000" tIns="45000" rIns="90000" bIns="45000"/>
          <a:lstStyle/>
          <a:p>
            <a:pPr marL="0" marR="0" lvl="0" indent="0" defTabSz="914400" eaLnBrk="1" fontAlgn="auto" latinLnBrk="0" hangingPunct="1">
              <a:lnSpc>
                <a:spcPct val="100000"/>
              </a:lnSpc>
              <a:spcBef>
                <a:spcPts val="0"/>
              </a:spcBef>
              <a:spcAft>
                <a:spcPts val="0"/>
              </a:spcAft>
              <a:buClrTx/>
              <a:buSzTx/>
              <a:buFontTx/>
              <a:buNone/>
              <a:tabLst/>
              <a:defRPr/>
            </a:pPr>
            <a:r>
              <a:rPr lang="en-US" sz="2000" i="1" kern="0" smtClean="0">
                <a:solidFill>
                  <a:srgbClr val="000000"/>
                </a:solidFill>
                <a:latin typeface="Arial"/>
              </a:rPr>
              <a:t>Local LO design</a:t>
            </a:r>
            <a:endParaRPr kumimoji="0" lang="en-US" sz="2000" b="0" i="1" u="none" strike="noStrike" kern="0" cap="none" spc="0" normalizeH="0" baseline="0" noProof="0" dirty="0" smtClean="0">
              <a:ln>
                <a:noFill/>
              </a:ln>
              <a:solidFill>
                <a:srgbClr val="000000"/>
              </a:solidFill>
              <a:effectLst/>
              <a:uLnTx/>
              <a:uFillTx/>
              <a:latin typeface="Arial"/>
            </a:endParaRPr>
          </a:p>
        </p:txBody>
      </p:sp>
      <p:grpSp>
        <p:nvGrpSpPr>
          <p:cNvPr id="257" name="Group 256"/>
          <p:cNvGrpSpPr>
            <a:grpSpLocks noChangeAspect="1"/>
          </p:cNvGrpSpPr>
          <p:nvPr/>
        </p:nvGrpSpPr>
        <p:grpSpPr>
          <a:xfrm>
            <a:off x="19172237" y="9392778"/>
            <a:ext cx="10235575" cy="2340000"/>
            <a:chOff x="1427859" y="2757949"/>
            <a:chExt cx="7141476" cy="1632644"/>
          </a:xfrm>
        </p:grpSpPr>
        <p:cxnSp>
          <p:nvCxnSpPr>
            <p:cNvPr id="258" name="Straight Connector 257"/>
            <p:cNvCxnSpPr/>
            <p:nvPr/>
          </p:nvCxnSpPr>
          <p:spPr>
            <a:xfrm>
              <a:off x="2183203" y="3757811"/>
              <a:ext cx="2193559" cy="6674"/>
            </a:xfrm>
            <a:prstGeom prst="line">
              <a:avLst/>
            </a:prstGeom>
            <a:noFill/>
            <a:ln w="28575" cap="flat" cmpd="sng" algn="ctr">
              <a:solidFill>
                <a:schemeClr val="tx1"/>
              </a:solidFill>
              <a:prstDash val="solid"/>
            </a:ln>
            <a:effectLst/>
          </p:spPr>
        </p:cxnSp>
        <p:sp>
          <p:nvSpPr>
            <p:cNvPr id="259" name="CustomShape 17 5"/>
            <p:cNvSpPr/>
            <p:nvPr/>
          </p:nvSpPr>
          <p:spPr>
            <a:xfrm>
              <a:off x="1563364" y="3510989"/>
              <a:ext cx="795000" cy="438053"/>
            </a:xfrm>
            <a:prstGeom prst="parallelogram">
              <a:avLst>
                <a:gd name="adj" fmla="val 25000"/>
              </a:avLst>
            </a:prstGeom>
            <a:solidFill>
              <a:srgbClr val="808080"/>
            </a:solidFill>
            <a:ln w="25560">
              <a:noFill/>
            </a:ln>
          </p:spPr>
        </p:sp>
        <p:cxnSp>
          <p:nvCxnSpPr>
            <p:cNvPr id="260" name="Straight Connector 259"/>
            <p:cNvCxnSpPr/>
            <p:nvPr/>
          </p:nvCxnSpPr>
          <p:spPr>
            <a:xfrm>
              <a:off x="4345804" y="3764485"/>
              <a:ext cx="703817" cy="0"/>
            </a:xfrm>
            <a:prstGeom prst="line">
              <a:avLst/>
            </a:prstGeom>
            <a:noFill/>
            <a:ln w="28575" cap="flat" cmpd="sng" algn="ctr">
              <a:solidFill>
                <a:srgbClr val="0070C0"/>
              </a:solidFill>
              <a:prstDash val="solid"/>
            </a:ln>
            <a:effectLst/>
          </p:spPr>
        </p:cxnSp>
        <p:cxnSp>
          <p:nvCxnSpPr>
            <p:cNvPr id="261" name="Straight Connector 260"/>
            <p:cNvCxnSpPr>
              <a:endCxn id="298" idx="4"/>
            </p:cNvCxnSpPr>
            <p:nvPr/>
          </p:nvCxnSpPr>
          <p:spPr>
            <a:xfrm>
              <a:off x="5054551" y="3766538"/>
              <a:ext cx="597166" cy="6084"/>
            </a:xfrm>
            <a:prstGeom prst="line">
              <a:avLst/>
            </a:prstGeom>
            <a:noFill/>
            <a:ln w="28575" cap="flat" cmpd="sng" algn="ctr">
              <a:solidFill>
                <a:schemeClr val="accent2"/>
              </a:solidFill>
              <a:prstDash val="solid"/>
              <a:miter lim="800000"/>
            </a:ln>
            <a:effectLst/>
          </p:spPr>
        </p:cxnSp>
        <p:cxnSp>
          <p:nvCxnSpPr>
            <p:cNvPr id="262" name="Straight Connector 261"/>
            <p:cNvCxnSpPr/>
            <p:nvPr/>
          </p:nvCxnSpPr>
          <p:spPr>
            <a:xfrm flipV="1">
              <a:off x="6565767" y="3215065"/>
              <a:ext cx="1147857" cy="6139"/>
            </a:xfrm>
            <a:prstGeom prst="line">
              <a:avLst/>
            </a:prstGeom>
            <a:noFill/>
            <a:ln w="28575" cap="flat" cmpd="sng" algn="ctr">
              <a:solidFill>
                <a:srgbClr val="0070C0"/>
              </a:solidFill>
              <a:prstDash val="solid"/>
            </a:ln>
            <a:effectLst/>
          </p:spPr>
        </p:cxnSp>
        <p:sp>
          <p:nvSpPr>
            <p:cNvPr id="263" name="CustomShape 18 3"/>
            <p:cNvSpPr/>
            <p:nvPr/>
          </p:nvSpPr>
          <p:spPr>
            <a:xfrm>
              <a:off x="1427859" y="3561452"/>
              <a:ext cx="1063463" cy="365368"/>
            </a:xfrm>
            <a:prstGeom prst="rect">
              <a:avLst/>
            </a:prstGeom>
            <a:noFill/>
            <a:ln>
              <a:noFill/>
            </a:ln>
          </p:spPr>
          <p:txBody>
            <a:bodyPr wrap="none" lIns="90000" tIns="45000" rIns="90000" bIns="45000"/>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kern="0" smtClean="0">
                  <a:solidFill>
                    <a:schemeClr val="bg1"/>
                  </a:solidFill>
                  <a:latin typeface="Arial"/>
                </a:rPr>
                <a:t>laser</a:t>
              </a:r>
              <a:endParaRPr kumimoji="0" sz="1400" b="0" i="0" u="none" strike="noStrike" kern="0" cap="none" spc="0" normalizeH="0" baseline="0" noProof="0" dirty="0" smtClean="0">
                <a:ln>
                  <a:noFill/>
                </a:ln>
                <a:solidFill>
                  <a:schemeClr val="bg1"/>
                </a:solidFill>
                <a:effectLst/>
                <a:uLnTx/>
                <a:uFillTx/>
              </a:endParaRPr>
            </a:p>
          </p:txBody>
        </p:sp>
        <p:cxnSp>
          <p:nvCxnSpPr>
            <p:cNvPr id="264" name="Straight Connector 263"/>
            <p:cNvCxnSpPr/>
            <p:nvPr/>
          </p:nvCxnSpPr>
          <p:spPr>
            <a:xfrm flipV="1">
              <a:off x="5996934" y="4001277"/>
              <a:ext cx="1764000" cy="1518"/>
            </a:xfrm>
            <a:prstGeom prst="line">
              <a:avLst/>
            </a:prstGeom>
            <a:noFill/>
            <a:ln w="28575" cap="flat" cmpd="sng" algn="ctr">
              <a:solidFill>
                <a:srgbClr val="0070C0"/>
              </a:solidFill>
              <a:prstDash val="solid"/>
            </a:ln>
            <a:effectLst/>
          </p:spPr>
        </p:cxnSp>
        <p:sp>
          <p:nvSpPr>
            <p:cNvPr id="265" name="Rectangle 264"/>
            <p:cNvSpPr/>
            <p:nvPr/>
          </p:nvSpPr>
          <p:spPr>
            <a:xfrm>
              <a:off x="1507071" y="2786299"/>
              <a:ext cx="3547480" cy="1589054"/>
            </a:xfrm>
            <a:prstGeom prst="rect">
              <a:avLst/>
            </a:prstGeom>
            <a:noFill/>
            <a:ln>
              <a:solidFill>
                <a:schemeClr val="tx1">
                  <a:alpha val="63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266" name="Rectangle 265"/>
            <p:cNvSpPr/>
            <p:nvPr/>
          </p:nvSpPr>
          <p:spPr>
            <a:xfrm>
              <a:off x="5970363" y="2757949"/>
              <a:ext cx="2598972" cy="1632644"/>
            </a:xfrm>
            <a:prstGeom prst="rect">
              <a:avLst/>
            </a:prstGeom>
            <a:noFill/>
            <a:ln>
              <a:solidFill>
                <a:schemeClr val="tx1">
                  <a:alpha val="63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267" name="CustomShape 18 8"/>
            <p:cNvSpPr/>
            <p:nvPr/>
          </p:nvSpPr>
          <p:spPr>
            <a:xfrm>
              <a:off x="6916709" y="2913414"/>
              <a:ext cx="445972" cy="285108"/>
            </a:xfrm>
            <a:prstGeom prst="rect">
              <a:avLst/>
            </a:prstGeom>
            <a:noFill/>
            <a:ln>
              <a:noFill/>
            </a:ln>
          </p:spPr>
          <p:txBody>
            <a:bodyPr wrap="none" lIns="90000" tIns="45000" rIns="90000" bIns="45000"/>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100" kern="0" smtClean="0">
                  <a:solidFill>
                    <a:srgbClr val="000000"/>
                  </a:solidFill>
                  <a:latin typeface="Arial"/>
                </a:rPr>
                <a:t>LLO</a:t>
              </a:r>
              <a:endParaRPr kumimoji="0" sz="1100" b="0" i="0" u="none" strike="noStrike" kern="0" cap="none" spc="0" normalizeH="0" baseline="0" noProof="0" dirty="0" smtClean="0">
                <a:ln>
                  <a:noFill/>
                </a:ln>
                <a:solidFill>
                  <a:prstClr val="black"/>
                </a:solidFill>
                <a:effectLst/>
                <a:uLnTx/>
                <a:uFillTx/>
              </a:endParaRPr>
            </a:p>
          </p:txBody>
        </p:sp>
        <p:grpSp>
          <p:nvGrpSpPr>
            <p:cNvPr id="268" name="Group 267"/>
            <p:cNvGrpSpPr/>
            <p:nvPr/>
          </p:nvGrpSpPr>
          <p:grpSpPr>
            <a:xfrm>
              <a:off x="5325141" y="3698666"/>
              <a:ext cx="370267" cy="410646"/>
              <a:chOff x="5212431" y="4474143"/>
              <a:chExt cx="552946" cy="605570"/>
            </a:xfrm>
          </p:grpSpPr>
          <p:sp>
            <p:nvSpPr>
              <p:cNvPr id="281" name="Can 280"/>
              <p:cNvSpPr/>
              <p:nvPr/>
            </p:nvSpPr>
            <p:spPr>
              <a:xfrm>
                <a:off x="5212538" y="4968835"/>
                <a:ext cx="552839" cy="110878"/>
              </a:xfrm>
              <a:prstGeom prst="can">
                <a:avLst>
                  <a:gd name="adj" fmla="val 50000"/>
                </a:avLst>
              </a:prstGeom>
              <a:solidFill>
                <a:schemeClr val="tx2"/>
              </a:solidFill>
              <a:ln w="9525">
                <a:solidFill>
                  <a:schemeClr val="tx2"/>
                </a:solidFill>
              </a:ln>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82" name="Group 281"/>
              <p:cNvGrpSpPr/>
              <p:nvPr/>
            </p:nvGrpSpPr>
            <p:grpSpPr>
              <a:xfrm>
                <a:off x="5277572" y="4732951"/>
                <a:ext cx="422665" cy="275027"/>
                <a:chOff x="1530028" y="4595042"/>
                <a:chExt cx="533535" cy="510684"/>
              </a:xfrm>
            </p:grpSpPr>
            <p:sp>
              <p:nvSpPr>
                <p:cNvPr id="301" name="Can 300"/>
                <p:cNvSpPr/>
                <p:nvPr/>
              </p:nvSpPr>
              <p:spPr>
                <a:xfrm>
                  <a:off x="1530163" y="4899842"/>
                  <a:ext cx="533400" cy="205884"/>
                </a:xfrm>
                <a:prstGeom prst="can">
                  <a:avLst>
                    <a:gd name="adj" fmla="val 50000"/>
                  </a:avLst>
                </a:prstGeom>
                <a:solidFill>
                  <a:schemeClr val="bg2"/>
                </a:solidFill>
                <a:ln w="9525">
                  <a:solidFill>
                    <a:srgbClr val="FF6600"/>
                  </a:solidFill>
                </a:ln>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4" name="Can 303"/>
                <p:cNvSpPr/>
                <p:nvPr/>
              </p:nvSpPr>
              <p:spPr>
                <a:xfrm>
                  <a:off x="1530163" y="4823642"/>
                  <a:ext cx="533400" cy="205884"/>
                </a:xfrm>
                <a:prstGeom prst="can">
                  <a:avLst>
                    <a:gd name="adj" fmla="val 50000"/>
                  </a:avLst>
                </a:prstGeom>
                <a:solidFill>
                  <a:schemeClr val="bg2"/>
                </a:solidFill>
                <a:ln w="9525">
                  <a:solidFill>
                    <a:srgbClr val="FF6600"/>
                  </a:solidFill>
                </a:ln>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6" name="Can 305"/>
                <p:cNvSpPr/>
                <p:nvPr/>
              </p:nvSpPr>
              <p:spPr>
                <a:xfrm>
                  <a:off x="1530163" y="4747442"/>
                  <a:ext cx="533400" cy="205884"/>
                </a:xfrm>
                <a:prstGeom prst="can">
                  <a:avLst>
                    <a:gd name="adj" fmla="val 50000"/>
                  </a:avLst>
                </a:prstGeom>
                <a:solidFill>
                  <a:schemeClr val="bg2"/>
                </a:solidFill>
                <a:ln w="9525">
                  <a:solidFill>
                    <a:srgbClr val="FF6600"/>
                  </a:solidFill>
                </a:ln>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7" name="Can 306"/>
                <p:cNvSpPr/>
                <p:nvPr/>
              </p:nvSpPr>
              <p:spPr>
                <a:xfrm>
                  <a:off x="1530163" y="4671242"/>
                  <a:ext cx="533400" cy="205884"/>
                </a:xfrm>
                <a:prstGeom prst="can">
                  <a:avLst>
                    <a:gd name="adj" fmla="val 50000"/>
                  </a:avLst>
                </a:prstGeom>
                <a:solidFill>
                  <a:schemeClr val="bg2"/>
                </a:solidFill>
                <a:ln w="9525">
                  <a:solidFill>
                    <a:srgbClr val="FF6600"/>
                  </a:solidFill>
                </a:ln>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8" name="Can 307"/>
                <p:cNvSpPr/>
                <p:nvPr/>
              </p:nvSpPr>
              <p:spPr>
                <a:xfrm>
                  <a:off x="1530028" y="4595042"/>
                  <a:ext cx="533400" cy="205884"/>
                </a:xfrm>
                <a:prstGeom prst="can">
                  <a:avLst>
                    <a:gd name="adj" fmla="val 50000"/>
                  </a:avLst>
                </a:prstGeom>
                <a:solidFill>
                  <a:schemeClr val="bg2"/>
                </a:solidFill>
                <a:ln w="9525">
                  <a:solidFill>
                    <a:srgbClr val="FF6600"/>
                  </a:solidFill>
                </a:ln>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83" name="Can 282"/>
              <p:cNvSpPr/>
              <p:nvPr/>
            </p:nvSpPr>
            <p:spPr>
              <a:xfrm>
                <a:off x="5277679" y="4691914"/>
                <a:ext cx="422558" cy="110878"/>
              </a:xfrm>
              <a:prstGeom prst="can">
                <a:avLst>
                  <a:gd name="adj" fmla="val 50000"/>
                </a:avLst>
              </a:prstGeom>
              <a:solidFill>
                <a:schemeClr val="bg2"/>
              </a:solidFill>
              <a:ln w="9525">
                <a:solidFill>
                  <a:srgbClr val="FF6600"/>
                </a:solidFill>
              </a:ln>
              <a:scene3d>
                <a:camera prst="perspectiveRelaxed" fov="1500000">
                  <a:rot lat="2159400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4" name="Can 283"/>
              <p:cNvSpPr/>
              <p:nvPr/>
            </p:nvSpPr>
            <p:spPr>
              <a:xfrm>
                <a:off x="5277679" y="4650877"/>
                <a:ext cx="422558" cy="110878"/>
              </a:xfrm>
              <a:prstGeom prst="can">
                <a:avLst>
                  <a:gd name="adj" fmla="val 50000"/>
                </a:avLst>
              </a:prstGeom>
              <a:solidFill>
                <a:schemeClr val="bg2"/>
              </a:solidFill>
              <a:ln w="9525">
                <a:solidFill>
                  <a:srgbClr val="FF6600"/>
                </a:solidFill>
              </a:ln>
              <a:scene3d>
                <a:camera prst="perspectiveRelaxed" fov="1500000">
                  <a:rot lat="2159400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4" name="Can 293"/>
              <p:cNvSpPr/>
              <p:nvPr/>
            </p:nvSpPr>
            <p:spPr>
              <a:xfrm>
                <a:off x="5277679" y="4609840"/>
                <a:ext cx="422558" cy="110878"/>
              </a:xfrm>
              <a:prstGeom prst="can">
                <a:avLst>
                  <a:gd name="adj" fmla="val 50000"/>
                </a:avLst>
              </a:prstGeom>
              <a:solidFill>
                <a:schemeClr val="bg2"/>
              </a:solidFill>
              <a:ln w="9525">
                <a:solidFill>
                  <a:srgbClr val="FF6600"/>
                </a:solidFill>
              </a:ln>
              <a:scene3d>
                <a:camera prst="perspectiveRelaxed" fov="1500000">
                  <a:rot lat="2159400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7" name="Can 296"/>
              <p:cNvSpPr/>
              <p:nvPr/>
            </p:nvSpPr>
            <p:spPr>
              <a:xfrm>
                <a:off x="5277679" y="4568802"/>
                <a:ext cx="422558" cy="110878"/>
              </a:xfrm>
              <a:prstGeom prst="can">
                <a:avLst>
                  <a:gd name="adj" fmla="val 50000"/>
                </a:avLst>
              </a:prstGeom>
              <a:solidFill>
                <a:schemeClr val="bg2"/>
              </a:solidFill>
              <a:ln w="9525">
                <a:solidFill>
                  <a:srgbClr val="FF6600"/>
                </a:solidFill>
              </a:ln>
              <a:scene3d>
                <a:camera prst="perspectiveRelaxed" fov="1500000">
                  <a:rot lat="2159400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8" name="Can 297"/>
              <p:cNvSpPr/>
              <p:nvPr/>
            </p:nvSpPr>
            <p:spPr>
              <a:xfrm>
                <a:off x="5277572" y="4527765"/>
                <a:ext cx="422558" cy="110878"/>
              </a:xfrm>
              <a:prstGeom prst="can">
                <a:avLst>
                  <a:gd name="adj" fmla="val 50000"/>
                </a:avLst>
              </a:prstGeom>
              <a:solidFill>
                <a:schemeClr val="bg2"/>
              </a:solidFill>
              <a:ln w="9525">
                <a:solidFill>
                  <a:srgbClr val="FF6600"/>
                </a:solidFill>
              </a:ln>
              <a:scene3d>
                <a:camera prst="perspectiveRelaxed" fov="1500000">
                  <a:rot lat="2159400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9" name="Can 298"/>
              <p:cNvSpPr/>
              <p:nvPr/>
            </p:nvSpPr>
            <p:spPr>
              <a:xfrm>
                <a:off x="5212431" y="4474143"/>
                <a:ext cx="552839" cy="110878"/>
              </a:xfrm>
              <a:prstGeom prst="can">
                <a:avLst>
                  <a:gd name="adj" fmla="val 50000"/>
                </a:avLst>
              </a:prstGeom>
              <a:solidFill>
                <a:schemeClr val="tx2"/>
              </a:solidFill>
              <a:ln w="9525">
                <a:solidFill>
                  <a:schemeClr val="tx2"/>
                </a:solidFill>
              </a:ln>
              <a:scene3d>
                <a:camera prst="perspectiveRelaxed" fov="1500000">
                  <a:rot lat="2159400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269" name="Straight Connector 268"/>
            <p:cNvCxnSpPr/>
            <p:nvPr/>
          </p:nvCxnSpPr>
          <p:spPr>
            <a:xfrm flipV="1">
              <a:off x="5645816" y="4002795"/>
              <a:ext cx="396000" cy="1962"/>
            </a:xfrm>
            <a:prstGeom prst="line">
              <a:avLst/>
            </a:prstGeom>
            <a:noFill/>
            <a:ln w="28575" cap="flat" cmpd="sng" algn="ctr">
              <a:solidFill>
                <a:schemeClr val="accent2"/>
              </a:solidFill>
              <a:prstDash val="solid"/>
              <a:miter lim="800000"/>
            </a:ln>
            <a:effectLst/>
          </p:spPr>
        </p:cxnSp>
        <p:sp>
          <p:nvSpPr>
            <p:cNvPr id="270" name="CustomShape 17 6"/>
            <p:cNvSpPr/>
            <p:nvPr/>
          </p:nvSpPr>
          <p:spPr>
            <a:xfrm>
              <a:off x="6133433" y="3011479"/>
              <a:ext cx="795000" cy="438053"/>
            </a:xfrm>
            <a:prstGeom prst="parallelogram">
              <a:avLst>
                <a:gd name="adj" fmla="val 25000"/>
              </a:avLst>
            </a:prstGeom>
            <a:solidFill>
              <a:srgbClr val="808080"/>
            </a:solidFill>
            <a:ln w="25560">
              <a:noFill/>
            </a:ln>
          </p:spPr>
        </p:sp>
        <p:sp>
          <p:nvSpPr>
            <p:cNvPr id="271" name="Rectangle 270"/>
            <p:cNvSpPr/>
            <p:nvPr/>
          </p:nvSpPr>
          <p:spPr>
            <a:xfrm>
              <a:off x="2774516" y="3314092"/>
              <a:ext cx="1876775" cy="918811"/>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 name="TextBox 271"/>
            <p:cNvSpPr txBox="1"/>
            <p:nvPr/>
          </p:nvSpPr>
          <p:spPr>
            <a:xfrm>
              <a:off x="2887805" y="3365744"/>
              <a:ext cx="1626959" cy="723610"/>
            </a:xfrm>
            <a:prstGeom prst="rect">
              <a:avLst/>
            </a:prstGeom>
            <a:noFill/>
          </p:spPr>
          <p:txBody>
            <a:bodyPr wrap="square" rtlCol="0">
              <a:spAutoFit/>
            </a:bodyPr>
            <a:lstStyle/>
            <a:p>
              <a:pPr algn="ctr"/>
              <a:r>
                <a:rPr lang="en-US" sz="1500" smtClean="0">
                  <a:latin typeface="Arial" panose="020B0604020202020204" pitchFamily="34" charset="0"/>
                  <a:cs typeface="Arial" panose="020B0604020202020204" pitchFamily="34" charset="0"/>
                </a:rPr>
                <a:t>Modulation, addition </a:t>
              </a:r>
            </a:p>
            <a:p>
              <a:pPr algn="ctr"/>
              <a:r>
                <a:rPr lang="en-US" sz="1500" smtClean="0">
                  <a:latin typeface="Arial" panose="020B0604020202020204" pitchFamily="34" charset="0"/>
                  <a:cs typeface="Arial" panose="020B0604020202020204" pitchFamily="34" charset="0"/>
                </a:rPr>
                <a:t>of reference signal, </a:t>
              </a:r>
            </a:p>
            <a:p>
              <a:pPr algn="ctr"/>
              <a:r>
                <a:rPr lang="en-US" sz="1500" smtClean="0">
                  <a:latin typeface="Arial" panose="020B0604020202020204" pitchFamily="34" charset="0"/>
                  <a:cs typeface="Arial" panose="020B0604020202020204" pitchFamily="34" charset="0"/>
                </a:rPr>
                <a:t>and attenuation to </a:t>
              </a:r>
            </a:p>
            <a:p>
              <a:pPr algn="ctr"/>
              <a:r>
                <a:rPr lang="en-US" sz="1500" smtClean="0">
                  <a:latin typeface="Arial" panose="020B0604020202020204" pitchFamily="34" charset="0"/>
                  <a:cs typeface="Arial" panose="020B0604020202020204" pitchFamily="34" charset="0"/>
                </a:rPr>
                <a:t>quantum level</a:t>
              </a:r>
              <a:endParaRPr lang="en-US" sz="1500">
                <a:latin typeface="Arial" panose="020B0604020202020204" pitchFamily="34" charset="0"/>
                <a:cs typeface="Arial" panose="020B0604020202020204" pitchFamily="34" charset="0"/>
              </a:endParaRPr>
            </a:p>
          </p:txBody>
        </p:sp>
        <p:sp>
          <p:nvSpPr>
            <p:cNvPr id="273" name="CustomShape 18 10"/>
            <p:cNvSpPr/>
            <p:nvPr/>
          </p:nvSpPr>
          <p:spPr>
            <a:xfrm>
              <a:off x="6109290" y="3716928"/>
              <a:ext cx="1077155" cy="285108"/>
            </a:xfrm>
            <a:prstGeom prst="rect">
              <a:avLst/>
            </a:prstGeom>
            <a:noFill/>
            <a:ln>
              <a:noFill/>
            </a:ln>
          </p:spPr>
          <p:txBody>
            <a:bodyPr wrap="none" lIns="90000" tIns="45000" rIns="90000" bIns="45000"/>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kern="0" smtClean="0">
                  <a:solidFill>
                    <a:srgbClr val="000000"/>
                  </a:solidFill>
                  <a:latin typeface="Arial"/>
                </a:rPr>
                <a:t>qSig + ref Sig</a:t>
              </a:r>
              <a:endParaRPr kumimoji="0" sz="1400" b="0" i="0" u="none" strike="noStrike" kern="0" cap="none" spc="0" normalizeH="0" baseline="0" noProof="0" dirty="0" smtClean="0">
                <a:ln>
                  <a:noFill/>
                </a:ln>
                <a:solidFill>
                  <a:prstClr val="black"/>
                </a:solidFill>
                <a:effectLst/>
                <a:uLnTx/>
                <a:uFillTx/>
              </a:endParaRPr>
            </a:p>
          </p:txBody>
        </p:sp>
        <p:sp>
          <p:nvSpPr>
            <p:cNvPr id="274" name="Flowchart: Delay 273"/>
            <p:cNvSpPr/>
            <p:nvPr/>
          </p:nvSpPr>
          <p:spPr>
            <a:xfrm>
              <a:off x="7440916" y="3030240"/>
              <a:ext cx="1051413" cy="1131652"/>
            </a:xfrm>
            <a:prstGeom prst="flowChartDelay">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CustomShape 18 11"/>
            <p:cNvSpPr/>
            <p:nvPr/>
          </p:nvSpPr>
          <p:spPr>
            <a:xfrm>
              <a:off x="7510416" y="3096317"/>
              <a:ext cx="733164" cy="1012995"/>
            </a:xfrm>
            <a:prstGeom prst="rect">
              <a:avLst/>
            </a:prstGeom>
            <a:noFill/>
            <a:ln>
              <a:noFill/>
            </a:ln>
          </p:spPr>
          <p:txBody>
            <a:bodyPr wrap="none" lIns="90000" tIns="45000" rIns="90000" bIns="45000"/>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kern="0" smtClean="0">
                  <a:solidFill>
                    <a:schemeClr val="bg1"/>
                  </a:solidFill>
                  <a:latin typeface="Arial"/>
                </a:rPr>
                <a:t>coherent</a:t>
              </a:r>
              <a:endParaRPr lang="en-US" sz="1400" kern="0" dirty="0" smtClean="0">
                <a:solidFill>
                  <a:schemeClr val="bg1"/>
                </a:solidFill>
                <a:latin typeface="Arial"/>
              </a:endParaRPr>
            </a:p>
            <a:p>
              <a:pPr marL="0" marR="0" lvl="0" indent="0" algn="ctr" defTabSz="914400" eaLnBrk="1" fontAlgn="auto" latinLnBrk="0" hangingPunct="1">
                <a:lnSpc>
                  <a:spcPct val="100000"/>
                </a:lnSpc>
                <a:spcBef>
                  <a:spcPts val="0"/>
                </a:spcBef>
                <a:spcAft>
                  <a:spcPts val="0"/>
                </a:spcAft>
                <a:buClrTx/>
                <a:buSzTx/>
                <a:buFontTx/>
                <a:buNone/>
                <a:tabLst/>
                <a:defRPr/>
              </a:pPr>
              <a:r>
                <a:rPr lang="en-US" sz="1400" kern="0">
                  <a:solidFill>
                    <a:schemeClr val="bg1"/>
                  </a:solidFill>
                  <a:latin typeface="Arial"/>
                </a:rPr>
                <a:t>d</a:t>
              </a:r>
              <a:r>
                <a:rPr lang="en-US" sz="1400" kern="0" smtClean="0">
                  <a:solidFill>
                    <a:schemeClr val="bg1"/>
                  </a:solidFill>
                  <a:latin typeface="Arial"/>
                </a:rPr>
                <a:t>etection</a:t>
              </a:r>
            </a:p>
            <a:p>
              <a:pPr marL="0" marR="0" lvl="0" indent="0" algn="ctr" defTabSz="914400" eaLnBrk="1" fontAlgn="auto" latinLnBrk="0" hangingPunct="1">
                <a:lnSpc>
                  <a:spcPct val="100000"/>
                </a:lnSpc>
                <a:spcBef>
                  <a:spcPts val="0"/>
                </a:spcBef>
                <a:spcAft>
                  <a:spcPts val="0"/>
                </a:spcAft>
                <a:buClrTx/>
                <a:buSzTx/>
                <a:buFontTx/>
                <a:buNone/>
                <a:tabLst/>
                <a:defRPr/>
              </a:pPr>
              <a:r>
                <a:rPr lang="en-US" sz="1400" kern="0" smtClean="0">
                  <a:solidFill>
                    <a:schemeClr val="bg1"/>
                  </a:solidFill>
                  <a:latin typeface="Arial"/>
                </a:rPr>
                <a:t>+ phase </a:t>
              </a:r>
            </a:p>
            <a:p>
              <a:pPr marL="0" marR="0" lvl="0" indent="0" algn="ctr" defTabSz="914400" eaLnBrk="1" fontAlgn="auto" latinLnBrk="0" hangingPunct="1">
                <a:lnSpc>
                  <a:spcPct val="100000"/>
                </a:lnSpc>
                <a:spcBef>
                  <a:spcPts val="0"/>
                </a:spcBef>
                <a:spcAft>
                  <a:spcPts val="0"/>
                </a:spcAft>
                <a:buClrTx/>
                <a:buSzTx/>
                <a:buFontTx/>
                <a:buNone/>
                <a:tabLst/>
                <a:defRPr/>
              </a:pPr>
              <a:r>
                <a:rPr lang="en-US" sz="1400" kern="0" smtClean="0">
                  <a:solidFill>
                    <a:schemeClr val="bg1"/>
                  </a:solidFill>
                  <a:latin typeface="Arial"/>
                </a:rPr>
                <a:t>reference</a:t>
              </a:r>
            </a:p>
            <a:p>
              <a:pPr marL="0" marR="0" lvl="0" indent="0" algn="ctr" defTabSz="914400" eaLnBrk="1" fontAlgn="auto" latinLnBrk="0" hangingPunct="1">
                <a:lnSpc>
                  <a:spcPct val="100000"/>
                </a:lnSpc>
                <a:spcBef>
                  <a:spcPts val="0"/>
                </a:spcBef>
                <a:spcAft>
                  <a:spcPts val="0"/>
                </a:spcAft>
                <a:buClrTx/>
                <a:buSzTx/>
                <a:buFontTx/>
                <a:buNone/>
                <a:tabLst/>
                <a:defRPr/>
              </a:pPr>
              <a:r>
                <a:rPr lang="en-US" sz="1400" kern="0" smtClean="0">
                  <a:solidFill>
                    <a:schemeClr val="bg1"/>
                  </a:solidFill>
                  <a:latin typeface="Arial"/>
                </a:rPr>
                <a:t>alignment</a:t>
              </a:r>
              <a:endParaRPr lang="en-US" sz="1400" kern="0" dirty="0" smtClean="0">
                <a:solidFill>
                  <a:schemeClr val="bg1"/>
                </a:solidFill>
                <a:latin typeface="Arial"/>
              </a:endParaRPr>
            </a:p>
          </p:txBody>
        </p:sp>
        <p:sp>
          <p:nvSpPr>
            <p:cNvPr id="276" name="CustomShape 35 2 1"/>
            <p:cNvSpPr/>
            <p:nvPr/>
          </p:nvSpPr>
          <p:spPr>
            <a:xfrm>
              <a:off x="5109432" y="3194857"/>
              <a:ext cx="868690" cy="530523"/>
            </a:xfrm>
            <a:prstGeom prst="rect">
              <a:avLst/>
            </a:prstGeom>
            <a:noFill/>
            <a:ln>
              <a:noFill/>
            </a:ln>
          </p:spPr>
          <p:txBody>
            <a:bodyPr wrap="none" lIns="90000" tIns="45000" rIns="90000" bIns="4500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da-DK" sz="1400" b="0" i="0" u="none" strike="noStrike" kern="0" cap="none" spc="0" normalizeH="0" baseline="0" noProof="0" smtClean="0">
                  <a:ln>
                    <a:noFill/>
                  </a:ln>
                  <a:solidFill>
                    <a:srgbClr val="000000"/>
                  </a:solidFill>
                  <a:effectLst/>
                  <a:uLnTx/>
                  <a:uFillTx/>
                  <a:latin typeface="Arial"/>
                </a:rPr>
                <a:t>quantum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da-DK" sz="1400" b="0" i="0" u="none" strike="noStrike" kern="0" cap="none" spc="0" normalizeH="0" baseline="0" noProof="0" smtClean="0">
                  <a:ln>
                    <a:noFill/>
                  </a:ln>
                  <a:solidFill>
                    <a:srgbClr val="000000"/>
                  </a:solidFill>
                  <a:effectLst/>
                  <a:uLnTx/>
                  <a:uFillTx/>
                  <a:latin typeface="Arial"/>
                </a:rPr>
                <a:t>channel</a:t>
              </a:r>
            </a:p>
          </p:txBody>
        </p:sp>
        <p:sp>
          <p:nvSpPr>
            <p:cNvPr id="277" name="CustomShape 18 12"/>
            <p:cNvSpPr/>
            <p:nvPr/>
          </p:nvSpPr>
          <p:spPr>
            <a:xfrm>
              <a:off x="5987170" y="3051055"/>
              <a:ext cx="1063463" cy="365368"/>
            </a:xfrm>
            <a:prstGeom prst="rect">
              <a:avLst/>
            </a:prstGeom>
            <a:noFill/>
            <a:ln>
              <a:noFill/>
            </a:ln>
          </p:spPr>
          <p:txBody>
            <a:bodyPr wrap="none" lIns="90000" tIns="45000" rIns="90000" bIns="45000"/>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kern="0" smtClean="0">
                  <a:solidFill>
                    <a:schemeClr val="bg1"/>
                  </a:solidFill>
                  <a:latin typeface="Arial"/>
                </a:rPr>
                <a:t>laser</a:t>
              </a:r>
              <a:endParaRPr kumimoji="0" sz="1400" b="0" i="0" u="none" strike="noStrike" kern="0" cap="none" spc="0" normalizeH="0" baseline="0" noProof="0" dirty="0" smtClean="0">
                <a:ln>
                  <a:noFill/>
                </a:ln>
                <a:solidFill>
                  <a:schemeClr val="bg1"/>
                </a:solidFill>
                <a:effectLst/>
                <a:uLnTx/>
                <a:uFillTx/>
              </a:endParaRPr>
            </a:p>
          </p:txBody>
        </p:sp>
        <p:sp>
          <p:nvSpPr>
            <p:cNvPr id="278" name="CustomShape 18 13"/>
            <p:cNvSpPr/>
            <p:nvPr/>
          </p:nvSpPr>
          <p:spPr>
            <a:xfrm>
              <a:off x="4027906" y="2829614"/>
              <a:ext cx="891944" cy="285108"/>
            </a:xfrm>
            <a:prstGeom prst="rect">
              <a:avLst/>
            </a:prstGeom>
            <a:noFill/>
            <a:ln>
              <a:noFill/>
            </a:ln>
          </p:spPr>
          <p:txBody>
            <a:bodyPr wrap="none" lIns="90000" tIns="45000" rIns="90000" bIns="45000"/>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b="1" kern="0" dirty="0" smtClean="0">
                  <a:solidFill>
                    <a:srgbClr val="000000"/>
                  </a:solidFill>
                  <a:latin typeface="Arial"/>
                </a:rPr>
                <a:t>Alice</a:t>
              </a:r>
              <a:endParaRPr kumimoji="0" sz="1800" b="1" i="0" u="none" strike="noStrike" kern="0" cap="none" spc="0" normalizeH="0" baseline="0" noProof="0" dirty="0" smtClean="0">
                <a:ln>
                  <a:noFill/>
                </a:ln>
                <a:solidFill>
                  <a:prstClr val="black"/>
                </a:solidFill>
                <a:effectLst/>
                <a:uLnTx/>
                <a:uFillTx/>
              </a:endParaRPr>
            </a:p>
          </p:txBody>
        </p:sp>
        <p:sp>
          <p:nvSpPr>
            <p:cNvPr id="280" name="CustomShape 18 14"/>
            <p:cNvSpPr/>
            <p:nvPr/>
          </p:nvSpPr>
          <p:spPr>
            <a:xfrm>
              <a:off x="5853201" y="4065410"/>
              <a:ext cx="891944" cy="285108"/>
            </a:xfrm>
            <a:prstGeom prst="rect">
              <a:avLst/>
            </a:prstGeom>
            <a:noFill/>
            <a:ln>
              <a:noFill/>
            </a:ln>
          </p:spPr>
          <p:txBody>
            <a:bodyPr wrap="none" lIns="90000" tIns="45000" rIns="90000" bIns="45000"/>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b="1" kern="0" dirty="0" smtClean="0">
                  <a:solidFill>
                    <a:srgbClr val="000000"/>
                  </a:solidFill>
                  <a:latin typeface="Arial"/>
                </a:rPr>
                <a:t>Bob</a:t>
              </a:r>
              <a:endParaRPr kumimoji="0" sz="1800" b="1" i="0" u="none" strike="noStrike" kern="0" cap="none" spc="0" normalizeH="0" baseline="0" noProof="0" dirty="0" smtClean="0">
                <a:ln>
                  <a:noFill/>
                </a:ln>
                <a:solidFill>
                  <a:prstClr val="black"/>
                </a:solidFill>
                <a:effectLst/>
                <a:uLnTx/>
                <a:uFillTx/>
              </a:endParaRPr>
            </a:p>
          </p:txBody>
        </p:sp>
      </p:grpSp>
      <p:grpSp>
        <p:nvGrpSpPr>
          <p:cNvPr id="309" name="Group 308"/>
          <p:cNvGrpSpPr>
            <a:grpSpLocks noChangeAspect="1"/>
          </p:cNvGrpSpPr>
          <p:nvPr/>
        </p:nvGrpSpPr>
        <p:grpSpPr>
          <a:xfrm>
            <a:off x="9315075" y="9443515"/>
            <a:ext cx="8561762" cy="2340000"/>
            <a:chOff x="9277530" y="11223198"/>
            <a:chExt cx="7023012" cy="1919446"/>
          </a:xfrm>
        </p:grpSpPr>
        <p:cxnSp>
          <p:nvCxnSpPr>
            <p:cNvPr id="310" name="Straight Connector 309"/>
            <p:cNvCxnSpPr/>
            <p:nvPr/>
          </p:nvCxnSpPr>
          <p:spPr>
            <a:xfrm>
              <a:off x="13629116" y="12251971"/>
              <a:ext cx="412050" cy="4333"/>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311" name="Straight Connector 310"/>
            <p:cNvCxnSpPr/>
            <p:nvPr/>
          </p:nvCxnSpPr>
          <p:spPr>
            <a:xfrm flipV="1">
              <a:off x="12934994" y="12110336"/>
              <a:ext cx="576000" cy="498"/>
            </a:xfrm>
            <a:prstGeom prst="line">
              <a:avLst/>
            </a:prstGeom>
            <a:ln w="28575"/>
          </p:spPr>
          <p:style>
            <a:lnRef idx="3">
              <a:schemeClr val="accent2"/>
            </a:lnRef>
            <a:fillRef idx="0">
              <a:schemeClr val="accent2"/>
            </a:fillRef>
            <a:effectRef idx="2">
              <a:schemeClr val="accent2"/>
            </a:effectRef>
            <a:fontRef idx="minor">
              <a:schemeClr val="tx1"/>
            </a:fontRef>
          </p:style>
        </p:cxnSp>
        <p:cxnSp>
          <p:nvCxnSpPr>
            <p:cNvPr id="312" name="Straight Connector 311"/>
            <p:cNvCxnSpPr/>
            <p:nvPr/>
          </p:nvCxnSpPr>
          <p:spPr>
            <a:xfrm>
              <a:off x="11276036" y="12575983"/>
              <a:ext cx="1203751" cy="0"/>
            </a:xfrm>
            <a:prstGeom prst="line">
              <a:avLst/>
            </a:prstGeom>
            <a:noFill/>
            <a:ln w="28575" cap="flat" cmpd="sng" algn="ctr">
              <a:solidFill>
                <a:srgbClr val="0070C0"/>
              </a:solidFill>
              <a:prstDash val="solid"/>
            </a:ln>
            <a:effectLst/>
          </p:spPr>
        </p:cxnSp>
        <p:cxnSp>
          <p:nvCxnSpPr>
            <p:cNvPr id="313" name="Straight Connector 312"/>
            <p:cNvCxnSpPr/>
            <p:nvPr/>
          </p:nvCxnSpPr>
          <p:spPr>
            <a:xfrm>
              <a:off x="14465820" y="12656562"/>
              <a:ext cx="887622" cy="7970"/>
            </a:xfrm>
            <a:prstGeom prst="line">
              <a:avLst/>
            </a:prstGeom>
            <a:noFill/>
            <a:ln w="28575" cap="flat" cmpd="sng" algn="ctr">
              <a:solidFill>
                <a:srgbClr val="0070C0"/>
              </a:solidFill>
              <a:prstDash val="solid"/>
            </a:ln>
            <a:effectLst/>
          </p:spPr>
        </p:cxnSp>
        <p:sp>
          <p:nvSpPr>
            <p:cNvPr id="314" name="Trapezoid 313"/>
            <p:cNvSpPr/>
            <p:nvPr/>
          </p:nvSpPr>
          <p:spPr>
            <a:xfrm rot="16200000">
              <a:off x="13674410" y="11983071"/>
              <a:ext cx="1193737" cy="443709"/>
            </a:xfrm>
            <a:prstGeom prst="trapezoid">
              <a:avLst>
                <a:gd name="adj" fmla="val 45793"/>
              </a:avLst>
            </a:prstGeom>
            <a:solidFill>
              <a:schemeClr val="accent2">
                <a:lumMod val="60000"/>
                <a:lumOff val="4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321" name="Trapezoid 320"/>
            <p:cNvSpPr/>
            <p:nvPr/>
          </p:nvSpPr>
          <p:spPr>
            <a:xfrm rot="5400000">
              <a:off x="12055250" y="11964861"/>
              <a:ext cx="1316252" cy="456031"/>
            </a:xfrm>
            <a:prstGeom prst="trapezoid">
              <a:avLst>
                <a:gd name="adj" fmla="val 45793"/>
              </a:avLst>
            </a:prstGeom>
            <a:solidFill>
              <a:schemeClr val="accent2">
                <a:lumMod val="60000"/>
                <a:lumOff val="4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322" name="Flowchart: Delay 321"/>
            <p:cNvSpPr/>
            <p:nvPr/>
          </p:nvSpPr>
          <p:spPr>
            <a:xfrm>
              <a:off x="15353442" y="11635094"/>
              <a:ext cx="853693" cy="1131652"/>
            </a:xfrm>
            <a:prstGeom prst="flowChartDelay">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3" name="Straight Connector 322"/>
            <p:cNvCxnSpPr/>
            <p:nvPr/>
          </p:nvCxnSpPr>
          <p:spPr>
            <a:xfrm flipV="1">
              <a:off x="10913754" y="11617585"/>
              <a:ext cx="1566033" cy="2765"/>
            </a:xfrm>
            <a:prstGeom prst="line">
              <a:avLst/>
            </a:prstGeom>
            <a:noFill/>
            <a:ln w="28575" cap="flat" cmpd="sng" algn="ctr">
              <a:solidFill>
                <a:srgbClr val="0070C0"/>
              </a:solidFill>
              <a:prstDash val="solid"/>
            </a:ln>
            <a:effectLst/>
          </p:spPr>
        </p:cxnSp>
        <p:cxnSp>
          <p:nvCxnSpPr>
            <p:cNvPr id="324" name="Straight Connector 323"/>
            <p:cNvCxnSpPr/>
            <p:nvPr/>
          </p:nvCxnSpPr>
          <p:spPr>
            <a:xfrm flipV="1">
              <a:off x="14490882" y="11702099"/>
              <a:ext cx="862560" cy="4271"/>
            </a:xfrm>
            <a:prstGeom prst="line">
              <a:avLst/>
            </a:prstGeom>
            <a:noFill/>
            <a:ln w="28575" cap="flat" cmpd="sng" algn="ctr">
              <a:solidFill>
                <a:srgbClr val="00B050"/>
              </a:solidFill>
              <a:prstDash val="solid"/>
            </a:ln>
            <a:effectLst/>
          </p:spPr>
        </p:cxnSp>
        <p:sp>
          <p:nvSpPr>
            <p:cNvPr id="325" name="CustomShape 18 15"/>
            <p:cNvSpPr/>
            <p:nvPr/>
          </p:nvSpPr>
          <p:spPr>
            <a:xfrm>
              <a:off x="11064118" y="11341441"/>
              <a:ext cx="1096457" cy="285108"/>
            </a:xfrm>
            <a:prstGeom prst="rect">
              <a:avLst/>
            </a:prstGeom>
            <a:noFill/>
            <a:ln>
              <a:noFill/>
            </a:ln>
          </p:spPr>
          <p:txBody>
            <a:bodyPr wrap="none" lIns="90000" tIns="45000" rIns="90000" bIns="45000"/>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kern="0" smtClean="0">
                  <a:solidFill>
                    <a:srgbClr val="000000"/>
                  </a:solidFill>
                  <a:latin typeface="Arial"/>
                </a:rPr>
                <a:t>local oscillator (LO)</a:t>
              </a:r>
              <a:endParaRPr kumimoji="0" sz="1200" b="0" i="0" u="none" strike="noStrike" kern="0" cap="none" spc="0" normalizeH="0" baseline="0" noProof="0" dirty="0" smtClean="0">
                <a:ln>
                  <a:noFill/>
                </a:ln>
                <a:solidFill>
                  <a:prstClr val="black"/>
                </a:solidFill>
                <a:effectLst/>
                <a:uLnTx/>
                <a:uFillTx/>
              </a:endParaRPr>
            </a:p>
          </p:txBody>
        </p:sp>
        <p:sp>
          <p:nvSpPr>
            <p:cNvPr id="326" name="CustomShape 18 16"/>
            <p:cNvSpPr/>
            <p:nvPr/>
          </p:nvSpPr>
          <p:spPr>
            <a:xfrm>
              <a:off x="11462166" y="12857536"/>
              <a:ext cx="1412821" cy="285108"/>
            </a:xfrm>
            <a:prstGeom prst="rect">
              <a:avLst/>
            </a:prstGeom>
            <a:noFill/>
            <a:ln>
              <a:noFill/>
            </a:ln>
          </p:spPr>
          <p:txBody>
            <a:bodyPr wrap="none" lIns="90000" tIns="45000" rIns="90000" bIns="45000"/>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kern="0" smtClean="0">
                  <a:solidFill>
                    <a:srgbClr val="000000"/>
                  </a:solidFill>
                  <a:latin typeface="Arial"/>
                </a:rPr>
                <a:t>quantum signal (qSig)</a:t>
              </a:r>
              <a:endParaRPr kumimoji="0" sz="1200" b="0" i="0" u="none" strike="noStrike" kern="0" cap="none" spc="0" normalizeH="0" baseline="0" noProof="0" dirty="0" smtClean="0">
                <a:ln>
                  <a:noFill/>
                </a:ln>
                <a:solidFill>
                  <a:prstClr val="black"/>
                </a:solidFill>
                <a:effectLst/>
                <a:uLnTx/>
                <a:uFillTx/>
              </a:endParaRPr>
            </a:p>
          </p:txBody>
        </p:sp>
        <p:sp>
          <p:nvSpPr>
            <p:cNvPr id="327" name="CustomShape 18 17"/>
            <p:cNvSpPr/>
            <p:nvPr/>
          </p:nvSpPr>
          <p:spPr>
            <a:xfrm rot="16200000">
              <a:off x="12340456" y="12038650"/>
              <a:ext cx="733164" cy="237461"/>
            </a:xfrm>
            <a:prstGeom prst="rect">
              <a:avLst/>
            </a:prstGeom>
            <a:noFill/>
            <a:ln>
              <a:noFill/>
            </a:ln>
          </p:spPr>
          <p:txBody>
            <a:bodyPr wrap="none" lIns="90000" tIns="45000" rIns="90000" bIns="45000"/>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kern="0" dirty="0" smtClean="0">
                  <a:solidFill>
                    <a:srgbClr val="000000"/>
                  </a:solidFill>
                  <a:latin typeface="Arial"/>
                </a:rPr>
                <a:t>MUX </a:t>
              </a:r>
              <a:endParaRPr kumimoji="0" sz="1200" b="0" i="0" u="none" strike="noStrike" kern="0" cap="none" spc="0" normalizeH="0" baseline="0" noProof="0" dirty="0" smtClean="0">
                <a:ln>
                  <a:noFill/>
                </a:ln>
                <a:solidFill>
                  <a:prstClr val="black"/>
                </a:solidFill>
                <a:effectLst/>
                <a:uLnTx/>
                <a:uFillTx/>
              </a:endParaRPr>
            </a:p>
          </p:txBody>
        </p:sp>
        <p:sp>
          <p:nvSpPr>
            <p:cNvPr id="328" name="CustomShape 18 18"/>
            <p:cNvSpPr/>
            <p:nvPr/>
          </p:nvSpPr>
          <p:spPr>
            <a:xfrm rot="16200000">
              <a:off x="14022567" y="12076983"/>
              <a:ext cx="423951" cy="237461"/>
            </a:xfrm>
            <a:prstGeom prst="rect">
              <a:avLst/>
            </a:prstGeom>
            <a:noFill/>
            <a:ln>
              <a:noFill/>
            </a:ln>
          </p:spPr>
          <p:txBody>
            <a:bodyPr wrap="none" lIns="90000" tIns="45000" rIns="90000" bIns="45000"/>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kern="0" dirty="0" smtClean="0">
                  <a:solidFill>
                    <a:srgbClr val="000000"/>
                  </a:solidFill>
                  <a:latin typeface="Arial"/>
                </a:rPr>
                <a:t>DEMUX </a:t>
              </a:r>
              <a:endParaRPr kumimoji="0" sz="1200" b="0" i="0" u="none" strike="noStrike" kern="0" cap="none" spc="0" normalizeH="0" baseline="0" noProof="0" dirty="0" smtClean="0">
                <a:ln>
                  <a:noFill/>
                </a:ln>
                <a:solidFill>
                  <a:prstClr val="black"/>
                </a:solidFill>
                <a:effectLst/>
                <a:uLnTx/>
                <a:uFillTx/>
              </a:endParaRPr>
            </a:p>
          </p:txBody>
        </p:sp>
        <p:sp>
          <p:nvSpPr>
            <p:cNvPr id="329" name="CustomShape 18 19"/>
            <p:cNvSpPr/>
            <p:nvPr/>
          </p:nvSpPr>
          <p:spPr>
            <a:xfrm>
              <a:off x="15364831" y="11946247"/>
              <a:ext cx="733164" cy="507725"/>
            </a:xfrm>
            <a:prstGeom prst="rect">
              <a:avLst/>
            </a:prstGeom>
            <a:noFill/>
            <a:ln>
              <a:noFill/>
            </a:ln>
          </p:spPr>
          <p:txBody>
            <a:bodyPr wrap="none" lIns="90000" tIns="45000" rIns="90000" bIns="45000"/>
            <a:lstStyle/>
            <a:p>
              <a:pPr marL="0" marR="0" lvl="0" indent="0" defTabSz="914400" eaLnBrk="1" fontAlgn="auto" latinLnBrk="0" hangingPunct="1">
                <a:lnSpc>
                  <a:spcPct val="100000"/>
                </a:lnSpc>
                <a:spcBef>
                  <a:spcPts val="0"/>
                </a:spcBef>
                <a:spcAft>
                  <a:spcPts val="0"/>
                </a:spcAft>
                <a:buClrTx/>
                <a:buSzTx/>
                <a:buFontTx/>
                <a:buNone/>
                <a:tabLst/>
                <a:defRPr/>
              </a:pPr>
              <a:r>
                <a:rPr lang="en-US" sz="1400" kern="0" smtClean="0">
                  <a:solidFill>
                    <a:schemeClr val="bg1"/>
                  </a:solidFill>
                  <a:latin typeface="Arial"/>
                </a:rPr>
                <a:t>coherent</a:t>
              </a:r>
              <a:endParaRPr lang="en-US" sz="1400" kern="0" dirty="0" smtClean="0">
                <a:solidFill>
                  <a:schemeClr val="bg1"/>
                </a:solidFill>
                <a:latin typeface="Arial"/>
              </a:endParaRPr>
            </a:p>
            <a:p>
              <a:pPr marL="0" marR="0" lvl="0" indent="0" defTabSz="914400" eaLnBrk="1" fontAlgn="auto" latinLnBrk="0" hangingPunct="1">
                <a:lnSpc>
                  <a:spcPct val="100000"/>
                </a:lnSpc>
                <a:spcBef>
                  <a:spcPts val="0"/>
                </a:spcBef>
                <a:spcAft>
                  <a:spcPts val="0"/>
                </a:spcAft>
                <a:buClrTx/>
                <a:buSzTx/>
                <a:buFontTx/>
                <a:buNone/>
                <a:tabLst/>
                <a:defRPr/>
              </a:pPr>
              <a:r>
                <a:rPr lang="en-US" sz="1400" kern="0" dirty="0" smtClean="0">
                  <a:solidFill>
                    <a:schemeClr val="bg1"/>
                  </a:solidFill>
                  <a:latin typeface="Arial"/>
                </a:rPr>
                <a:t>detection </a:t>
              </a:r>
              <a:endParaRPr kumimoji="0" sz="1400" b="0" i="0" u="none" strike="noStrike" kern="0" cap="none" spc="0" normalizeH="0" baseline="0" noProof="0" dirty="0" smtClean="0">
                <a:ln>
                  <a:noFill/>
                </a:ln>
                <a:solidFill>
                  <a:schemeClr val="bg1"/>
                </a:solidFill>
                <a:effectLst/>
                <a:uLnTx/>
                <a:uFillTx/>
              </a:endParaRPr>
            </a:p>
          </p:txBody>
        </p:sp>
        <p:sp>
          <p:nvSpPr>
            <p:cNvPr id="330" name="Rectangle 329"/>
            <p:cNvSpPr/>
            <p:nvPr/>
          </p:nvSpPr>
          <p:spPr>
            <a:xfrm>
              <a:off x="9277530" y="11223198"/>
              <a:ext cx="3773400" cy="1906860"/>
            </a:xfrm>
            <a:prstGeom prst="rect">
              <a:avLst/>
            </a:prstGeom>
            <a:noFill/>
            <a:ln>
              <a:solidFill>
                <a:schemeClr val="tx1">
                  <a:alpha val="63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331" name="Rectangle 330"/>
            <p:cNvSpPr/>
            <p:nvPr/>
          </p:nvSpPr>
          <p:spPr>
            <a:xfrm>
              <a:off x="13954387" y="11223198"/>
              <a:ext cx="2346155" cy="1906860"/>
            </a:xfrm>
            <a:prstGeom prst="rect">
              <a:avLst/>
            </a:prstGeom>
            <a:noFill/>
            <a:ln>
              <a:solidFill>
                <a:schemeClr val="tx1">
                  <a:alpha val="63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332" name="CustomShape 18 20"/>
            <p:cNvSpPr/>
            <p:nvPr/>
          </p:nvSpPr>
          <p:spPr>
            <a:xfrm>
              <a:off x="13883088" y="11247164"/>
              <a:ext cx="891944" cy="285108"/>
            </a:xfrm>
            <a:prstGeom prst="rect">
              <a:avLst/>
            </a:prstGeom>
            <a:noFill/>
            <a:ln>
              <a:noFill/>
            </a:ln>
          </p:spPr>
          <p:txBody>
            <a:bodyPr wrap="none" lIns="90000" tIns="45000" rIns="90000" bIns="45000"/>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b="1" kern="0" dirty="0" smtClean="0">
                  <a:solidFill>
                    <a:srgbClr val="000000"/>
                  </a:solidFill>
                  <a:latin typeface="Arial"/>
                </a:rPr>
                <a:t>Bob</a:t>
              </a:r>
              <a:endParaRPr kumimoji="0" sz="1800" b="1" i="0" u="none" strike="noStrike" kern="0" cap="none" spc="0" normalizeH="0" baseline="0" noProof="0" dirty="0" smtClean="0">
                <a:ln>
                  <a:noFill/>
                </a:ln>
                <a:solidFill>
                  <a:prstClr val="black"/>
                </a:solidFill>
                <a:effectLst/>
                <a:uLnTx/>
                <a:uFillTx/>
              </a:endParaRPr>
            </a:p>
          </p:txBody>
        </p:sp>
        <p:sp>
          <p:nvSpPr>
            <p:cNvPr id="333" name="CustomShape 18 21"/>
            <p:cNvSpPr/>
            <p:nvPr/>
          </p:nvSpPr>
          <p:spPr>
            <a:xfrm>
              <a:off x="9300092" y="12688996"/>
              <a:ext cx="891944" cy="285108"/>
            </a:xfrm>
            <a:prstGeom prst="rect">
              <a:avLst/>
            </a:prstGeom>
            <a:noFill/>
            <a:ln>
              <a:noFill/>
            </a:ln>
          </p:spPr>
          <p:txBody>
            <a:bodyPr wrap="none" lIns="90000" tIns="45000" rIns="90000" bIns="45000"/>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b="1" kern="0" dirty="0" smtClean="0">
                  <a:solidFill>
                    <a:srgbClr val="000000"/>
                  </a:solidFill>
                  <a:latin typeface="Arial"/>
                </a:rPr>
                <a:t>Alice</a:t>
              </a:r>
              <a:endParaRPr kumimoji="0" sz="1800" b="1" i="0" u="none" strike="noStrike" kern="0" cap="none" spc="0" normalizeH="0" baseline="0" noProof="0" dirty="0" smtClean="0">
                <a:ln>
                  <a:noFill/>
                </a:ln>
                <a:solidFill>
                  <a:prstClr val="black"/>
                </a:solidFill>
                <a:effectLst/>
                <a:uLnTx/>
                <a:uFillTx/>
              </a:endParaRPr>
            </a:p>
          </p:txBody>
        </p:sp>
        <p:grpSp>
          <p:nvGrpSpPr>
            <p:cNvPr id="334" name="Group 333"/>
            <p:cNvGrpSpPr/>
            <p:nvPr/>
          </p:nvGrpSpPr>
          <p:grpSpPr>
            <a:xfrm>
              <a:off x="10116010" y="11620414"/>
              <a:ext cx="799664" cy="971038"/>
              <a:chOff x="1858259" y="1041117"/>
              <a:chExt cx="1284923" cy="971038"/>
            </a:xfrm>
          </p:grpSpPr>
          <p:sp>
            <p:nvSpPr>
              <p:cNvPr id="359" name="CustomShape 6 8"/>
              <p:cNvSpPr/>
              <p:nvPr/>
            </p:nvSpPr>
            <p:spPr>
              <a:xfrm>
                <a:off x="2471370" y="1518438"/>
                <a:ext cx="641884" cy="472037"/>
              </a:xfrm>
              <a:prstGeom prst="curvedConnector3">
                <a:avLst>
                  <a:gd name="adj1" fmla="val 41619"/>
                </a:avLst>
              </a:prstGeom>
              <a:noFill/>
              <a:ln w="31680">
                <a:solidFill>
                  <a:schemeClr val="tx1"/>
                </a:solidFill>
                <a:round/>
              </a:ln>
            </p:spPr>
          </p:sp>
          <p:sp>
            <p:nvSpPr>
              <p:cNvPr id="360" name="CustomShape 6 9"/>
              <p:cNvSpPr/>
              <p:nvPr/>
            </p:nvSpPr>
            <p:spPr>
              <a:xfrm flipV="1">
                <a:off x="2467455" y="1041117"/>
                <a:ext cx="675727" cy="477321"/>
              </a:xfrm>
              <a:prstGeom prst="curvedConnector3">
                <a:avLst>
                  <a:gd name="adj1" fmla="val 42663"/>
                </a:avLst>
              </a:prstGeom>
              <a:noFill/>
              <a:ln w="31680">
                <a:solidFill>
                  <a:schemeClr val="tx1"/>
                </a:solidFill>
                <a:round/>
              </a:ln>
            </p:spPr>
          </p:sp>
          <p:sp>
            <p:nvSpPr>
              <p:cNvPr id="361" name="CustomShape 6 10"/>
              <p:cNvSpPr/>
              <p:nvPr/>
            </p:nvSpPr>
            <p:spPr>
              <a:xfrm flipH="1">
                <a:off x="1858259" y="1519878"/>
                <a:ext cx="615070" cy="492277"/>
              </a:xfrm>
              <a:prstGeom prst="curvedConnector3">
                <a:avLst>
                  <a:gd name="adj1" fmla="val 46034"/>
                </a:avLst>
              </a:prstGeom>
              <a:noFill/>
              <a:ln w="31680">
                <a:solidFill>
                  <a:schemeClr val="tx1"/>
                </a:solidFill>
                <a:round/>
              </a:ln>
            </p:spPr>
          </p:sp>
          <p:sp>
            <p:nvSpPr>
              <p:cNvPr id="362" name="CustomShape 5"/>
              <p:cNvSpPr/>
              <p:nvPr/>
            </p:nvSpPr>
            <p:spPr>
              <a:xfrm rot="10800000">
                <a:off x="1896012" y="1059102"/>
                <a:ext cx="577364" cy="460776"/>
              </a:xfrm>
              <a:prstGeom prst="curvedConnector3">
                <a:avLst>
                  <a:gd name="adj1" fmla="val 50000"/>
                </a:avLst>
              </a:prstGeom>
              <a:noFill/>
              <a:ln w="28575">
                <a:solidFill>
                  <a:schemeClr val="tx1"/>
                </a:solidFill>
                <a:round/>
              </a:ln>
            </p:spPr>
          </p:sp>
        </p:grpSp>
        <p:sp>
          <p:nvSpPr>
            <p:cNvPr id="335" name="CustomShape 18 22"/>
            <p:cNvSpPr/>
            <p:nvPr/>
          </p:nvSpPr>
          <p:spPr>
            <a:xfrm>
              <a:off x="14517637" y="11683296"/>
              <a:ext cx="891944" cy="285108"/>
            </a:xfrm>
            <a:prstGeom prst="rect">
              <a:avLst/>
            </a:prstGeom>
            <a:noFill/>
            <a:ln>
              <a:noFill/>
            </a:ln>
          </p:spPr>
          <p:txBody>
            <a:bodyPr wrap="none" lIns="90000" tIns="45000" rIns="90000" bIns="45000"/>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kern="0" smtClean="0">
                  <a:solidFill>
                    <a:srgbClr val="000000"/>
                  </a:solidFill>
                  <a:latin typeface="Arial"/>
                </a:rPr>
                <a:t>LO</a:t>
              </a:r>
              <a:endParaRPr kumimoji="0" sz="1400" b="0" i="0" u="none" strike="noStrike" kern="0" cap="none" spc="0" normalizeH="0" baseline="0" noProof="0" dirty="0" smtClean="0">
                <a:ln>
                  <a:noFill/>
                </a:ln>
                <a:solidFill>
                  <a:prstClr val="black"/>
                </a:solidFill>
                <a:effectLst/>
                <a:uLnTx/>
                <a:uFillTx/>
              </a:endParaRPr>
            </a:p>
          </p:txBody>
        </p:sp>
        <p:grpSp>
          <p:nvGrpSpPr>
            <p:cNvPr id="336" name="Group 335"/>
            <p:cNvGrpSpPr/>
            <p:nvPr/>
          </p:nvGrpSpPr>
          <p:grpSpPr>
            <a:xfrm>
              <a:off x="9277530" y="11416067"/>
              <a:ext cx="1063463" cy="438053"/>
              <a:chOff x="1044047" y="828226"/>
              <a:chExt cx="1063463" cy="438053"/>
            </a:xfrm>
          </p:grpSpPr>
          <p:sp>
            <p:nvSpPr>
              <p:cNvPr id="357" name="CustomShape 17 7"/>
              <p:cNvSpPr/>
              <p:nvPr/>
            </p:nvSpPr>
            <p:spPr>
              <a:xfrm>
                <a:off x="1163553" y="828226"/>
                <a:ext cx="795000" cy="438053"/>
              </a:xfrm>
              <a:prstGeom prst="parallelogram">
                <a:avLst>
                  <a:gd name="adj" fmla="val 25000"/>
                </a:avLst>
              </a:prstGeom>
              <a:solidFill>
                <a:srgbClr val="808080"/>
              </a:solidFill>
              <a:ln w="25560">
                <a:noFill/>
              </a:ln>
            </p:spPr>
          </p:sp>
          <p:sp>
            <p:nvSpPr>
              <p:cNvPr id="358" name="CustomShape 18 23"/>
              <p:cNvSpPr/>
              <p:nvPr/>
            </p:nvSpPr>
            <p:spPr>
              <a:xfrm>
                <a:off x="1044047" y="888460"/>
                <a:ext cx="1063463" cy="365368"/>
              </a:xfrm>
              <a:prstGeom prst="rect">
                <a:avLst/>
              </a:prstGeom>
              <a:noFill/>
              <a:ln>
                <a:noFill/>
              </a:ln>
            </p:spPr>
            <p:txBody>
              <a:bodyPr wrap="none" lIns="90000" tIns="45000" rIns="90000" bIns="45000"/>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kern="0" smtClean="0">
                    <a:solidFill>
                      <a:schemeClr val="bg1"/>
                    </a:solidFill>
                    <a:latin typeface="Arial"/>
                  </a:rPr>
                  <a:t>laser</a:t>
                </a:r>
                <a:endParaRPr kumimoji="0" sz="1400" b="0" i="0" u="none" strike="noStrike" kern="0" cap="none" spc="0" normalizeH="0" baseline="0" noProof="0" dirty="0" smtClean="0">
                  <a:ln>
                    <a:noFill/>
                  </a:ln>
                  <a:solidFill>
                    <a:schemeClr val="bg1"/>
                  </a:solidFill>
                  <a:effectLst/>
                  <a:uLnTx/>
                  <a:uFillTx/>
                </a:endParaRPr>
              </a:p>
            </p:txBody>
          </p:sp>
        </p:grpSp>
        <p:grpSp>
          <p:nvGrpSpPr>
            <p:cNvPr id="337" name="Group 336"/>
            <p:cNvGrpSpPr/>
            <p:nvPr/>
          </p:nvGrpSpPr>
          <p:grpSpPr>
            <a:xfrm>
              <a:off x="13348112" y="11981879"/>
              <a:ext cx="370267" cy="410646"/>
              <a:chOff x="5212431" y="4474143"/>
              <a:chExt cx="552946" cy="605570"/>
            </a:xfrm>
          </p:grpSpPr>
          <p:sp>
            <p:nvSpPr>
              <p:cNvPr id="344" name="Can 343"/>
              <p:cNvSpPr/>
              <p:nvPr/>
            </p:nvSpPr>
            <p:spPr>
              <a:xfrm>
                <a:off x="5212538" y="4968835"/>
                <a:ext cx="552839" cy="110878"/>
              </a:xfrm>
              <a:prstGeom prst="can">
                <a:avLst>
                  <a:gd name="adj" fmla="val 50000"/>
                </a:avLst>
              </a:prstGeom>
              <a:solidFill>
                <a:schemeClr val="tx2"/>
              </a:solidFill>
              <a:ln w="9525">
                <a:solidFill>
                  <a:schemeClr val="tx2"/>
                </a:solidFill>
              </a:ln>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45" name="Group 344"/>
              <p:cNvGrpSpPr/>
              <p:nvPr/>
            </p:nvGrpSpPr>
            <p:grpSpPr>
              <a:xfrm>
                <a:off x="5277572" y="4732951"/>
                <a:ext cx="422665" cy="275027"/>
                <a:chOff x="1530028" y="4595042"/>
                <a:chExt cx="533535" cy="510684"/>
              </a:xfrm>
            </p:grpSpPr>
            <p:sp>
              <p:nvSpPr>
                <p:cNvPr id="352" name="Can 351"/>
                <p:cNvSpPr/>
                <p:nvPr/>
              </p:nvSpPr>
              <p:spPr>
                <a:xfrm>
                  <a:off x="1530163" y="4899842"/>
                  <a:ext cx="533400" cy="205884"/>
                </a:xfrm>
                <a:prstGeom prst="can">
                  <a:avLst>
                    <a:gd name="adj" fmla="val 50000"/>
                  </a:avLst>
                </a:prstGeom>
                <a:solidFill>
                  <a:schemeClr val="bg2"/>
                </a:solidFill>
                <a:ln w="9525">
                  <a:solidFill>
                    <a:srgbClr val="FF6600"/>
                  </a:solidFill>
                </a:ln>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3" name="Can 352"/>
                <p:cNvSpPr/>
                <p:nvPr/>
              </p:nvSpPr>
              <p:spPr>
                <a:xfrm>
                  <a:off x="1530163" y="4823642"/>
                  <a:ext cx="533400" cy="205884"/>
                </a:xfrm>
                <a:prstGeom prst="can">
                  <a:avLst>
                    <a:gd name="adj" fmla="val 50000"/>
                  </a:avLst>
                </a:prstGeom>
                <a:solidFill>
                  <a:schemeClr val="bg2"/>
                </a:solidFill>
                <a:ln w="9525">
                  <a:solidFill>
                    <a:srgbClr val="FF6600"/>
                  </a:solidFill>
                </a:ln>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4" name="Can 353"/>
                <p:cNvSpPr/>
                <p:nvPr/>
              </p:nvSpPr>
              <p:spPr>
                <a:xfrm>
                  <a:off x="1530163" y="4747442"/>
                  <a:ext cx="533400" cy="205884"/>
                </a:xfrm>
                <a:prstGeom prst="can">
                  <a:avLst>
                    <a:gd name="adj" fmla="val 50000"/>
                  </a:avLst>
                </a:prstGeom>
                <a:solidFill>
                  <a:schemeClr val="bg2"/>
                </a:solidFill>
                <a:ln w="9525">
                  <a:solidFill>
                    <a:srgbClr val="FF6600"/>
                  </a:solidFill>
                </a:ln>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5" name="Can 354"/>
                <p:cNvSpPr/>
                <p:nvPr/>
              </p:nvSpPr>
              <p:spPr>
                <a:xfrm>
                  <a:off x="1530163" y="4671242"/>
                  <a:ext cx="533400" cy="205884"/>
                </a:xfrm>
                <a:prstGeom prst="can">
                  <a:avLst>
                    <a:gd name="adj" fmla="val 50000"/>
                  </a:avLst>
                </a:prstGeom>
                <a:solidFill>
                  <a:schemeClr val="bg2"/>
                </a:solidFill>
                <a:ln w="9525">
                  <a:solidFill>
                    <a:srgbClr val="FF6600"/>
                  </a:solidFill>
                </a:ln>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6" name="Can 355"/>
                <p:cNvSpPr/>
                <p:nvPr/>
              </p:nvSpPr>
              <p:spPr>
                <a:xfrm>
                  <a:off x="1530028" y="4595042"/>
                  <a:ext cx="533400" cy="205884"/>
                </a:xfrm>
                <a:prstGeom prst="can">
                  <a:avLst>
                    <a:gd name="adj" fmla="val 50000"/>
                  </a:avLst>
                </a:prstGeom>
                <a:solidFill>
                  <a:schemeClr val="bg2"/>
                </a:solidFill>
                <a:ln w="9525">
                  <a:solidFill>
                    <a:srgbClr val="FF6600"/>
                  </a:solidFill>
                </a:ln>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346" name="Can 345"/>
              <p:cNvSpPr/>
              <p:nvPr/>
            </p:nvSpPr>
            <p:spPr>
              <a:xfrm>
                <a:off x="5277679" y="4691914"/>
                <a:ext cx="422558" cy="110878"/>
              </a:xfrm>
              <a:prstGeom prst="can">
                <a:avLst>
                  <a:gd name="adj" fmla="val 50000"/>
                </a:avLst>
              </a:prstGeom>
              <a:solidFill>
                <a:schemeClr val="bg2"/>
              </a:solidFill>
              <a:ln w="9525">
                <a:solidFill>
                  <a:srgbClr val="FF6600"/>
                </a:solidFill>
              </a:ln>
              <a:scene3d>
                <a:camera prst="perspectiveRelaxed" fov="1500000">
                  <a:rot lat="2159400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7" name="Can 346"/>
              <p:cNvSpPr/>
              <p:nvPr/>
            </p:nvSpPr>
            <p:spPr>
              <a:xfrm>
                <a:off x="5277679" y="4650877"/>
                <a:ext cx="422558" cy="110878"/>
              </a:xfrm>
              <a:prstGeom prst="can">
                <a:avLst>
                  <a:gd name="adj" fmla="val 50000"/>
                </a:avLst>
              </a:prstGeom>
              <a:solidFill>
                <a:schemeClr val="bg2"/>
              </a:solidFill>
              <a:ln w="9525">
                <a:solidFill>
                  <a:srgbClr val="FF6600"/>
                </a:solidFill>
              </a:ln>
              <a:scene3d>
                <a:camera prst="perspectiveRelaxed" fov="1500000">
                  <a:rot lat="2159400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8" name="Can 347"/>
              <p:cNvSpPr/>
              <p:nvPr/>
            </p:nvSpPr>
            <p:spPr>
              <a:xfrm>
                <a:off x="5277679" y="4609840"/>
                <a:ext cx="422558" cy="110878"/>
              </a:xfrm>
              <a:prstGeom prst="can">
                <a:avLst>
                  <a:gd name="adj" fmla="val 50000"/>
                </a:avLst>
              </a:prstGeom>
              <a:solidFill>
                <a:schemeClr val="bg2"/>
              </a:solidFill>
              <a:ln w="9525">
                <a:solidFill>
                  <a:srgbClr val="FF6600"/>
                </a:solidFill>
              </a:ln>
              <a:scene3d>
                <a:camera prst="perspectiveRelaxed" fov="1500000">
                  <a:rot lat="2159400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9" name="Can 348"/>
              <p:cNvSpPr/>
              <p:nvPr/>
            </p:nvSpPr>
            <p:spPr>
              <a:xfrm>
                <a:off x="5277679" y="4568802"/>
                <a:ext cx="422558" cy="110878"/>
              </a:xfrm>
              <a:prstGeom prst="can">
                <a:avLst>
                  <a:gd name="adj" fmla="val 50000"/>
                </a:avLst>
              </a:prstGeom>
              <a:solidFill>
                <a:schemeClr val="bg2"/>
              </a:solidFill>
              <a:ln w="9525">
                <a:solidFill>
                  <a:srgbClr val="FF6600"/>
                </a:solidFill>
              </a:ln>
              <a:scene3d>
                <a:camera prst="perspectiveRelaxed" fov="1500000">
                  <a:rot lat="2159400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0" name="Can 349"/>
              <p:cNvSpPr/>
              <p:nvPr/>
            </p:nvSpPr>
            <p:spPr>
              <a:xfrm>
                <a:off x="5277572" y="4527765"/>
                <a:ext cx="422558" cy="110878"/>
              </a:xfrm>
              <a:prstGeom prst="can">
                <a:avLst>
                  <a:gd name="adj" fmla="val 50000"/>
                </a:avLst>
              </a:prstGeom>
              <a:solidFill>
                <a:schemeClr val="bg2"/>
              </a:solidFill>
              <a:ln w="9525">
                <a:solidFill>
                  <a:srgbClr val="FF6600"/>
                </a:solidFill>
              </a:ln>
              <a:scene3d>
                <a:camera prst="perspectiveRelaxed" fov="1500000">
                  <a:rot lat="2159400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1" name="Can 350"/>
              <p:cNvSpPr/>
              <p:nvPr/>
            </p:nvSpPr>
            <p:spPr>
              <a:xfrm>
                <a:off x="5212431" y="4474143"/>
                <a:ext cx="552839" cy="110878"/>
              </a:xfrm>
              <a:prstGeom prst="can">
                <a:avLst>
                  <a:gd name="adj" fmla="val 50000"/>
                </a:avLst>
              </a:prstGeom>
              <a:solidFill>
                <a:schemeClr val="tx2"/>
              </a:solidFill>
              <a:ln w="9525">
                <a:solidFill>
                  <a:schemeClr val="tx2"/>
                </a:solidFill>
              </a:ln>
              <a:scene3d>
                <a:camera prst="perspectiveRelaxed" fov="1500000">
                  <a:rot lat="2159400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338" name="Straight Arrow Connector 337"/>
            <p:cNvCxnSpPr/>
            <p:nvPr/>
          </p:nvCxnSpPr>
          <p:spPr>
            <a:xfrm flipV="1">
              <a:off x="12203938" y="12633302"/>
              <a:ext cx="166994" cy="24502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39" name="CustomShape 35 2 2"/>
            <p:cNvSpPr/>
            <p:nvPr/>
          </p:nvSpPr>
          <p:spPr>
            <a:xfrm>
              <a:off x="10667191" y="12114095"/>
              <a:ext cx="868690" cy="258071"/>
            </a:xfrm>
            <a:prstGeom prst="rect">
              <a:avLst/>
            </a:prstGeom>
            <a:noFill/>
            <a:ln>
              <a:noFill/>
            </a:ln>
          </p:spPr>
          <p:txBody>
            <a:bodyPr wrap="none" lIns="90000" tIns="45000" rIns="90000" bIns="450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200" b="0" i="0" u="none" strike="noStrike" kern="0" cap="none" spc="0" normalizeH="0" baseline="0" noProof="0" dirty="0" smtClean="0">
                <a:ln>
                  <a:noFill/>
                </a:ln>
                <a:solidFill>
                  <a:prstClr val="black"/>
                </a:solidFill>
                <a:effectLst/>
                <a:uLnTx/>
                <a:uFillTx/>
              </a:endParaRPr>
            </a:p>
          </p:txBody>
        </p:sp>
        <p:sp>
          <p:nvSpPr>
            <p:cNvPr id="340" name="CustomShape 35 2 3"/>
            <p:cNvSpPr/>
            <p:nvPr/>
          </p:nvSpPr>
          <p:spPr>
            <a:xfrm>
              <a:off x="13098672" y="12413682"/>
              <a:ext cx="868690" cy="530523"/>
            </a:xfrm>
            <a:prstGeom prst="rect">
              <a:avLst/>
            </a:prstGeom>
            <a:noFill/>
            <a:ln>
              <a:noFill/>
            </a:ln>
          </p:spPr>
          <p:txBody>
            <a:bodyPr wrap="none" lIns="90000" tIns="45000" rIns="90000" bIns="4500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da-DK" sz="1200" b="0" i="0" u="none" strike="noStrike" kern="0" cap="none" spc="0" normalizeH="0" baseline="0" noProof="0" smtClean="0">
                  <a:ln>
                    <a:noFill/>
                  </a:ln>
                  <a:solidFill>
                    <a:srgbClr val="000000"/>
                  </a:solidFill>
                  <a:effectLst/>
                  <a:uLnTx/>
                  <a:uFillTx/>
                  <a:latin typeface="Arial"/>
                </a:rPr>
                <a:t>quantum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da-DK" sz="1200" b="0" i="0" u="none" strike="noStrike" kern="0" cap="none" spc="0" normalizeH="0" baseline="0" noProof="0" smtClean="0">
                  <a:ln>
                    <a:noFill/>
                  </a:ln>
                  <a:solidFill>
                    <a:srgbClr val="000000"/>
                  </a:solidFill>
                  <a:effectLst/>
                  <a:uLnTx/>
                  <a:uFillTx/>
                  <a:latin typeface="Arial"/>
                </a:rPr>
                <a:t>channel</a:t>
              </a:r>
            </a:p>
          </p:txBody>
        </p:sp>
        <p:sp>
          <p:nvSpPr>
            <p:cNvPr id="341" name="CustomShape 18 24"/>
            <p:cNvSpPr/>
            <p:nvPr/>
          </p:nvSpPr>
          <p:spPr>
            <a:xfrm>
              <a:off x="14701586" y="12381409"/>
              <a:ext cx="507402" cy="285108"/>
            </a:xfrm>
            <a:prstGeom prst="rect">
              <a:avLst/>
            </a:prstGeom>
            <a:noFill/>
            <a:ln>
              <a:noFill/>
            </a:ln>
          </p:spPr>
          <p:txBody>
            <a:bodyPr wrap="none" lIns="90000" tIns="45000" rIns="90000" bIns="45000"/>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kern="0" smtClean="0">
                  <a:solidFill>
                    <a:srgbClr val="000000"/>
                  </a:solidFill>
                  <a:latin typeface="Arial"/>
                </a:rPr>
                <a:t>qSig</a:t>
              </a:r>
              <a:endParaRPr kumimoji="0" sz="1400" b="0" i="0" u="none" strike="noStrike" kern="0" cap="none" spc="0" normalizeH="0" baseline="0" noProof="0" dirty="0" smtClean="0">
                <a:ln>
                  <a:noFill/>
                </a:ln>
                <a:solidFill>
                  <a:prstClr val="black"/>
                </a:solidFill>
                <a:effectLst/>
                <a:uLnTx/>
                <a:uFillTx/>
              </a:endParaRPr>
            </a:p>
          </p:txBody>
        </p:sp>
        <p:sp>
          <p:nvSpPr>
            <p:cNvPr id="342" name="Rectangle 341"/>
            <p:cNvSpPr/>
            <p:nvPr/>
          </p:nvSpPr>
          <p:spPr>
            <a:xfrm>
              <a:off x="10858115" y="12196056"/>
              <a:ext cx="1137008" cy="656588"/>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 name="TextBox 342"/>
            <p:cNvSpPr txBox="1"/>
            <p:nvPr/>
          </p:nvSpPr>
          <p:spPr>
            <a:xfrm>
              <a:off x="10857257" y="12204672"/>
              <a:ext cx="1137940" cy="605908"/>
            </a:xfrm>
            <a:prstGeom prst="rect">
              <a:avLst/>
            </a:prstGeom>
            <a:noFill/>
          </p:spPr>
          <p:txBody>
            <a:bodyPr wrap="square" rtlCol="0">
              <a:spAutoFit/>
            </a:bodyPr>
            <a:lstStyle/>
            <a:p>
              <a:pPr algn="ctr"/>
              <a:r>
                <a:rPr lang="en-US" sz="1400" smtClean="0">
                  <a:latin typeface="Arial" panose="020B0604020202020204" pitchFamily="34" charset="0"/>
                  <a:cs typeface="Arial" panose="020B0604020202020204" pitchFamily="34" charset="0"/>
                </a:rPr>
                <a:t>Modulation &amp;</a:t>
              </a:r>
            </a:p>
            <a:p>
              <a:pPr algn="ctr"/>
              <a:r>
                <a:rPr lang="en-US" sz="1400" smtClean="0">
                  <a:latin typeface="Arial" panose="020B0604020202020204" pitchFamily="34" charset="0"/>
                  <a:cs typeface="Arial" panose="020B0604020202020204" pitchFamily="34" charset="0"/>
                </a:rPr>
                <a:t>attenuation to </a:t>
              </a:r>
            </a:p>
            <a:p>
              <a:pPr algn="ctr"/>
              <a:r>
                <a:rPr lang="en-US" sz="1400">
                  <a:latin typeface="Arial" panose="020B0604020202020204" pitchFamily="34" charset="0"/>
                  <a:cs typeface="Arial" panose="020B0604020202020204" pitchFamily="34" charset="0"/>
                </a:rPr>
                <a:t>q</a:t>
              </a:r>
              <a:r>
                <a:rPr lang="en-US" sz="1400" smtClean="0">
                  <a:latin typeface="Arial" panose="020B0604020202020204" pitchFamily="34" charset="0"/>
                  <a:cs typeface="Arial" panose="020B0604020202020204" pitchFamily="34" charset="0"/>
                </a:rPr>
                <a:t>uantum level</a:t>
              </a:r>
              <a:endParaRPr lang="en-US" sz="1400">
                <a:latin typeface="Arial" panose="020B0604020202020204" pitchFamily="34" charset="0"/>
                <a:cs typeface="Arial" panose="020B0604020202020204" pitchFamily="34" charset="0"/>
              </a:endParaRPr>
            </a:p>
          </p:txBody>
        </p:sp>
      </p:grpSp>
      <p:sp>
        <p:nvSpPr>
          <p:cNvPr id="363" name="TextBox 362"/>
          <p:cNvSpPr txBox="1"/>
          <p:nvPr/>
        </p:nvSpPr>
        <p:spPr>
          <a:xfrm>
            <a:off x="19548000" y="13346020"/>
            <a:ext cx="9013080" cy="461665"/>
          </a:xfrm>
          <a:prstGeom prst="rect">
            <a:avLst/>
          </a:prstGeom>
          <a:noFill/>
        </p:spPr>
        <p:txBody>
          <a:bodyPr wrap="square" rtlCol="0">
            <a:spAutoFit/>
          </a:bodyPr>
          <a:lstStyle/>
          <a:p>
            <a:r>
              <a:rPr lang="en-US" sz="2400" smtClean="0"/>
              <a:t>Expression </a:t>
            </a:r>
            <a:r>
              <a:rPr lang="en-US" sz="2400"/>
              <a:t>for output current of balanced heterdoyne receiver:</a:t>
            </a:r>
            <a:endParaRPr lang="en-US" sz="2400" dirty="0" smtClean="0"/>
          </a:p>
        </p:txBody>
      </p:sp>
      <p:grpSp>
        <p:nvGrpSpPr>
          <p:cNvPr id="364" name="Group 363"/>
          <p:cNvGrpSpPr/>
          <p:nvPr/>
        </p:nvGrpSpPr>
        <p:grpSpPr>
          <a:xfrm>
            <a:off x="9271137" y="13472319"/>
            <a:ext cx="4262300" cy="2199740"/>
            <a:chOff x="3761144" y="2660915"/>
            <a:chExt cx="4262300" cy="2199740"/>
          </a:xfrm>
        </p:grpSpPr>
        <p:cxnSp>
          <p:nvCxnSpPr>
            <p:cNvPr id="365" name="Straight Connector 364"/>
            <p:cNvCxnSpPr/>
            <p:nvPr/>
          </p:nvCxnSpPr>
          <p:spPr>
            <a:xfrm>
              <a:off x="3918358" y="3210203"/>
              <a:ext cx="60065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3" name="Straight Connector 372"/>
            <p:cNvCxnSpPr/>
            <p:nvPr/>
          </p:nvCxnSpPr>
          <p:spPr>
            <a:xfrm>
              <a:off x="3918358" y="3963197"/>
              <a:ext cx="60065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77" name="Right Bracket 376"/>
            <p:cNvSpPr/>
            <p:nvPr/>
          </p:nvSpPr>
          <p:spPr>
            <a:xfrm>
              <a:off x="6115149" y="2784269"/>
              <a:ext cx="169626" cy="734849"/>
            </a:xfrm>
            <a:prstGeom prst="rightBracket">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88" name="Oval 387"/>
            <p:cNvSpPr/>
            <p:nvPr/>
          </p:nvSpPr>
          <p:spPr>
            <a:xfrm>
              <a:off x="6176305" y="3069336"/>
              <a:ext cx="238027" cy="22381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9" name="Minus 388"/>
            <p:cNvSpPr/>
            <p:nvPr/>
          </p:nvSpPr>
          <p:spPr>
            <a:xfrm>
              <a:off x="6218842" y="3142177"/>
              <a:ext cx="153866" cy="79048"/>
            </a:xfrm>
            <a:prstGeom prst="mathMinu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95" name="Group 394"/>
            <p:cNvGrpSpPr/>
            <p:nvPr/>
          </p:nvGrpSpPr>
          <p:grpSpPr>
            <a:xfrm>
              <a:off x="4718967" y="2778563"/>
              <a:ext cx="1184844" cy="1965400"/>
              <a:chOff x="5256307" y="2778563"/>
              <a:chExt cx="647503" cy="1965400"/>
            </a:xfrm>
          </p:grpSpPr>
          <p:grpSp>
            <p:nvGrpSpPr>
              <p:cNvPr id="449" name="Group 448"/>
              <p:cNvGrpSpPr/>
              <p:nvPr/>
            </p:nvGrpSpPr>
            <p:grpSpPr>
              <a:xfrm>
                <a:off x="5256307" y="2778563"/>
                <a:ext cx="644675" cy="738410"/>
                <a:chOff x="5522862" y="2857986"/>
                <a:chExt cx="1069975" cy="1225550"/>
              </a:xfrm>
            </p:grpSpPr>
            <p:cxnSp>
              <p:nvCxnSpPr>
                <p:cNvPr id="453" name="AutoShape 12 3"/>
                <p:cNvCxnSpPr>
                  <a:cxnSpLocks noChangeShapeType="1"/>
                </p:cNvCxnSpPr>
                <p:nvPr/>
              </p:nvCxnSpPr>
              <p:spPr bwMode="auto">
                <a:xfrm flipV="1">
                  <a:off x="5522862" y="2857986"/>
                  <a:ext cx="1069975" cy="611188"/>
                </a:xfrm>
                <a:prstGeom prst="curvedConnector3">
                  <a:avLst>
                    <a:gd name="adj1" fmla="val 65833"/>
                  </a:avLst>
                </a:prstGeom>
                <a:noFill/>
                <a:ln w="31750">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4" name="AutoShape 16 3"/>
                <p:cNvCxnSpPr>
                  <a:cxnSpLocks noChangeShapeType="1"/>
                </p:cNvCxnSpPr>
                <p:nvPr/>
              </p:nvCxnSpPr>
              <p:spPr bwMode="auto">
                <a:xfrm>
                  <a:off x="5522862" y="3448536"/>
                  <a:ext cx="1069975" cy="635000"/>
                </a:xfrm>
                <a:prstGeom prst="curvedConnector3">
                  <a:avLst>
                    <a:gd name="adj1" fmla="val 69167"/>
                  </a:avLst>
                </a:prstGeom>
                <a:noFill/>
                <a:ln w="31750">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50" name="Group 449"/>
              <p:cNvGrpSpPr/>
              <p:nvPr/>
            </p:nvGrpSpPr>
            <p:grpSpPr>
              <a:xfrm>
                <a:off x="5259135" y="4005553"/>
                <a:ext cx="644675" cy="738410"/>
                <a:chOff x="5522862" y="2857986"/>
                <a:chExt cx="1069975" cy="1225550"/>
              </a:xfrm>
            </p:grpSpPr>
            <p:cxnSp>
              <p:nvCxnSpPr>
                <p:cNvPr id="451" name="AutoShape 12 5"/>
                <p:cNvCxnSpPr>
                  <a:cxnSpLocks noChangeShapeType="1"/>
                </p:cNvCxnSpPr>
                <p:nvPr/>
              </p:nvCxnSpPr>
              <p:spPr bwMode="auto">
                <a:xfrm flipV="1">
                  <a:off x="5522862" y="2857986"/>
                  <a:ext cx="1069975" cy="611188"/>
                </a:xfrm>
                <a:prstGeom prst="curvedConnector3">
                  <a:avLst>
                    <a:gd name="adj1" fmla="val 65833"/>
                  </a:avLst>
                </a:prstGeom>
                <a:noFill/>
                <a:ln w="31750">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2" name="AutoShape 16 5"/>
                <p:cNvCxnSpPr>
                  <a:cxnSpLocks noChangeShapeType="1"/>
                </p:cNvCxnSpPr>
                <p:nvPr/>
              </p:nvCxnSpPr>
              <p:spPr bwMode="auto">
                <a:xfrm>
                  <a:off x="5522862" y="3448536"/>
                  <a:ext cx="1069975" cy="635000"/>
                </a:xfrm>
                <a:prstGeom prst="curvedConnector3">
                  <a:avLst>
                    <a:gd name="adj1" fmla="val 69167"/>
                  </a:avLst>
                </a:prstGeom>
                <a:noFill/>
                <a:ln w="31750">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sp>
          <p:nvSpPr>
            <p:cNvPr id="397" name="AutoShape 25 3"/>
            <p:cNvSpPr>
              <a:spLocks noChangeArrowheads="1"/>
            </p:cNvSpPr>
            <p:nvPr/>
          </p:nvSpPr>
          <p:spPr bwMode="auto">
            <a:xfrm>
              <a:off x="5860768" y="4623445"/>
              <a:ext cx="258252" cy="237210"/>
            </a:xfrm>
            <a:prstGeom prst="flowChartDelay">
              <a:avLst/>
            </a:prstGeom>
            <a:solidFill>
              <a:schemeClr val="bg2">
                <a:lumMod val="90000"/>
              </a:schemeClr>
            </a:solidFill>
            <a:ln w="9525">
              <a:solidFill>
                <a:schemeClr val="tx1"/>
              </a:solidFill>
              <a:miter lim="800000"/>
              <a:headEnd/>
              <a:tailEnd/>
            </a:ln>
            <a:effectLst/>
            <a:extLst/>
          </p:spPr>
          <p:txBody>
            <a:bodyPr wrap="none" anchor="ctr"/>
            <a:lstStyle/>
            <a:p>
              <a:endParaRPr lang="en-GB" dirty="0"/>
            </a:p>
          </p:txBody>
        </p:sp>
        <p:sp>
          <p:nvSpPr>
            <p:cNvPr id="399" name="AutoShape 26 3"/>
            <p:cNvSpPr>
              <a:spLocks noChangeArrowheads="1"/>
            </p:cNvSpPr>
            <p:nvPr/>
          </p:nvSpPr>
          <p:spPr bwMode="auto">
            <a:xfrm>
              <a:off x="5860768" y="3887905"/>
              <a:ext cx="258252" cy="236253"/>
            </a:xfrm>
            <a:prstGeom prst="flowChartDelay">
              <a:avLst/>
            </a:prstGeom>
            <a:solidFill>
              <a:schemeClr val="bg2">
                <a:lumMod val="90000"/>
              </a:schemeClr>
            </a:solidFill>
            <a:ln w="9525">
              <a:solidFill>
                <a:schemeClr val="tx1"/>
              </a:solidFill>
              <a:miter lim="800000"/>
              <a:headEnd/>
              <a:tailEnd/>
            </a:ln>
            <a:effectLst/>
            <a:extLst/>
          </p:spPr>
          <p:txBody>
            <a:bodyPr wrap="none" anchor="ctr"/>
            <a:lstStyle/>
            <a:p>
              <a:endParaRPr lang="en-GB" dirty="0"/>
            </a:p>
          </p:txBody>
        </p:sp>
        <p:grpSp>
          <p:nvGrpSpPr>
            <p:cNvPr id="407" name="Group 406"/>
            <p:cNvGrpSpPr/>
            <p:nvPr/>
          </p:nvGrpSpPr>
          <p:grpSpPr>
            <a:xfrm>
              <a:off x="5878365" y="3894257"/>
              <a:ext cx="96166" cy="225887"/>
              <a:chOff x="10799919" y="2730734"/>
              <a:chExt cx="180000" cy="422808"/>
            </a:xfrm>
          </p:grpSpPr>
          <p:sp>
            <p:nvSpPr>
              <p:cNvPr id="446" name="Isosceles Triangle 445"/>
              <p:cNvSpPr/>
              <p:nvPr/>
            </p:nvSpPr>
            <p:spPr>
              <a:xfrm>
                <a:off x="10813708" y="2859773"/>
                <a:ext cx="152421" cy="179922"/>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7" name="Straight Connector 446"/>
              <p:cNvCxnSpPr/>
              <p:nvPr/>
            </p:nvCxnSpPr>
            <p:spPr>
              <a:xfrm>
                <a:off x="10799919" y="2862056"/>
                <a:ext cx="180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8" name="Straight Connector 447"/>
              <p:cNvCxnSpPr/>
              <p:nvPr/>
            </p:nvCxnSpPr>
            <p:spPr>
              <a:xfrm rot="5400000">
                <a:off x="10678515" y="2940175"/>
                <a:ext cx="422808" cy="39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09" name="Group 408"/>
            <p:cNvGrpSpPr/>
            <p:nvPr/>
          </p:nvGrpSpPr>
          <p:grpSpPr>
            <a:xfrm>
              <a:off x="5875965" y="4629107"/>
              <a:ext cx="96166" cy="225887"/>
              <a:chOff x="10799919" y="2730734"/>
              <a:chExt cx="180000" cy="422808"/>
            </a:xfrm>
          </p:grpSpPr>
          <p:sp>
            <p:nvSpPr>
              <p:cNvPr id="443" name="Isosceles Triangle 442"/>
              <p:cNvSpPr/>
              <p:nvPr/>
            </p:nvSpPr>
            <p:spPr>
              <a:xfrm>
                <a:off x="10813708" y="2859773"/>
                <a:ext cx="152421" cy="179922"/>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4" name="Straight Connector 443"/>
              <p:cNvCxnSpPr/>
              <p:nvPr/>
            </p:nvCxnSpPr>
            <p:spPr>
              <a:xfrm>
                <a:off x="10799919" y="2862056"/>
                <a:ext cx="180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5" name="Straight Connector 444"/>
              <p:cNvCxnSpPr/>
              <p:nvPr/>
            </p:nvCxnSpPr>
            <p:spPr>
              <a:xfrm rot="5400000">
                <a:off x="10678515" y="2940175"/>
                <a:ext cx="422808" cy="39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10" name="Right Bracket 409"/>
            <p:cNvSpPr/>
            <p:nvPr/>
          </p:nvSpPr>
          <p:spPr>
            <a:xfrm>
              <a:off x="6117977" y="4011259"/>
              <a:ext cx="169626" cy="734849"/>
            </a:xfrm>
            <a:prstGeom prst="rightBracket">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12" name="Oval 411"/>
            <p:cNvSpPr/>
            <p:nvPr/>
          </p:nvSpPr>
          <p:spPr>
            <a:xfrm>
              <a:off x="6179133" y="4296326"/>
              <a:ext cx="238027" cy="22381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4" name="Minus 413"/>
            <p:cNvSpPr/>
            <p:nvPr/>
          </p:nvSpPr>
          <p:spPr>
            <a:xfrm>
              <a:off x="6221670" y="4369167"/>
              <a:ext cx="153866" cy="79048"/>
            </a:xfrm>
            <a:prstGeom prst="mathMinu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5" name="CustomShape 2 1 2"/>
            <p:cNvSpPr/>
            <p:nvPr/>
          </p:nvSpPr>
          <p:spPr>
            <a:xfrm>
              <a:off x="3810105" y="2832331"/>
              <a:ext cx="489569" cy="329761"/>
            </a:xfrm>
            <a:prstGeom prst="rect">
              <a:avLst/>
            </a:prstGeom>
            <a:noFill/>
            <a:ln>
              <a:noFill/>
            </a:ln>
          </p:spPr>
          <p:txBody>
            <a:bodyPr wrap="none" lIns="90000" tIns="45000" rIns="90000" bIns="45000"/>
            <a:lstStyle/>
            <a:p>
              <a:pPr>
                <a:lnSpc>
                  <a:spcPct val="100000"/>
                </a:lnSpc>
              </a:pPr>
              <a:r>
                <a:rPr lang="en-US" sz="1800" smtClean="0">
                  <a:solidFill>
                    <a:srgbClr val="000000"/>
                  </a:solidFill>
                  <a:latin typeface="Arial"/>
                </a:rPr>
                <a:t>LO</a:t>
              </a:r>
              <a:endParaRPr sz="1800" dirty="0"/>
            </a:p>
          </p:txBody>
        </p:sp>
        <p:sp>
          <p:nvSpPr>
            <p:cNvPr id="424" name="CustomShape 2 1 3"/>
            <p:cNvSpPr/>
            <p:nvPr/>
          </p:nvSpPr>
          <p:spPr>
            <a:xfrm>
              <a:off x="3761144" y="3564496"/>
              <a:ext cx="489569" cy="329761"/>
            </a:xfrm>
            <a:prstGeom prst="rect">
              <a:avLst/>
            </a:prstGeom>
            <a:noFill/>
            <a:ln>
              <a:noFill/>
            </a:ln>
          </p:spPr>
          <p:txBody>
            <a:bodyPr wrap="none" lIns="90000" tIns="45000" rIns="90000" bIns="45000"/>
            <a:lstStyle/>
            <a:p>
              <a:pPr>
                <a:lnSpc>
                  <a:spcPct val="100000"/>
                </a:lnSpc>
              </a:pPr>
              <a:r>
                <a:rPr lang="en-US" sz="1800" smtClean="0">
                  <a:solidFill>
                    <a:srgbClr val="000000"/>
                  </a:solidFill>
                  <a:latin typeface="Arial"/>
                </a:rPr>
                <a:t>Sig</a:t>
              </a:r>
              <a:endParaRPr sz="1800" dirty="0"/>
            </a:p>
          </p:txBody>
        </p:sp>
        <p:sp>
          <p:nvSpPr>
            <p:cNvPr id="425" name="Rectangle 424"/>
            <p:cNvSpPr/>
            <p:nvPr/>
          </p:nvSpPr>
          <p:spPr>
            <a:xfrm>
              <a:off x="4525043" y="2736206"/>
              <a:ext cx="1116383" cy="2057965"/>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26" name="Group 425"/>
            <p:cNvGrpSpPr/>
            <p:nvPr/>
          </p:nvGrpSpPr>
          <p:grpSpPr>
            <a:xfrm>
              <a:off x="5857940" y="2660915"/>
              <a:ext cx="258252" cy="236253"/>
              <a:chOff x="5857940" y="2660915"/>
              <a:chExt cx="258252" cy="236253"/>
            </a:xfrm>
          </p:grpSpPr>
          <p:sp>
            <p:nvSpPr>
              <p:cNvPr id="438" name="AutoShape 26 2"/>
              <p:cNvSpPr>
                <a:spLocks noChangeArrowheads="1"/>
              </p:cNvSpPr>
              <p:nvPr/>
            </p:nvSpPr>
            <p:spPr bwMode="auto">
              <a:xfrm>
                <a:off x="5857940" y="2660915"/>
                <a:ext cx="258252" cy="236253"/>
              </a:xfrm>
              <a:prstGeom prst="flowChartDelay">
                <a:avLst/>
              </a:prstGeom>
              <a:solidFill>
                <a:schemeClr val="bg2">
                  <a:lumMod val="90000"/>
                </a:schemeClr>
              </a:solidFill>
              <a:ln w="9525">
                <a:solidFill>
                  <a:schemeClr val="tx1"/>
                </a:solidFill>
                <a:miter lim="800000"/>
                <a:headEnd/>
                <a:tailEnd/>
              </a:ln>
              <a:effectLst/>
              <a:extLst/>
            </p:spPr>
            <p:txBody>
              <a:bodyPr wrap="none" anchor="ctr"/>
              <a:lstStyle/>
              <a:p>
                <a:endParaRPr lang="en-GB" dirty="0"/>
              </a:p>
            </p:txBody>
          </p:sp>
          <p:grpSp>
            <p:nvGrpSpPr>
              <p:cNvPr id="439" name="Group 438"/>
              <p:cNvGrpSpPr/>
              <p:nvPr/>
            </p:nvGrpSpPr>
            <p:grpSpPr>
              <a:xfrm>
                <a:off x="5875537" y="2667267"/>
                <a:ext cx="96166" cy="225887"/>
                <a:chOff x="10799919" y="2730734"/>
                <a:chExt cx="180000" cy="422808"/>
              </a:xfrm>
            </p:grpSpPr>
            <p:sp>
              <p:nvSpPr>
                <p:cNvPr id="440" name="Isosceles Triangle 439"/>
                <p:cNvSpPr/>
                <p:nvPr/>
              </p:nvSpPr>
              <p:spPr>
                <a:xfrm>
                  <a:off x="10813708" y="2859773"/>
                  <a:ext cx="152421" cy="179922"/>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1" name="Straight Connector 440"/>
                <p:cNvCxnSpPr/>
                <p:nvPr/>
              </p:nvCxnSpPr>
              <p:spPr>
                <a:xfrm>
                  <a:off x="10799919" y="2862056"/>
                  <a:ext cx="180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2" name="Straight Connector 441"/>
                <p:cNvCxnSpPr/>
                <p:nvPr/>
              </p:nvCxnSpPr>
              <p:spPr>
                <a:xfrm rot="5400000">
                  <a:off x="10678515" y="2940175"/>
                  <a:ext cx="422808" cy="39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27" name="Group 426"/>
            <p:cNvGrpSpPr/>
            <p:nvPr/>
          </p:nvGrpSpPr>
          <p:grpSpPr>
            <a:xfrm>
              <a:off x="5857940" y="3396455"/>
              <a:ext cx="258252" cy="237210"/>
              <a:chOff x="5857940" y="3396455"/>
              <a:chExt cx="258252" cy="237210"/>
            </a:xfrm>
          </p:grpSpPr>
          <p:sp>
            <p:nvSpPr>
              <p:cNvPr id="433" name="AutoShape 25 2"/>
              <p:cNvSpPr>
                <a:spLocks noChangeArrowheads="1"/>
              </p:cNvSpPr>
              <p:nvPr/>
            </p:nvSpPr>
            <p:spPr bwMode="auto">
              <a:xfrm>
                <a:off x="5857940" y="3396455"/>
                <a:ext cx="258252" cy="237210"/>
              </a:xfrm>
              <a:prstGeom prst="flowChartDelay">
                <a:avLst/>
              </a:prstGeom>
              <a:solidFill>
                <a:schemeClr val="bg2">
                  <a:lumMod val="90000"/>
                </a:schemeClr>
              </a:solidFill>
              <a:ln w="9525">
                <a:solidFill>
                  <a:schemeClr val="tx1"/>
                </a:solidFill>
                <a:miter lim="800000"/>
                <a:headEnd/>
                <a:tailEnd/>
              </a:ln>
              <a:effectLst/>
              <a:extLst/>
            </p:spPr>
            <p:txBody>
              <a:bodyPr wrap="none" anchor="ctr"/>
              <a:lstStyle/>
              <a:p>
                <a:endParaRPr lang="en-GB" dirty="0"/>
              </a:p>
            </p:txBody>
          </p:sp>
          <p:grpSp>
            <p:nvGrpSpPr>
              <p:cNvPr id="434" name="Group 433"/>
              <p:cNvGrpSpPr/>
              <p:nvPr/>
            </p:nvGrpSpPr>
            <p:grpSpPr>
              <a:xfrm>
                <a:off x="5873137" y="3402117"/>
                <a:ext cx="96166" cy="225887"/>
                <a:chOff x="10799919" y="2730734"/>
                <a:chExt cx="180000" cy="422808"/>
              </a:xfrm>
            </p:grpSpPr>
            <p:sp>
              <p:nvSpPr>
                <p:cNvPr id="435" name="Isosceles Triangle 434"/>
                <p:cNvSpPr/>
                <p:nvPr/>
              </p:nvSpPr>
              <p:spPr>
                <a:xfrm>
                  <a:off x="10813708" y="2859773"/>
                  <a:ext cx="152421" cy="179922"/>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36" name="Straight Connector 435"/>
                <p:cNvCxnSpPr/>
                <p:nvPr/>
              </p:nvCxnSpPr>
              <p:spPr>
                <a:xfrm>
                  <a:off x="10799919" y="2862056"/>
                  <a:ext cx="180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7" name="Straight Connector 436"/>
                <p:cNvCxnSpPr/>
                <p:nvPr/>
              </p:nvCxnSpPr>
              <p:spPr>
                <a:xfrm rot="5400000">
                  <a:off x="10678515" y="2940175"/>
                  <a:ext cx="422808" cy="39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428" name="CustomShape 2 1 2"/>
            <p:cNvSpPr/>
            <p:nvPr/>
          </p:nvSpPr>
          <p:spPr>
            <a:xfrm>
              <a:off x="4642529" y="3227169"/>
              <a:ext cx="897918" cy="1061404"/>
            </a:xfrm>
            <a:prstGeom prst="rect">
              <a:avLst/>
            </a:prstGeom>
            <a:noFill/>
            <a:ln>
              <a:noFill/>
            </a:ln>
          </p:spPr>
          <p:txBody>
            <a:bodyPr wrap="none" lIns="90000" tIns="45000" rIns="90000" bIns="45000"/>
            <a:lstStyle/>
            <a:p>
              <a:pPr>
                <a:lnSpc>
                  <a:spcPct val="100000"/>
                </a:lnSpc>
              </a:pPr>
              <a:r>
                <a:rPr lang="en-US" sz="1800" smtClean="0">
                  <a:solidFill>
                    <a:schemeClr val="bg1"/>
                  </a:solidFill>
                  <a:latin typeface="Arial"/>
                </a:rPr>
                <a:t>90 deg</a:t>
              </a:r>
            </a:p>
            <a:p>
              <a:pPr>
                <a:lnSpc>
                  <a:spcPct val="100000"/>
                </a:lnSpc>
              </a:pPr>
              <a:r>
                <a:rPr lang="en-US" sz="1800" smtClean="0">
                  <a:solidFill>
                    <a:schemeClr val="bg1"/>
                  </a:solidFill>
                  <a:latin typeface="Arial"/>
                </a:rPr>
                <a:t>optical</a:t>
              </a:r>
            </a:p>
            <a:p>
              <a:pPr>
                <a:lnSpc>
                  <a:spcPct val="100000"/>
                </a:lnSpc>
              </a:pPr>
              <a:r>
                <a:rPr lang="en-US" sz="1800" smtClean="0">
                  <a:solidFill>
                    <a:schemeClr val="bg1"/>
                  </a:solidFill>
                  <a:latin typeface="Arial"/>
                </a:rPr>
                <a:t>hybrid</a:t>
              </a:r>
              <a:endParaRPr sz="1800" dirty="0">
                <a:solidFill>
                  <a:schemeClr val="bg1"/>
                </a:solidFill>
              </a:endParaRPr>
            </a:p>
          </p:txBody>
        </p:sp>
        <p:sp>
          <p:nvSpPr>
            <p:cNvPr id="429" name="Rectangle 428"/>
            <p:cNvSpPr/>
            <p:nvPr/>
          </p:nvSpPr>
          <p:spPr>
            <a:xfrm>
              <a:off x="6660767" y="2714021"/>
              <a:ext cx="1362677" cy="2057965"/>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0" name="CustomShape 2 1 2"/>
            <p:cNvSpPr/>
            <p:nvPr/>
          </p:nvSpPr>
          <p:spPr>
            <a:xfrm>
              <a:off x="6700434" y="3042005"/>
              <a:ext cx="1241358" cy="1306549"/>
            </a:xfrm>
            <a:prstGeom prst="rect">
              <a:avLst/>
            </a:prstGeom>
            <a:noFill/>
            <a:ln>
              <a:noFill/>
            </a:ln>
          </p:spPr>
          <p:txBody>
            <a:bodyPr wrap="none" lIns="90000" tIns="45000" rIns="90000" bIns="45000"/>
            <a:lstStyle/>
            <a:p>
              <a:pPr>
                <a:lnSpc>
                  <a:spcPct val="100000"/>
                </a:lnSpc>
              </a:pPr>
              <a:r>
                <a:rPr lang="en-US" sz="1800" smtClean="0">
                  <a:solidFill>
                    <a:schemeClr val="bg1"/>
                  </a:solidFill>
                  <a:latin typeface="Arial"/>
                </a:rPr>
                <a:t>Relatively </a:t>
              </a:r>
            </a:p>
            <a:p>
              <a:pPr>
                <a:lnSpc>
                  <a:spcPct val="100000"/>
                </a:lnSpc>
              </a:pPr>
              <a:r>
                <a:rPr lang="en-US" sz="1800" smtClean="0">
                  <a:solidFill>
                    <a:schemeClr val="bg1"/>
                  </a:solidFill>
                  <a:latin typeface="Arial"/>
                </a:rPr>
                <a:t>simple</a:t>
              </a:r>
            </a:p>
            <a:p>
              <a:pPr>
                <a:lnSpc>
                  <a:spcPct val="100000"/>
                </a:lnSpc>
              </a:pPr>
              <a:r>
                <a:rPr lang="en-US" sz="1800" smtClean="0">
                  <a:solidFill>
                    <a:schemeClr val="bg1"/>
                  </a:solidFill>
                  <a:latin typeface="Arial"/>
                </a:rPr>
                <a:t>analog </a:t>
              </a:r>
            </a:p>
            <a:p>
              <a:pPr>
                <a:lnSpc>
                  <a:spcPct val="100000"/>
                </a:lnSpc>
              </a:pPr>
              <a:r>
                <a:rPr lang="en-US" sz="1800" smtClean="0">
                  <a:solidFill>
                    <a:schemeClr val="bg1"/>
                  </a:solidFill>
                  <a:latin typeface="Arial"/>
                </a:rPr>
                <a:t>electronics</a:t>
              </a:r>
            </a:p>
            <a:p>
              <a:pPr>
                <a:lnSpc>
                  <a:spcPct val="100000"/>
                </a:lnSpc>
              </a:pPr>
              <a:r>
                <a:rPr lang="en-US" sz="1800">
                  <a:solidFill>
                    <a:schemeClr val="bg1"/>
                  </a:solidFill>
                  <a:latin typeface="Arial"/>
                </a:rPr>
                <a:t>p</a:t>
              </a:r>
              <a:r>
                <a:rPr lang="en-US" sz="1800" smtClean="0">
                  <a:solidFill>
                    <a:schemeClr val="bg1"/>
                  </a:solidFill>
                  <a:latin typeface="Arial"/>
                </a:rPr>
                <a:t>rocessing</a:t>
              </a:r>
              <a:endParaRPr sz="1800" dirty="0">
                <a:solidFill>
                  <a:schemeClr val="bg1"/>
                </a:solidFill>
              </a:endParaRPr>
            </a:p>
          </p:txBody>
        </p:sp>
        <p:sp>
          <p:nvSpPr>
            <p:cNvPr id="431" name="Right Arrow 430"/>
            <p:cNvSpPr/>
            <p:nvPr/>
          </p:nvSpPr>
          <p:spPr>
            <a:xfrm flipV="1">
              <a:off x="6412375" y="3151693"/>
              <a:ext cx="240539" cy="54635"/>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2" name="Right Arrow 431"/>
            <p:cNvSpPr/>
            <p:nvPr/>
          </p:nvSpPr>
          <p:spPr>
            <a:xfrm flipV="1">
              <a:off x="6410940" y="4378683"/>
              <a:ext cx="240539" cy="54635"/>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55" name="Group 454"/>
          <p:cNvGrpSpPr/>
          <p:nvPr/>
        </p:nvGrpSpPr>
        <p:grpSpPr>
          <a:xfrm>
            <a:off x="14566565" y="13700919"/>
            <a:ext cx="4377072" cy="1858149"/>
            <a:chOff x="14033165" y="14278428"/>
            <a:chExt cx="4377072" cy="1858149"/>
          </a:xfrm>
        </p:grpSpPr>
        <p:grpSp>
          <p:nvGrpSpPr>
            <p:cNvPr id="456" name="Group 455"/>
            <p:cNvGrpSpPr/>
            <p:nvPr/>
          </p:nvGrpSpPr>
          <p:grpSpPr>
            <a:xfrm>
              <a:off x="16639140" y="14310519"/>
              <a:ext cx="1771097" cy="1826058"/>
              <a:chOff x="16933401" y="15137906"/>
              <a:chExt cx="1771097" cy="1826058"/>
            </a:xfrm>
          </p:grpSpPr>
          <p:sp>
            <p:nvSpPr>
              <p:cNvPr id="483" name="Rectangle 482"/>
              <p:cNvSpPr/>
              <p:nvPr/>
            </p:nvSpPr>
            <p:spPr>
              <a:xfrm>
                <a:off x="16933401" y="15137906"/>
                <a:ext cx="1771097" cy="1826058"/>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4" name="CustomShape 2 1 2"/>
              <p:cNvSpPr/>
              <p:nvPr/>
            </p:nvSpPr>
            <p:spPr>
              <a:xfrm>
                <a:off x="16957066" y="15386931"/>
                <a:ext cx="1638439" cy="1503575"/>
              </a:xfrm>
              <a:prstGeom prst="rect">
                <a:avLst/>
              </a:prstGeom>
              <a:noFill/>
              <a:ln>
                <a:noFill/>
              </a:ln>
            </p:spPr>
            <p:txBody>
              <a:bodyPr wrap="none" lIns="90000" tIns="45000" rIns="90000" bIns="45000"/>
              <a:lstStyle/>
              <a:p>
                <a:pPr>
                  <a:lnSpc>
                    <a:spcPct val="100000"/>
                  </a:lnSpc>
                </a:pPr>
                <a:r>
                  <a:rPr lang="en-US" sz="1800" dirty="0" smtClean="0">
                    <a:solidFill>
                      <a:schemeClr val="bg1"/>
                    </a:solidFill>
                    <a:latin typeface="Arial"/>
                  </a:rPr>
                  <a:t>Rather complex</a:t>
                </a:r>
              </a:p>
              <a:p>
                <a:pPr>
                  <a:lnSpc>
                    <a:spcPct val="100000"/>
                  </a:lnSpc>
                </a:pPr>
                <a:r>
                  <a:rPr lang="en-US" sz="1800" dirty="0" smtClean="0">
                    <a:solidFill>
                      <a:schemeClr val="bg1"/>
                    </a:solidFill>
                    <a:latin typeface="Arial"/>
                  </a:rPr>
                  <a:t>digital + analog </a:t>
                </a:r>
              </a:p>
              <a:p>
                <a:pPr>
                  <a:lnSpc>
                    <a:spcPct val="100000"/>
                  </a:lnSpc>
                </a:pPr>
                <a:r>
                  <a:rPr lang="en-US" sz="1800" dirty="0" smtClean="0">
                    <a:solidFill>
                      <a:schemeClr val="bg1"/>
                    </a:solidFill>
                    <a:latin typeface="Arial"/>
                  </a:rPr>
                  <a:t>electronics</a:t>
                </a:r>
              </a:p>
              <a:p>
                <a:pPr>
                  <a:lnSpc>
                    <a:spcPct val="100000"/>
                  </a:lnSpc>
                </a:pPr>
                <a:r>
                  <a:rPr lang="en-US" sz="1800" dirty="0" smtClean="0">
                    <a:solidFill>
                      <a:schemeClr val="bg1"/>
                    </a:solidFill>
                    <a:latin typeface="Arial"/>
                  </a:rPr>
                  <a:t>processing</a:t>
                </a:r>
              </a:p>
            </p:txBody>
          </p:sp>
        </p:grpSp>
        <p:grpSp>
          <p:nvGrpSpPr>
            <p:cNvPr id="457" name="Group 456"/>
            <p:cNvGrpSpPr/>
            <p:nvPr/>
          </p:nvGrpSpPr>
          <p:grpSpPr>
            <a:xfrm>
              <a:off x="14033165" y="14278428"/>
              <a:ext cx="2562529" cy="1745973"/>
              <a:chOff x="14298715" y="13577035"/>
              <a:chExt cx="2562529" cy="1745973"/>
            </a:xfrm>
          </p:grpSpPr>
          <p:sp>
            <p:nvSpPr>
              <p:cNvPr id="458" name="Right Bracket 457"/>
              <p:cNvSpPr/>
              <p:nvPr/>
            </p:nvSpPr>
            <p:spPr>
              <a:xfrm>
                <a:off x="16380795" y="13688918"/>
                <a:ext cx="106976" cy="1543464"/>
              </a:xfrm>
              <a:prstGeom prst="rightBracket">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9" name="Oval 458"/>
              <p:cNvSpPr/>
              <p:nvPr/>
            </p:nvSpPr>
            <p:spPr>
              <a:xfrm>
                <a:off x="16384635" y="14261943"/>
                <a:ext cx="238027" cy="22381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0" name="Minus 459"/>
              <p:cNvSpPr/>
              <p:nvPr/>
            </p:nvSpPr>
            <p:spPr>
              <a:xfrm>
                <a:off x="16427172" y="14334784"/>
                <a:ext cx="153866" cy="79048"/>
              </a:xfrm>
              <a:prstGeom prst="mathMinu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1" name="CustomShape 2 1 2"/>
              <p:cNvSpPr/>
              <p:nvPr/>
            </p:nvSpPr>
            <p:spPr>
              <a:xfrm>
                <a:off x="14339268" y="13651637"/>
                <a:ext cx="489569" cy="329761"/>
              </a:xfrm>
              <a:prstGeom prst="rect">
                <a:avLst/>
              </a:prstGeom>
              <a:noFill/>
              <a:ln>
                <a:noFill/>
              </a:ln>
            </p:spPr>
            <p:txBody>
              <a:bodyPr wrap="none" lIns="90000" tIns="45000" rIns="90000" bIns="45000"/>
              <a:lstStyle/>
              <a:p>
                <a:pPr>
                  <a:lnSpc>
                    <a:spcPct val="100000"/>
                  </a:lnSpc>
                </a:pPr>
                <a:r>
                  <a:rPr lang="en-US" sz="1800" smtClean="0">
                    <a:solidFill>
                      <a:srgbClr val="000000"/>
                    </a:solidFill>
                    <a:latin typeface="Arial"/>
                  </a:rPr>
                  <a:t>LO</a:t>
                </a:r>
                <a:endParaRPr sz="1800" dirty="0"/>
              </a:p>
            </p:txBody>
          </p:sp>
          <p:sp>
            <p:nvSpPr>
              <p:cNvPr id="462" name="CustomShape 2 1 3"/>
              <p:cNvSpPr/>
              <p:nvPr/>
            </p:nvSpPr>
            <p:spPr>
              <a:xfrm>
                <a:off x="14298715" y="14859203"/>
                <a:ext cx="489569" cy="329761"/>
              </a:xfrm>
              <a:prstGeom prst="rect">
                <a:avLst/>
              </a:prstGeom>
              <a:noFill/>
              <a:ln>
                <a:noFill/>
              </a:ln>
            </p:spPr>
            <p:txBody>
              <a:bodyPr wrap="none" lIns="90000" tIns="45000" rIns="90000" bIns="45000"/>
              <a:lstStyle/>
              <a:p>
                <a:pPr>
                  <a:lnSpc>
                    <a:spcPct val="100000"/>
                  </a:lnSpc>
                </a:pPr>
                <a:r>
                  <a:rPr lang="en-US" sz="1800" smtClean="0">
                    <a:solidFill>
                      <a:srgbClr val="000000"/>
                    </a:solidFill>
                    <a:latin typeface="Arial"/>
                  </a:rPr>
                  <a:t>Sig</a:t>
                </a:r>
                <a:endParaRPr sz="1800" dirty="0"/>
              </a:p>
            </p:txBody>
          </p:sp>
          <p:grpSp>
            <p:nvGrpSpPr>
              <p:cNvPr id="463" name="Group 462"/>
              <p:cNvGrpSpPr/>
              <p:nvPr/>
            </p:nvGrpSpPr>
            <p:grpSpPr>
              <a:xfrm>
                <a:off x="16105680" y="15086755"/>
                <a:ext cx="258252" cy="236253"/>
                <a:chOff x="5857940" y="2660915"/>
                <a:chExt cx="258252" cy="236253"/>
              </a:xfrm>
            </p:grpSpPr>
            <p:sp>
              <p:nvSpPr>
                <p:cNvPr id="478" name="AutoShape 26 2"/>
                <p:cNvSpPr>
                  <a:spLocks noChangeArrowheads="1"/>
                </p:cNvSpPr>
                <p:nvPr/>
              </p:nvSpPr>
              <p:spPr bwMode="auto">
                <a:xfrm>
                  <a:off x="5857940" y="2660915"/>
                  <a:ext cx="258252" cy="236253"/>
                </a:xfrm>
                <a:prstGeom prst="flowChartDelay">
                  <a:avLst/>
                </a:prstGeom>
                <a:solidFill>
                  <a:schemeClr val="bg2">
                    <a:lumMod val="90000"/>
                  </a:schemeClr>
                </a:solidFill>
                <a:ln w="9525">
                  <a:solidFill>
                    <a:schemeClr val="tx1"/>
                  </a:solidFill>
                  <a:miter lim="800000"/>
                  <a:headEnd/>
                  <a:tailEnd/>
                </a:ln>
                <a:effectLst/>
                <a:extLst/>
              </p:spPr>
              <p:txBody>
                <a:bodyPr wrap="none" anchor="ctr"/>
                <a:lstStyle/>
                <a:p>
                  <a:endParaRPr lang="en-GB" dirty="0"/>
                </a:p>
              </p:txBody>
            </p:sp>
            <p:grpSp>
              <p:nvGrpSpPr>
                <p:cNvPr id="479" name="Group 478"/>
                <p:cNvGrpSpPr/>
                <p:nvPr/>
              </p:nvGrpSpPr>
              <p:grpSpPr>
                <a:xfrm>
                  <a:off x="5875537" y="2667267"/>
                  <a:ext cx="96166" cy="225887"/>
                  <a:chOff x="10799919" y="2730734"/>
                  <a:chExt cx="180000" cy="422808"/>
                </a:xfrm>
              </p:grpSpPr>
              <p:sp>
                <p:nvSpPr>
                  <p:cNvPr id="480" name="Isosceles Triangle 479"/>
                  <p:cNvSpPr/>
                  <p:nvPr/>
                </p:nvSpPr>
                <p:spPr>
                  <a:xfrm>
                    <a:off x="10813708" y="2859773"/>
                    <a:ext cx="152421" cy="179922"/>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81" name="Straight Connector 480"/>
                  <p:cNvCxnSpPr/>
                  <p:nvPr/>
                </p:nvCxnSpPr>
                <p:spPr>
                  <a:xfrm>
                    <a:off x="10799919" y="2862056"/>
                    <a:ext cx="180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2" name="Straight Connector 481"/>
                  <p:cNvCxnSpPr/>
                  <p:nvPr/>
                </p:nvCxnSpPr>
                <p:spPr>
                  <a:xfrm rot="5400000">
                    <a:off x="10678515" y="2940175"/>
                    <a:ext cx="422808" cy="39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64" name="Group 463"/>
              <p:cNvGrpSpPr/>
              <p:nvPr/>
            </p:nvGrpSpPr>
            <p:grpSpPr>
              <a:xfrm>
                <a:off x="16106209" y="13577035"/>
                <a:ext cx="258252" cy="237210"/>
                <a:chOff x="5857940" y="3396455"/>
                <a:chExt cx="258252" cy="237210"/>
              </a:xfrm>
            </p:grpSpPr>
            <p:sp>
              <p:nvSpPr>
                <p:cNvPr id="473" name="AutoShape 25 2"/>
                <p:cNvSpPr>
                  <a:spLocks noChangeArrowheads="1"/>
                </p:cNvSpPr>
                <p:nvPr/>
              </p:nvSpPr>
              <p:spPr bwMode="auto">
                <a:xfrm>
                  <a:off x="5857940" y="3396455"/>
                  <a:ext cx="258252" cy="237210"/>
                </a:xfrm>
                <a:prstGeom prst="flowChartDelay">
                  <a:avLst/>
                </a:prstGeom>
                <a:solidFill>
                  <a:schemeClr val="bg2">
                    <a:lumMod val="90000"/>
                  </a:schemeClr>
                </a:solidFill>
                <a:ln w="9525">
                  <a:solidFill>
                    <a:schemeClr val="tx1"/>
                  </a:solidFill>
                  <a:miter lim="800000"/>
                  <a:headEnd/>
                  <a:tailEnd/>
                </a:ln>
                <a:effectLst/>
                <a:extLst/>
              </p:spPr>
              <p:txBody>
                <a:bodyPr wrap="none" anchor="ctr"/>
                <a:lstStyle/>
                <a:p>
                  <a:endParaRPr lang="en-GB" dirty="0"/>
                </a:p>
              </p:txBody>
            </p:sp>
            <p:grpSp>
              <p:nvGrpSpPr>
                <p:cNvPr id="474" name="Group 473"/>
                <p:cNvGrpSpPr/>
                <p:nvPr/>
              </p:nvGrpSpPr>
              <p:grpSpPr>
                <a:xfrm>
                  <a:off x="5873137" y="3402117"/>
                  <a:ext cx="96166" cy="225887"/>
                  <a:chOff x="10799919" y="2730734"/>
                  <a:chExt cx="180000" cy="422808"/>
                </a:xfrm>
              </p:grpSpPr>
              <p:sp>
                <p:nvSpPr>
                  <p:cNvPr id="475" name="Isosceles Triangle 474"/>
                  <p:cNvSpPr/>
                  <p:nvPr/>
                </p:nvSpPr>
                <p:spPr>
                  <a:xfrm>
                    <a:off x="10813708" y="2859773"/>
                    <a:ext cx="152421" cy="179922"/>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76" name="Straight Connector 475"/>
                  <p:cNvCxnSpPr/>
                  <p:nvPr/>
                </p:nvCxnSpPr>
                <p:spPr>
                  <a:xfrm>
                    <a:off x="10799919" y="2862056"/>
                    <a:ext cx="180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7" name="Straight Connector 476"/>
                  <p:cNvCxnSpPr/>
                  <p:nvPr/>
                </p:nvCxnSpPr>
                <p:spPr>
                  <a:xfrm rot="5400000">
                    <a:off x="10678515" y="2940175"/>
                    <a:ext cx="422808" cy="39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465" name="Right Arrow 464"/>
              <p:cNvSpPr/>
              <p:nvPr/>
            </p:nvSpPr>
            <p:spPr>
              <a:xfrm flipV="1">
                <a:off x="16620705" y="14344300"/>
                <a:ext cx="240539" cy="54635"/>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66" name="Group 465"/>
              <p:cNvGrpSpPr/>
              <p:nvPr/>
            </p:nvGrpSpPr>
            <p:grpSpPr>
              <a:xfrm>
                <a:off x="15502920" y="13690862"/>
                <a:ext cx="602760" cy="1522566"/>
                <a:chOff x="5522862" y="2857986"/>
                <a:chExt cx="1069975" cy="1225550"/>
              </a:xfrm>
            </p:grpSpPr>
            <p:cxnSp>
              <p:nvCxnSpPr>
                <p:cNvPr id="471" name="AutoShape 12 3"/>
                <p:cNvCxnSpPr>
                  <a:cxnSpLocks noChangeShapeType="1"/>
                </p:cNvCxnSpPr>
                <p:nvPr/>
              </p:nvCxnSpPr>
              <p:spPr bwMode="auto">
                <a:xfrm flipV="1">
                  <a:off x="5522862" y="2857986"/>
                  <a:ext cx="1069975" cy="611188"/>
                </a:xfrm>
                <a:prstGeom prst="curvedConnector3">
                  <a:avLst>
                    <a:gd name="adj1" fmla="val 65833"/>
                  </a:avLst>
                </a:prstGeom>
                <a:noFill/>
                <a:ln w="31750">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2" name="AutoShape 16 3"/>
                <p:cNvCxnSpPr>
                  <a:cxnSpLocks noChangeShapeType="1"/>
                </p:cNvCxnSpPr>
                <p:nvPr/>
              </p:nvCxnSpPr>
              <p:spPr bwMode="auto">
                <a:xfrm>
                  <a:off x="5522862" y="3448536"/>
                  <a:ext cx="1069975" cy="635000"/>
                </a:xfrm>
                <a:prstGeom prst="curvedConnector3">
                  <a:avLst>
                    <a:gd name="adj1" fmla="val 69167"/>
                  </a:avLst>
                </a:prstGeom>
                <a:noFill/>
                <a:ln w="31750">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67" name="Group 466"/>
              <p:cNvGrpSpPr/>
              <p:nvPr/>
            </p:nvGrpSpPr>
            <p:grpSpPr>
              <a:xfrm>
                <a:off x="14735150" y="13690800"/>
                <a:ext cx="892356" cy="1522566"/>
                <a:chOff x="5522862" y="2857986"/>
                <a:chExt cx="1069975" cy="1225550"/>
              </a:xfrm>
              <a:scene3d>
                <a:camera prst="orthographicFront">
                  <a:rot lat="0" lon="10800000" rev="0"/>
                </a:camera>
                <a:lightRig rig="threePt" dir="t"/>
              </a:scene3d>
            </p:grpSpPr>
            <p:cxnSp>
              <p:nvCxnSpPr>
                <p:cNvPr id="469" name="AutoShape 12 3"/>
                <p:cNvCxnSpPr>
                  <a:cxnSpLocks noChangeShapeType="1"/>
                </p:cNvCxnSpPr>
                <p:nvPr/>
              </p:nvCxnSpPr>
              <p:spPr bwMode="auto">
                <a:xfrm flipV="1">
                  <a:off x="5522862" y="2857986"/>
                  <a:ext cx="1069975" cy="611188"/>
                </a:xfrm>
                <a:prstGeom prst="curvedConnector3">
                  <a:avLst>
                    <a:gd name="adj1" fmla="val 65833"/>
                  </a:avLst>
                </a:prstGeom>
                <a:noFill/>
                <a:ln w="31750">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0" name="AutoShape 16 3"/>
                <p:cNvCxnSpPr>
                  <a:cxnSpLocks noChangeShapeType="1"/>
                </p:cNvCxnSpPr>
                <p:nvPr/>
              </p:nvCxnSpPr>
              <p:spPr bwMode="auto">
                <a:xfrm>
                  <a:off x="5522862" y="3448536"/>
                  <a:ext cx="1069975" cy="635000"/>
                </a:xfrm>
                <a:prstGeom prst="curvedConnector3">
                  <a:avLst>
                    <a:gd name="adj1" fmla="val 69167"/>
                  </a:avLst>
                </a:prstGeom>
                <a:noFill/>
                <a:ln w="31750">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468" name="Rectangle 467"/>
              <p:cNvSpPr/>
              <p:nvPr/>
            </p:nvSpPr>
            <p:spPr>
              <a:xfrm>
                <a:off x="15308267" y="14371617"/>
                <a:ext cx="426417" cy="129793"/>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485" name="TextBox 484"/>
          <p:cNvSpPr txBox="1"/>
          <p:nvPr/>
        </p:nvSpPr>
        <p:spPr>
          <a:xfrm>
            <a:off x="8812056" y="15834519"/>
            <a:ext cx="5559581" cy="1938992"/>
          </a:xfrm>
          <a:prstGeom prst="rect">
            <a:avLst/>
          </a:prstGeom>
          <a:noFill/>
        </p:spPr>
        <p:txBody>
          <a:bodyPr wrap="square" rtlCol="0">
            <a:spAutoFit/>
          </a:bodyPr>
          <a:lstStyle/>
          <a:p>
            <a:r>
              <a:rPr lang="en-US" sz="2000">
                <a:latin typeface="Segoe UI Emoji" panose="020B0502040204020203" pitchFamily="34" charset="0"/>
                <a:ea typeface="Segoe UI Emoji" panose="020B0502040204020203" pitchFamily="34" charset="0"/>
              </a:rPr>
              <a:t>🙂</a:t>
            </a:r>
            <a:r>
              <a:rPr lang="en-US" sz="2400">
                <a:latin typeface="Segoe UI Emoji" panose="020B0502040204020203" pitchFamily="34" charset="0"/>
                <a:ea typeface="Segoe UI Emoji" panose="020B0502040204020203" pitchFamily="34" charset="0"/>
              </a:rPr>
              <a:t> </a:t>
            </a:r>
            <a:r>
              <a:rPr lang="en-US" sz="2400" smtClean="0"/>
              <a:t>Info </a:t>
            </a:r>
            <a:r>
              <a:rPr lang="en-US" sz="2400" smtClean="0"/>
              <a:t>of signal directly in </a:t>
            </a:r>
            <a:r>
              <a:rPr lang="en-US" sz="2400" smtClean="0"/>
              <a:t>baseband, </a:t>
            </a:r>
            <a:r>
              <a:rPr lang="en-US" sz="2400" smtClean="0"/>
              <a:t>therefore simple electronics.</a:t>
            </a:r>
            <a:endParaRPr lang="en-US" sz="2400" dirty="0" smtClean="0"/>
          </a:p>
          <a:p>
            <a:r>
              <a:rPr lang="en-US" sz="2000">
                <a:latin typeface="Segoe UI Emoji" panose="020B0502040204020203" pitchFamily="34" charset="0"/>
                <a:ea typeface="Segoe UI Emoji" panose="020B0502040204020203" pitchFamily="34" charset="0"/>
              </a:rPr>
              <a:t>🙁</a:t>
            </a:r>
            <a:r>
              <a:rPr lang="en-US" sz="2400">
                <a:latin typeface="Segoe UI Emoji" panose="020B0502040204020203" pitchFamily="34" charset="0"/>
                <a:ea typeface="Segoe UI Emoji" panose="020B0502040204020203" pitchFamily="34" charset="0"/>
              </a:rPr>
              <a:t> </a:t>
            </a:r>
            <a:r>
              <a:rPr lang="en-US" sz="2400" smtClean="0"/>
              <a:t>Expensive </a:t>
            </a:r>
            <a:r>
              <a:rPr lang="en-US" sz="2400" smtClean="0"/>
              <a:t>(1 hybrid + 1 extra detector).</a:t>
            </a:r>
          </a:p>
          <a:p>
            <a:r>
              <a:rPr lang="en-US" sz="2000">
                <a:latin typeface="Segoe UI Emoji" panose="020B0502040204020203" pitchFamily="34" charset="0"/>
                <a:ea typeface="Segoe UI Emoji" panose="020B0502040204020203" pitchFamily="34" charset="0"/>
              </a:rPr>
              <a:t>🙁</a:t>
            </a:r>
            <a:r>
              <a:rPr lang="en-US" sz="2400">
                <a:latin typeface="Segoe UI Emoji" panose="020B0502040204020203" pitchFamily="34" charset="0"/>
                <a:ea typeface="Segoe UI Emoji" panose="020B0502040204020203" pitchFamily="34" charset="0"/>
              </a:rPr>
              <a:t> </a:t>
            </a:r>
            <a:r>
              <a:rPr lang="en-US" sz="2400" smtClean="0"/>
              <a:t>Not </a:t>
            </a:r>
            <a:r>
              <a:rPr lang="en-US" sz="2400" smtClean="0"/>
              <a:t>so suitable when LO and qSig frequencies are detuned (</a:t>
            </a:r>
            <a:r>
              <a:rPr lang="el-GR" sz="2400" smtClean="0"/>
              <a:t>Ω</a:t>
            </a:r>
            <a:r>
              <a:rPr lang="el-GR" sz="2400" baseline="-25000" smtClean="0">
                <a:latin typeface="Times New Roman" panose="02020603050405020304" pitchFamily="18" charset="0"/>
                <a:cs typeface="Times New Roman" panose="02020603050405020304" pitchFamily="18" charset="0"/>
              </a:rPr>
              <a:t>Δ</a:t>
            </a:r>
            <a:r>
              <a:rPr lang="en-US" sz="2400" smtClean="0">
                <a:latin typeface="Times New Roman" panose="02020603050405020304" pitchFamily="18" charset="0"/>
                <a:cs typeface="Times New Roman" panose="02020603050405020304" pitchFamily="18" charset="0"/>
              </a:rPr>
              <a:t> ≠ 0).</a:t>
            </a:r>
            <a:endParaRPr lang="en-US" sz="2400" dirty="0" smtClean="0"/>
          </a:p>
        </p:txBody>
      </p:sp>
      <p:sp>
        <p:nvSpPr>
          <p:cNvPr id="486" name="TextBox 485"/>
          <p:cNvSpPr txBox="1"/>
          <p:nvPr/>
        </p:nvSpPr>
        <p:spPr>
          <a:xfrm>
            <a:off x="14198631" y="15796461"/>
            <a:ext cx="4821206" cy="1938992"/>
          </a:xfrm>
          <a:prstGeom prst="rect">
            <a:avLst/>
          </a:prstGeom>
          <a:noFill/>
        </p:spPr>
        <p:txBody>
          <a:bodyPr wrap="square" rtlCol="0">
            <a:spAutoFit/>
          </a:bodyPr>
          <a:lstStyle/>
          <a:p>
            <a:r>
              <a:rPr lang="en-US" sz="2000">
                <a:latin typeface="Segoe UI Emoji" panose="020B0502040204020203" pitchFamily="34" charset="0"/>
                <a:ea typeface="Segoe UI Emoji" panose="020B0502040204020203" pitchFamily="34" charset="0"/>
              </a:rPr>
              <a:t>🙁</a:t>
            </a:r>
            <a:r>
              <a:rPr lang="en-US" sz="2400">
                <a:latin typeface="Segoe UI Emoji" panose="020B0502040204020203" pitchFamily="34" charset="0"/>
                <a:ea typeface="Segoe UI Emoji" panose="020B0502040204020203" pitchFamily="34" charset="0"/>
              </a:rPr>
              <a:t> </a:t>
            </a:r>
            <a:r>
              <a:rPr lang="en-US" sz="2400" smtClean="0"/>
              <a:t>Complex </a:t>
            </a:r>
            <a:r>
              <a:rPr lang="en-US" sz="2400" smtClean="0"/>
              <a:t>electronics requiring downconversion etc.</a:t>
            </a:r>
            <a:endParaRPr lang="en-US" sz="2400" dirty="0" smtClean="0"/>
          </a:p>
          <a:p>
            <a:r>
              <a:rPr lang="en-US" sz="2000">
                <a:latin typeface="Segoe UI Emoji" panose="020B0502040204020203" pitchFamily="34" charset="0"/>
                <a:ea typeface="Segoe UI Emoji" panose="020B0502040204020203" pitchFamily="34" charset="0"/>
              </a:rPr>
              <a:t>🙂</a:t>
            </a:r>
            <a:r>
              <a:rPr lang="en-US" sz="2400">
                <a:latin typeface="Segoe UI Emoji" panose="020B0502040204020203" pitchFamily="34" charset="0"/>
                <a:ea typeface="Segoe UI Emoji" panose="020B0502040204020203" pitchFamily="34" charset="0"/>
              </a:rPr>
              <a:t> </a:t>
            </a:r>
            <a:r>
              <a:rPr lang="en-US" sz="2400" smtClean="0"/>
              <a:t>Less </a:t>
            </a:r>
            <a:r>
              <a:rPr lang="en-US" sz="2400" smtClean="0"/>
              <a:t>sensitive to deviations of parameters, such as splitting ratio. </a:t>
            </a:r>
          </a:p>
          <a:p>
            <a:r>
              <a:rPr lang="en-US" sz="2000">
                <a:latin typeface="Segoe UI Emoji" panose="020B0502040204020203" pitchFamily="34" charset="0"/>
                <a:ea typeface="Segoe UI Emoji" panose="020B0502040204020203" pitchFamily="34" charset="0"/>
              </a:rPr>
              <a:t>🙂</a:t>
            </a:r>
            <a:r>
              <a:rPr lang="en-US" sz="2400">
                <a:latin typeface="Segoe UI Emoji" panose="020B0502040204020203" pitchFamily="34" charset="0"/>
                <a:ea typeface="Segoe UI Emoji" panose="020B0502040204020203" pitchFamily="34" charset="0"/>
              </a:rPr>
              <a:t> </a:t>
            </a:r>
            <a:r>
              <a:rPr lang="en-US" sz="2400" smtClean="0"/>
              <a:t>Classically </a:t>
            </a:r>
            <a:r>
              <a:rPr lang="en-US" sz="2400" smtClean="0"/>
              <a:t>well-studied problem.</a:t>
            </a:r>
            <a:endParaRPr lang="en-US" sz="2400" dirty="0" smtClean="0"/>
          </a:p>
        </p:txBody>
      </p:sp>
      <p:sp>
        <p:nvSpPr>
          <p:cNvPr id="487" name="CustomShape 18 2 2"/>
          <p:cNvSpPr/>
          <p:nvPr/>
        </p:nvSpPr>
        <p:spPr>
          <a:xfrm rot="16200000">
            <a:off x="7457188" y="14138369"/>
            <a:ext cx="3000309" cy="449011"/>
          </a:xfrm>
          <a:prstGeom prst="rect">
            <a:avLst/>
          </a:prstGeom>
          <a:noFill/>
          <a:ln>
            <a:noFill/>
          </a:ln>
        </p:spPr>
        <p:txBody>
          <a:bodyPr wrap="none" lIns="90000" tIns="45000" rIns="90000" bIns="45000"/>
          <a:lstStyle/>
          <a:p>
            <a:pPr marL="0" marR="0" lvl="0" indent="0" defTabSz="914400" eaLnBrk="1" fontAlgn="auto" latinLnBrk="0" hangingPunct="1">
              <a:lnSpc>
                <a:spcPct val="100000"/>
              </a:lnSpc>
              <a:spcBef>
                <a:spcPts val="0"/>
              </a:spcBef>
              <a:spcAft>
                <a:spcPts val="0"/>
              </a:spcAft>
              <a:buClrTx/>
              <a:buSzTx/>
              <a:buFontTx/>
              <a:buNone/>
              <a:tabLst/>
              <a:defRPr/>
            </a:pPr>
            <a:r>
              <a:rPr lang="en-US" sz="2000" i="1" kern="0" smtClean="0">
                <a:solidFill>
                  <a:srgbClr val="000000"/>
                </a:solidFill>
                <a:latin typeface="Arial"/>
              </a:rPr>
              <a:t>Dual homodyne setup</a:t>
            </a:r>
            <a:endParaRPr kumimoji="0" lang="en-US" sz="2000" b="0" i="1" u="none" strike="noStrike" kern="0" cap="none" spc="0" normalizeH="0" baseline="0" noProof="0" dirty="0" smtClean="0">
              <a:ln>
                <a:noFill/>
              </a:ln>
              <a:solidFill>
                <a:srgbClr val="000000"/>
              </a:solidFill>
              <a:effectLst/>
              <a:uLnTx/>
              <a:uFillTx/>
              <a:latin typeface="Arial"/>
            </a:endParaRPr>
          </a:p>
        </p:txBody>
      </p:sp>
      <p:sp>
        <p:nvSpPr>
          <p:cNvPr id="488" name="CustomShape 18 2 2"/>
          <p:cNvSpPr/>
          <p:nvPr/>
        </p:nvSpPr>
        <p:spPr>
          <a:xfrm rot="16200000">
            <a:off x="12791189" y="13833569"/>
            <a:ext cx="3000309" cy="449011"/>
          </a:xfrm>
          <a:prstGeom prst="rect">
            <a:avLst/>
          </a:prstGeom>
          <a:noFill/>
          <a:ln>
            <a:noFill/>
          </a:ln>
        </p:spPr>
        <p:txBody>
          <a:bodyPr wrap="none" lIns="90000" tIns="45000" rIns="90000" bIns="45000"/>
          <a:lstStyle/>
          <a:p>
            <a:pPr marL="0" marR="0" lvl="0" indent="0" defTabSz="914400" eaLnBrk="1" fontAlgn="auto" latinLnBrk="0" hangingPunct="1">
              <a:lnSpc>
                <a:spcPct val="100000"/>
              </a:lnSpc>
              <a:spcBef>
                <a:spcPts val="0"/>
              </a:spcBef>
              <a:spcAft>
                <a:spcPts val="0"/>
              </a:spcAft>
              <a:buClrTx/>
              <a:buSzTx/>
              <a:buFontTx/>
              <a:buNone/>
              <a:tabLst/>
              <a:defRPr/>
            </a:pPr>
            <a:r>
              <a:rPr lang="en-US" sz="2000" i="1" kern="0" smtClean="0">
                <a:solidFill>
                  <a:srgbClr val="000000"/>
                </a:solidFill>
                <a:latin typeface="Arial"/>
              </a:rPr>
              <a:t>Heterodyne setup</a:t>
            </a:r>
            <a:endParaRPr kumimoji="0" lang="en-US" sz="2000" b="0" i="1" u="none" strike="noStrike" kern="0" cap="none" spc="0" normalizeH="0" baseline="0" noProof="0" dirty="0" smtClean="0">
              <a:ln>
                <a:noFill/>
              </a:ln>
              <a:solidFill>
                <a:srgbClr val="000000"/>
              </a:solidFill>
              <a:effectLst/>
              <a:uLnTx/>
              <a:uFillTx/>
              <a:latin typeface="Arial"/>
            </a:endParaRPr>
          </a:p>
        </p:txBody>
      </p:sp>
      <p:pic>
        <p:nvPicPr>
          <p:cNvPr id="4" name="Picture 3"/>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8382581" y="36173603"/>
            <a:ext cx="4654401" cy="2808000"/>
          </a:xfrm>
          <a:prstGeom prst="rect">
            <a:avLst/>
          </a:prstGeom>
        </p:spPr>
      </p:pic>
      <p:sp>
        <p:nvSpPr>
          <p:cNvPr id="423" name="AutoShape 13 3"/>
          <p:cNvSpPr>
            <a:spLocks noChangeArrowheads="1"/>
          </p:cNvSpPr>
          <p:nvPr/>
        </p:nvSpPr>
        <p:spPr bwMode="auto">
          <a:xfrm>
            <a:off x="540000" y="18396000"/>
            <a:ext cx="29160648" cy="10512000"/>
          </a:xfrm>
          <a:prstGeom prst="roundRect">
            <a:avLst>
              <a:gd name="adj" fmla="val 7618"/>
            </a:avLst>
          </a:prstGeom>
          <a:ln w="76200">
            <a:headEnd/>
            <a:tailEnd/>
          </a:ln>
          <a:extLst/>
        </p:spPr>
        <p:style>
          <a:lnRef idx="2">
            <a:schemeClr val="accent2"/>
          </a:lnRef>
          <a:fillRef idx="1">
            <a:schemeClr val="lt1"/>
          </a:fillRef>
          <a:effectRef idx="0">
            <a:schemeClr val="accent2"/>
          </a:effectRef>
          <a:fontRef idx="minor">
            <a:schemeClr val="dk1"/>
          </a:fontRef>
        </p:style>
        <p:txBody>
          <a:bodyPr wrap="none" lIns="102784" tIns="51392" rIns="102784" bIns="51392" anchor="ctr"/>
          <a:lstStyle>
            <a:defPPr>
              <a:defRPr lang="en-US"/>
            </a:defPPr>
            <a:lvl1pPr algn="ctr" rtl="0" fontAlgn="base">
              <a:spcBef>
                <a:spcPct val="0"/>
              </a:spcBef>
              <a:spcAft>
                <a:spcPct val="0"/>
              </a:spcAft>
              <a:defRPr sz="6900" kern="1200">
                <a:solidFill>
                  <a:schemeClr val="tx1"/>
                </a:solidFill>
                <a:latin typeface="Arial" charset="0"/>
                <a:ea typeface="+mn-ea"/>
                <a:cs typeface="+mn-cs"/>
              </a:defRPr>
            </a:lvl1pPr>
            <a:lvl2pPr marL="457200" algn="ctr" rtl="0" fontAlgn="base">
              <a:spcBef>
                <a:spcPct val="0"/>
              </a:spcBef>
              <a:spcAft>
                <a:spcPct val="0"/>
              </a:spcAft>
              <a:defRPr sz="6900" kern="1200">
                <a:solidFill>
                  <a:schemeClr val="tx1"/>
                </a:solidFill>
                <a:latin typeface="Arial" charset="0"/>
                <a:ea typeface="+mn-ea"/>
                <a:cs typeface="+mn-cs"/>
              </a:defRPr>
            </a:lvl2pPr>
            <a:lvl3pPr marL="914400" algn="ctr" rtl="0" fontAlgn="base">
              <a:spcBef>
                <a:spcPct val="0"/>
              </a:spcBef>
              <a:spcAft>
                <a:spcPct val="0"/>
              </a:spcAft>
              <a:defRPr sz="6900" kern="1200">
                <a:solidFill>
                  <a:schemeClr val="tx1"/>
                </a:solidFill>
                <a:latin typeface="Arial" charset="0"/>
                <a:ea typeface="+mn-ea"/>
                <a:cs typeface="+mn-cs"/>
              </a:defRPr>
            </a:lvl3pPr>
            <a:lvl4pPr marL="1371600" algn="ctr" rtl="0" fontAlgn="base">
              <a:spcBef>
                <a:spcPct val="0"/>
              </a:spcBef>
              <a:spcAft>
                <a:spcPct val="0"/>
              </a:spcAft>
              <a:defRPr sz="6900" kern="1200">
                <a:solidFill>
                  <a:schemeClr val="tx1"/>
                </a:solidFill>
                <a:latin typeface="Arial" charset="0"/>
                <a:ea typeface="+mn-ea"/>
                <a:cs typeface="+mn-cs"/>
              </a:defRPr>
            </a:lvl4pPr>
            <a:lvl5pPr marL="1828800" algn="ctr" rtl="0" fontAlgn="base">
              <a:spcBef>
                <a:spcPct val="0"/>
              </a:spcBef>
              <a:spcAft>
                <a:spcPct val="0"/>
              </a:spcAft>
              <a:defRPr sz="6900" kern="1200">
                <a:solidFill>
                  <a:schemeClr val="tx1"/>
                </a:solidFill>
                <a:latin typeface="Arial" charset="0"/>
                <a:ea typeface="+mn-ea"/>
                <a:cs typeface="+mn-cs"/>
              </a:defRPr>
            </a:lvl5pPr>
            <a:lvl6pPr marL="2286000" algn="l" defTabSz="914400" rtl="0" eaLnBrk="1" latinLnBrk="0" hangingPunct="1">
              <a:defRPr sz="6900" kern="1200">
                <a:solidFill>
                  <a:schemeClr val="tx1"/>
                </a:solidFill>
                <a:latin typeface="Arial" charset="0"/>
                <a:ea typeface="+mn-ea"/>
                <a:cs typeface="+mn-cs"/>
              </a:defRPr>
            </a:lvl6pPr>
            <a:lvl7pPr marL="2743200" algn="l" defTabSz="914400" rtl="0" eaLnBrk="1" latinLnBrk="0" hangingPunct="1">
              <a:defRPr sz="6900" kern="1200">
                <a:solidFill>
                  <a:schemeClr val="tx1"/>
                </a:solidFill>
                <a:latin typeface="Arial" charset="0"/>
                <a:ea typeface="+mn-ea"/>
                <a:cs typeface="+mn-cs"/>
              </a:defRPr>
            </a:lvl7pPr>
            <a:lvl8pPr marL="3200400" algn="l" defTabSz="914400" rtl="0" eaLnBrk="1" latinLnBrk="0" hangingPunct="1">
              <a:defRPr sz="6900" kern="1200">
                <a:solidFill>
                  <a:schemeClr val="tx1"/>
                </a:solidFill>
                <a:latin typeface="Arial" charset="0"/>
                <a:ea typeface="+mn-ea"/>
                <a:cs typeface="+mn-cs"/>
              </a:defRPr>
            </a:lvl8pPr>
            <a:lvl9pPr marL="3657600" algn="l" defTabSz="914400" rtl="0" eaLnBrk="1" latinLnBrk="0" hangingPunct="1">
              <a:defRPr sz="6900" kern="1200">
                <a:solidFill>
                  <a:schemeClr val="tx1"/>
                </a:solidFill>
                <a:latin typeface="Arial" charset="0"/>
                <a:ea typeface="+mn-ea"/>
                <a:cs typeface="+mn-cs"/>
              </a:defRPr>
            </a:lvl9pPr>
          </a:lstStyle>
          <a:p>
            <a:pPr eaLnBrk="1" hangingPunct="1"/>
            <a:endParaRPr lang="en-US" altLang="en-US" dirty="0">
              <a:solidFill>
                <a:schemeClr val="bg1"/>
              </a:solidFill>
            </a:endParaRPr>
          </a:p>
        </p:txBody>
      </p:sp>
      <p:sp>
        <p:nvSpPr>
          <p:cNvPr id="489" name="TextBox 488"/>
          <p:cNvSpPr txBox="1"/>
          <p:nvPr/>
        </p:nvSpPr>
        <p:spPr>
          <a:xfrm>
            <a:off x="940199" y="18634819"/>
            <a:ext cx="13416489" cy="807380"/>
          </a:xfrm>
          <a:prstGeom prst="rect">
            <a:avLst/>
          </a:prstGeom>
          <a:noFill/>
        </p:spPr>
        <p:txBody>
          <a:bodyPr wrap="square" lIns="129013" tIns="64506" rIns="129013" bIns="64506" rtlCol="0">
            <a:spAutoFit/>
          </a:bodyPr>
          <a:lstStyle/>
          <a:p>
            <a:r>
              <a:rPr lang="en-US" sz="4400" dirty="0" smtClean="0">
                <a:latin typeface="Arial" panose="020B0604020202020204" pitchFamily="34" charset="0"/>
                <a:cs typeface="Arial" panose="020B0604020202020204" pitchFamily="34" charset="0"/>
              </a:rPr>
              <a:t>Current setup and component characterization</a:t>
            </a:r>
            <a:endParaRPr lang="en-US" sz="4400" dirty="0">
              <a:latin typeface="Arial" panose="020B0604020202020204" pitchFamily="34" charset="0"/>
              <a:cs typeface="Arial" panose="020B0604020202020204" pitchFamily="34" charset="0"/>
            </a:endParaRPr>
          </a:p>
        </p:txBody>
      </p:sp>
      <p:sp>
        <p:nvSpPr>
          <p:cNvPr id="490" name="Rectangle 489"/>
          <p:cNvSpPr/>
          <p:nvPr/>
        </p:nvSpPr>
        <p:spPr>
          <a:xfrm>
            <a:off x="28163837" y="22154597"/>
            <a:ext cx="609600" cy="609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91" name="Straight Connector 490"/>
          <p:cNvCxnSpPr/>
          <p:nvPr/>
        </p:nvCxnSpPr>
        <p:spPr>
          <a:xfrm flipV="1">
            <a:off x="3367570" y="20926540"/>
            <a:ext cx="274320" cy="2577"/>
          </a:xfrm>
          <a:prstGeom prst="line">
            <a:avLst/>
          </a:prstGeom>
          <a:ln w="28575">
            <a:solidFill>
              <a:srgbClr val="0070C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92" name="Straight Connector 491"/>
          <p:cNvCxnSpPr/>
          <p:nvPr/>
        </p:nvCxnSpPr>
        <p:spPr>
          <a:xfrm>
            <a:off x="2725468" y="20930149"/>
            <a:ext cx="11019307" cy="11549"/>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493" name="CustomShape 17 1"/>
          <p:cNvSpPr/>
          <p:nvPr/>
        </p:nvSpPr>
        <p:spPr>
          <a:xfrm>
            <a:off x="2435298" y="20446915"/>
            <a:ext cx="2008576" cy="967282"/>
          </a:xfrm>
          <a:prstGeom prst="parallelogram">
            <a:avLst>
              <a:gd name="adj" fmla="val 25000"/>
            </a:avLst>
          </a:prstGeom>
          <a:solidFill>
            <a:srgbClr val="808080"/>
          </a:solidFill>
          <a:ln w="25560">
            <a:noFill/>
          </a:ln>
        </p:spPr>
      </p:sp>
      <p:sp>
        <p:nvSpPr>
          <p:cNvPr id="494" name="Hexagon 493"/>
          <p:cNvSpPr/>
          <p:nvPr/>
        </p:nvSpPr>
        <p:spPr>
          <a:xfrm>
            <a:off x="9807296" y="20439851"/>
            <a:ext cx="1770568" cy="982636"/>
          </a:xfrm>
          <a:prstGeom prst="hexagon">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5" name="Hexagon 494"/>
          <p:cNvSpPr/>
          <p:nvPr/>
        </p:nvSpPr>
        <p:spPr>
          <a:xfrm>
            <a:off x="7606356" y="20446916"/>
            <a:ext cx="1956418" cy="1009094"/>
          </a:xfrm>
          <a:prstGeom prst="hexagon">
            <a:avLst/>
          </a:prstGeom>
          <a:solidFill>
            <a:srgbClr val="BF9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6" name="CustomShape 2 2 1"/>
          <p:cNvSpPr/>
          <p:nvPr/>
        </p:nvSpPr>
        <p:spPr>
          <a:xfrm>
            <a:off x="7728008" y="20425580"/>
            <a:ext cx="1761805" cy="886656"/>
          </a:xfrm>
          <a:prstGeom prst="rect">
            <a:avLst/>
          </a:prstGeom>
          <a:noFill/>
          <a:ln>
            <a:noFill/>
          </a:ln>
        </p:spPr>
        <p:txBody>
          <a:bodyPr wrap="none" lIns="90000" tIns="45000" rIns="90000" bIns="45000"/>
          <a:lstStyle/>
          <a:p>
            <a:pPr algn="ctr">
              <a:lnSpc>
                <a:spcPct val="100000"/>
              </a:lnSpc>
            </a:pPr>
            <a:r>
              <a:rPr lang="en-US" sz="2000" smtClean="0">
                <a:solidFill>
                  <a:schemeClr val="bg1"/>
                </a:solidFill>
                <a:latin typeface="Arial"/>
              </a:rPr>
              <a:t>Intensity </a:t>
            </a:r>
          </a:p>
          <a:p>
            <a:pPr algn="ctr">
              <a:lnSpc>
                <a:spcPct val="100000"/>
              </a:lnSpc>
            </a:pPr>
            <a:r>
              <a:rPr lang="en-US" sz="2000" smtClean="0">
                <a:solidFill>
                  <a:schemeClr val="bg1"/>
                </a:solidFill>
                <a:latin typeface="Arial"/>
              </a:rPr>
              <a:t>modulator</a:t>
            </a:r>
          </a:p>
          <a:p>
            <a:pPr algn="ctr">
              <a:lnSpc>
                <a:spcPct val="100000"/>
              </a:lnSpc>
            </a:pPr>
            <a:r>
              <a:rPr lang="en-US" sz="2000" smtClean="0">
                <a:solidFill>
                  <a:schemeClr val="bg1"/>
                </a:solidFill>
                <a:latin typeface="Arial"/>
              </a:rPr>
              <a:t>(IM)</a:t>
            </a:r>
            <a:endParaRPr sz="2000" dirty="0">
              <a:solidFill>
                <a:schemeClr val="bg1"/>
              </a:solidFill>
            </a:endParaRPr>
          </a:p>
        </p:txBody>
      </p:sp>
      <p:sp>
        <p:nvSpPr>
          <p:cNvPr id="497" name="CustomShape 2 3"/>
          <p:cNvSpPr/>
          <p:nvPr/>
        </p:nvSpPr>
        <p:spPr>
          <a:xfrm>
            <a:off x="2930049" y="20563129"/>
            <a:ext cx="1126099" cy="661362"/>
          </a:xfrm>
          <a:prstGeom prst="rect">
            <a:avLst/>
          </a:prstGeom>
          <a:noFill/>
          <a:ln>
            <a:noFill/>
          </a:ln>
        </p:spPr>
        <p:txBody>
          <a:bodyPr wrap="none" lIns="90000" tIns="45000" rIns="90000" bIns="45000"/>
          <a:lstStyle/>
          <a:p>
            <a:pPr>
              <a:lnSpc>
                <a:spcPct val="100000"/>
              </a:lnSpc>
            </a:pPr>
            <a:r>
              <a:rPr lang="en-US" sz="2000" smtClean="0">
                <a:solidFill>
                  <a:schemeClr val="bg1"/>
                </a:solidFill>
                <a:latin typeface="Arial"/>
              </a:rPr>
              <a:t>Signal </a:t>
            </a:r>
          </a:p>
          <a:p>
            <a:pPr>
              <a:lnSpc>
                <a:spcPct val="100000"/>
              </a:lnSpc>
            </a:pPr>
            <a:r>
              <a:rPr lang="en-US" sz="2000" smtClean="0">
                <a:solidFill>
                  <a:schemeClr val="bg1"/>
                </a:solidFill>
                <a:latin typeface="Arial"/>
              </a:rPr>
              <a:t>laser</a:t>
            </a:r>
            <a:endParaRPr sz="2000" dirty="0">
              <a:solidFill>
                <a:schemeClr val="bg1"/>
              </a:solidFill>
            </a:endParaRPr>
          </a:p>
        </p:txBody>
      </p:sp>
      <p:sp>
        <p:nvSpPr>
          <p:cNvPr id="498" name="CustomShape 34 1"/>
          <p:cNvSpPr/>
          <p:nvPr/>
        </p:nvSpPr>
        <p:spPr>
          <a:xfrm>
            <a:off x="11938335" y="20431903"/>
            <a:ext cx="1731616" cy="1007912"/>
          </a:xfrm>
          <a:prstGeom prst="roundRect">
            <a:avLst>
              <a:gd name="adj" fmla="val 12277"/>
            </a:avLst>
          </a:prstGeom>
          <a:gradFill>
            <a:gsLst>
              <a:gs pos="0">
                <a:srgbClr val="9BBB59"/>
              </a:gs>
              <a:gs pos="100000">
                <a:srgbClr val="000000"/>
              </a:gs>
            </a:gsLst>
            <a:lin ang="0"/>
          </a:gradFill>
          <a:ln w="25560">
            <a:noFill/>
          </a:ln>
        </p:spPr>
      </p:sp>
      <p:cxnSp>
        <p:nvCxnSpPr>
          <p:cNvPr id="499" name="Straight Connector 498"/>
          <p:cNvCxnSpPr/>
          <p:nvPr/>
        </p:nvCxnSpPr>
        <p:spPr>
          <a:xfrm flipV="1">
            <a:off x="13692988" y="20942150"/>
            <a:ext cx="2595549" cy="4171"/>
          </a:xfrm>
          <a:prstGeom prst="line">
            <a:avLst/>
          </a:prstGeom>
          <a:noFill/>
          <a:ln w="28575" cap="flat" cmpd="sng" algn="ctr">
            <a:solidFill>
              <a:srgbClr val="FF6600"/>
            </a:solidFill>
            <a:prstDash val="solid"/>
            <a:miter lim="800000"/>
          </a:ln>
          <a:effectLst/>
        </p:spPr>
      </p:cxnSp>
      <p:cxnSp>
        <p:nvCxnSpPr>
          <p:cNvPr id="505" name="Straight Connector 504"/>
          <p:cNvCxnSpPr/>
          <p:nvPr/>
        </p:nvCxnSpPr>
        <p:spPr>
          <a:xfrm flipV="1">
            <a:off x="14156876" y="20942654"/>
            <a:ext cx="274320" cy="2577"/>
          </a:xfrm>
          <a:prstGeom prst="line">
            <a:avLst/>
          </a:prstGeom>
          <a:noFill/>
          <a:ln w="28575" cap="flat" cmpd="sng" algn="ctr">
            <a:solidFill>
              <a:srgbClr val="FF6600"/>
            </a:solidFill>
            <a:prstDash val="solid"/>
            <a:miter lim="800000"/>
            <a:headEnd type="none" w="med" len="med"/>
            <a:tailEnd type="arrow" w="med" len="med"/>
          </a:ln>
          <a:effectLst/>
        </p:spPr>
      </p:cxnSp>
      <p:pic>
        <p:nvPicPr>
          <p:cNvPr id="514" name="Picture 513"/>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19350698" y="22499224"/>
            <a:ext cx="5798795" cy="3028243"/>
          </a:xfrm>
          <a:prstGeom prst="rect">
            <a:avLst/>
          </a:prstGeom>
        </p:spPr>
      </p:pic>
      <p:cxnSp>
        <p:nvCxnSpPr>
          <p:cNvPr id="515" name="Straight Connector 514"/>
          <p:cNvCxnSpPr/>
          <p:nvPr/>
        </p:nvCxnSpPr>
        <p:spPr>
          <a:xfrm flipV="1">
            <a:off x="17287884" y="21415615"/>
            <a:ext cx="5436000" cy="6872"/>
          </a:xfrm>
          <a:prstGeom prst="line">
            <a:avLst/>
          </a:prstGeom>
          <a:noFill/>
          <a:ln w="28575" cap="flat" cmpd="sng" algn="ctr">
            <a:solidFill>
              <a:srgbClr val="FF6600"/>
            </a:solidFill>
            <a:prstDash val="solid"/>
            <a:miter lim="800000"/>
          </a:ln>
          <a:effectLst/>
        </p:spPr>
      </p:cxnSp>
      <p:grpSp>
        <p:nvGrpSpPr>
          <p:cNvPr id="5" name="Group 4"/>
          <p:cNvGrpSpPr/>
          <p:nvPr/>
        </p:nvGrpSpPr>
        <p:grpSpPr>
          <a:xfrm>
            <a:off x="22710727" y="19493665"/>
            <a:ext cx="6095422" cy="2188115"/>
            <a:chOff x="18989492" y="19493665"/>
            <a:chExt cx="6095422" cy="2188115"/>
          </a:xfrm>
        </p:grpSpPr>
        <p:sp>
          <p:nvSpPr>
            <p:cNvPr id="500" name="CustomShape 5 1"/>
            <p:cNvSpPr/>
            <p:nvPr/>
          </p:nvSpPr>
          <p:spPr>
            <a:xfrm rot="10800000">
              <a:off x="20322448" y="19861933"/>
              <a:ext cx="1423908" cy="685362"/>
            </a:xfrm>
            <a:prstGeom prst="curvedConnector3">
              <a:avLst>
                <a:gd name="adj1" fmla="val 44326"/>
              </a:avLst>
            </a:prstGeom>
            <a:noFill/>
            <a:ln w="28575">
              <a:solidFill>
                <a:srgbClr val="0070C0"/>
              </a:solidFill>
              <a:round/>
            </a:ln>
          </p:spPr>
        </p:sp>
        <p:sp>
          <p:nvSpPr>
            <p:cNvPr id="501" name="CustomShape 6 1"/>
            <p:cNvSpPr/>
            <p:nvPr/>
          </p:nvSpPr>
          <p:spPr>
            <a:xfrm flipV="1">
              <a:off x="20322451" y="20552322"/>
              <a:ext cx="1423906" cy="855862"/>
            </a:xfrm>
            <a:prstGeom prst="curvedConnector3">
              <a:avLst>
                <a:gd name="adj1" fmla="val 54996"/>
              </a:avLst>
            </a:prstGeom>
            <a:noFill/>
            <a:ln w="31680">
              <a:solidFill>
                <a:srgbClr val="0070C0"/>
              </a:solidFill>
              <a:round/>
            </a:ln>
          </p:spPr>
        </p:sp>
        <p:sp>
          <p:nvSpPr>
            <p:cNvPr id="502" name="CustomShape 17 2"/>
            <p:cNvSpPr/>
            <p:nvPr/>
          </p:nvSpPr>
          <p:spPr>
            <a:xfrm>
              <a:off x="19141742" y="19511805"/>
              <a:ext cx="1288645" cy="687139"/>
            </a:xfrm>
            <a:prstGeom prst="parallelogram">
              <a:avLst>
                <a:gd name="adj" fmla="val 25000"/>
              </a:avLst>
            </a:prstGeom>
            <a:solidFill>
              <a:srgbClr val="808080"/>
            </a:solidFill>
            <a:ln w="25560">
              <a:noFill/>
            </a:ln>
          </p:spPr>
        </p:sp>
        <p:sp>
          <p:nvSpPr>
            <p:cNvPr id="503" name="CustomShape 18 2 1"/>
            <p:cNvSpPr/>
            <p:nvPr/>
          </p:nvSpPr>
          <p:spPr>
            <a:xfrm>
              <a:off x="19333807" y="19493665"/>
              <a:ext cx="1110090" cy="704327"/>
            </a:xfrm>
            <a:prstGeom prst="rect">
              <a:avLst/>
            </a:prstGeom>
            <a:noFill/>
            <a:ln>
              <a:noFill/>
            </a:ln>
          </p:spPr>
          <p:txBody>
            <a:bodyPr wrap="none" lIns="90000" tIns="45000" rIns="90000" bIns="4500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smtClean="0">
                  <a:ln>
                    <a:noFill/>
                  </a:ln>
                  <a:solidFill>
                    <a:schemeClr val="bg1"/>
                  </a:solidFill>
                  <a:effectLst/>
                  <a:uLnTx/>
                  <a:uFillTx/>
                  <a:latin typeface="Arial"/>
                </a:rPr>
                <a:t>LLO</a:t>
              </a:r>
            </a:p>
            <a:p>
              <a:pPr marL="0" marR="0" lvl="0" indent="0" defTabSz="914400" eaLnBrk="1" fontAlgn="auto" latinLnBrk="0" hangingPunct="1">
                <a:lnSpc>
                  <a:spcPct val="100000"/>
                </a:lnSpc>
                <a:spcBef>
                  <a:spcPts val="0"/>
                </a:spcBef>
                <a:spcAft>
                  <a:spcPts val="0"/>
                </a:spcAft>
                <a:buClrTx/>
                <a:buSzTx/>
                <a:buFontTx/>
                <a:buNone/>
                <a:tabLst/>
                <a:defRPr/>
              </a:pPr>
              <a:r>
                <a:rPr lang="en-US" sz="2000" kern="0" smtClean="0">
                  <a:solidFill>
                    <a:schemeClr val="bg1"/>
                  </a:solidFill>
                  <a:latin typeface="Arial"/>
                </a:rPr>
                <a:t>laser</a:t>
              </a:r>
              <a:endParaRPr kumimoji="0" sz="2000" b="0" i="0" u="none" strike="noStrike" kern="0" cap="none" spc="0" normalizeH="0" baseline="0" noProof="0" dirty="0" smtClean="0">
                <a:ln>
                  <a:noFill/>
                </a:ln>
                <a:solidFill>
                  <a:schemeClr val="bg1"/>
                </a:solidFill>
                <a:effectLst/>
                <a:uLnTx/>
                <a:uFillTx/>
              </a:endParaRPr>
            </a:p>
          </p:txBody>
        </p:sp>
        <p:sp>
          <p:nvSpPr>
            <p:cNvPr id="504" name="Rectangle 503"/>
            <p:cNvSpPr/>
            <p:nvPr/>
          </p:nvSpPr>
          <p:spPr>
            <a:xfrm>
              <a:off x="22473426" y="20169578"/>
              <a:ext cx="1652249" cy="1231106"/>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pitchFamily="34" charset="0"/>
                </a:rPr>
                <a:t>heterodyne detection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prstClr val="black"/>
                  </a:solidFill>
                  <a:effectLst/>
                  <a:uLnTx/>
                  <a:uFillTx/>
                  <a:latin typeface="Times New Roman" panose="02020603050405020304" pitchFamily="18" charset="0"/>
                  <a:cs typeface="Times New Roman" panose="02020603050405020304" pitchFamily="18" charset="0"/>
                </a:rPr>
                <a:t>(</a:t>
              </a:r>
              <a:r>
                <a:rPr lang="el-GR" sz="1800" kern="0" dirty="0" smtClean="0">
                  <a:solidFill>
                    <a:prstClr val="black"/>
                  </a:solidFill>
                  <a:latin typeface="Times New Roman" panose="02020603050405020304" pitchFamily="18" charset="0"/>
                  <a:cs typeface="Times New Roman" panose="02020603050405020304" pitchFamily="18" charset="0"/>
                </a:rPr>
                <a:t>Ω</a:t>
              </a:r>
              <a:r>
                <a:rPr lang="en-US" sz="1800" kern="0" baseline="-25000" dirty="0">
                  <a:solidFill>
                    <a:prstClr val="black"/>
                  </a:solidFill>
                  <a:latin typeface="Times New Roman" panose="02020603050405020304" pitchFamily="18" charset="0"/>
                  <a:cs typeface="Times New Roman" panose="02020603050405020304" pitchFamily="18" charset="0"/>
                </a:rPr>
                <a:t>Δ</a:t>
              </a:r>
              <a:r>
                <a:rPr kumimoji="0" lang="en-US" sz="1800" b="0" i="0" u="none" strike="noStrike" kern="0" cap="none" spc="0" normalizeH="0" baseline="0" noProof="0" dirty="0" smtClean="0">
                  <a:ln>
                    <a:noFill/>
                  </a:ln>
                  <a:solidFill>
                    <a:prstClr val="black"/>
                  </a:solidFill>
                  <a:effectLst/>
                  <a:uLnTx/>
                  <a:uFillTx/>
                  <a:latin typeface="Times New Roman" panose="02020603050405020304" pitchFamily="18" charset="0"/>
                  <a:cs typeface="Times New Roman" panose="02020603050405020304" pitchFamily="18" charset="0"/>
                </a:rPr>
                <a:t> ≠ 0)</a:t>
              </a:r>
              <a:endParaRPr kumimoji="0" lang="en-US" sz="1800" b="0" i="0" u="none" strike="noStrike" kern="0" cap="none" spc="0" normalizeH="0" baseline="0" noProof="0" dirty="0" smtClean="0">
                <a:ln>
                  <a:noFill/>
                </a:ln>
                <a:solidFill>
                  <a:prstClr val="black"/>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pitchFamily="34" charset="0"/>
              </a:endParaRPr>
            </a:p>
          </p:txBody>
        </p:sp>
        <p:sp>
          <p:nvSpPr>
            <p:cNvPr id="506" name="CustomShape 6 2"/>
            <p:cNvSpPr/>
            <p:nvPr/>
          </p:nvSpPr>
          <p:spPr>
            <a:xfrm flipH="1">
              <a:off x="21735125" y="19869328"/>
              <a:ext cx="1505532" cy="677967"/>
            </a:xfrm>
            <a:prstGeom prst="curvedConnector3">
              <a:avLst>
                <a:gd name="adj1" fmla="val 55788"/>
              </a:avLst>
            </a:prstGeom>
            <a:noFill/>
            <a:ln w="31680">
              <a:solidFill>
                <a:srgbClr val="0070C0"/>
              </a:solidFill>
              <a:round/>
            </a:ln>
          </p:spPr>
        </p:sp>
        <p:sp>
          <p:nvSpPr>
            <p:cNvPr id="507" name="CustomShape 6 3"/>
            <p:cNvSpPr/>
            <p:nvPr/>
          </p:nvSpPr>
          <p:spPr>
            <a:xfrm>
              <a:off x="21735125" y="20552323"/>
              <a:ext cx="1537902" cy="853388"/>
            </a:xfrm>
            <a:prstGeom prst="curvedConnector3">
              <a:avLst>
                <a:gd name="adj1" fmla="val 41619"/>
              </a:avLst>
            </a:prstGeom>
            <a:noFill/>
            <a:ln w="31680">
              <a:solidFill>
                <a:srgbClr val="0070C0"/>
              </a:solidFill>
              <a:round/>
            </a:ln>
          </p:spPr>
        </p:sp>
        <p:sp>
          <p:nvSpPr>
            <p:cNvPr id="508" name="Flowchart: Delay 507"/>
            <p:cNvSpPr/>
            <p:nvPr/>
          </p:nvSpPr>
          <p:spPr>
            <a:xfrm>
              <a:off x="23244700" y="19555316"/>
              <a:ext cx="724619" cy="620643"/>
            </a:xfrm>
            <a:prstGeom prst="flowChartDelay">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9" name="Flowchart: Delay 508"/>
            <p:cNvSpPr/>
            <p:nvPr/>
          </p:nvSpPr>
          <p:spPr>
            <a:xfrm>
              <a:off x="23270643" y="21074269"/>
              <a:ext cx="698676" cy="607511"/>
            </a:xfrm>
            <a:prstGeom prst="flowChartDelay">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0" name="CustomShape 5 2"/>
            <p:cNvSpPr/>
            <p:nvPr/>
          </p:nvSpPr>
          <p:spPr>
            <a:xfrm rot="10800000">
              <a:off x="23964860" y="19869864"/>
              <a:ext cx="647740" cy="620315"/>
            </a:xfrm>
            <a:prstGeom prst="curvedConnector3">
              <a:avLst>
                <a:gd name="adj1" fmla="val 50000"/>
              </a:avLst>
            </a:prstGeom>
            <a:noFill/>
            <a:ln w="28575">
              <a:solidFill>
                <a:schemeClr val="tx1"/>
              </a:solidFill>
              <a:round/>
            </a:ln>
          </p:spPr>
        </p:sp>
        <p:sp>
          <p:nvSpPr>
            <p:cNvPr id="511" name="CustomShape 6 4"/>
            <p:cNvSpPr/>
            <p:nvPr/>
          </p:nvSpPr>
          <p:spPr>
            <a:xfrm flipV="1">
              <a:off x="23964859" y="20646836"/>
              <a:ext cx="642470" cy="741880"/>
            </a:xfrm>
            <a:prstGeom prst="curvedConnector3">
              <a:avLst>
                <a:gd name="adj1" fmla="val 50990"/>
              </a:avLst>
            </a:prstGeom>
            <a:noFill/>
            <a:ln w="31680">
              <a:solidFill>
                <a:schemeClr val="tx1"/>
              </a:solidFill>
              <a:round/>
            </a:ln>
          </p:spPr>
        </p:sp>
        <p:sp>
          <p:nvSpPr>
            <p:cNvPr id="512" name="CustomShape 34 3"/>
            <p:cNvSpPr/>
            <p:nvPr/>
          </p:nvSpPr>
          <p:spPr>
            <a:xfrm>
              <a:off x="24592074" y="20337733"/>
              <a:ext cx="460128" cy="438643"/>
            </a:xfrm>
            <a:prstGeom prst="roundRect">
              <a:avLst>
                <a:gd name="adj" fmla="val 16667"/>
              </a:avLst>
            </a:prstGeom>
            <a:ln/>
          </p:spPr>
          <p:style>
            <a:lnRef idx="2">
              <a:schemeClr val="dk1"/>
            </a:lnRef>
            <a:fillRef idx="1">
              <a:schemeClr val="lt1"/>
            </a:fillRef>
            <a:effectRef idx="0">
              <a:schemeClr val="dk1"/>
            </a:effectRef>
            <a:fontRef idx="minor">
              <a:schemeClr val="dk1"/>
            </a:fontRef>
          </p:style>
        </p:sp>
        <p:sp>
          <p:nvSpPr>
            <p:cNvPr id="513" name="CustomShape 35 3"/>
            <p:cNvSpPr/>
            <p:nvPr/>
          </p:nvSpPr>
          <p:spPr>
            <a:xfrm>
              <a:off x="24632011" y="20118392"/>
              <a:ext cx="452903" cy="596125"/>
            </a:xfrm>
            <a:prstGeom prst="rect">
              <a:avLst/>
            </a:prstGeom>
            <a:noFill/>
            <a:ln>
              <a:noFill/>
            </a:ln>
          </p:spPr>
          <p:txBody>
            <a:bodyPr wrap="none" lIns="90000" tIns="45000" rIns="90000" bIns="45000"/>
            <a:lstStyle/>
            <a:p>
              <a:pPr marL="0" marR="0" lvl="0" indent="0" defTabSz="914400" eaLnBrk="1" fontAlgn="auto" latinLnBrk="0" hangingPunct="1">
                <a:lnSpc>
                  <a:spcPct val="100000"/>
                </a:lnSpc>
                <a:spcBef>
                  <a:spcPts val="0"/>
                </a:spcBef>
                <a:spcAft>
                  <a:spcPts val="0"/>
                </a:spcAft>
                <a:buClrTx/>
                <a:buSzTx/>
                <a:buFontTx/>
                <a:buNone/>
                <a:tabLst/>
                <a:defRPr/>
              </a:pPr>
              <a:r>
                <a:rPr kumimoji="0" lang="da-DK" sz="4400" b="0" i="0" u="none" strike="noStrike" kern="0" cap="none" spc="0" normalizeH="0" baseline="0" noProof="0" dirty="0" smtClean="0">
                  <a:ln>
                    <a:noFill/>
                  </a:ln>
                  <a:solidFill>
                    <a:srgbClr val="000000"/>
                  </a:solidFill>
                  <a:effectLst/>
                  <a:uLnTx/>
                  <a:uFillTx/>
                  <a:latin typeface="Arial"/>
                </a:rPr>
                <a:t>-</a:t>
              </a:r>
              <a:endParaRPr kumimoji="0" sz="4400" b="0" i="0" u="none" strike="noStrike" kern="0" cap="none" spc="0" normalizeH="0" baseline="0" noProof="0" dirty="0" smtClean="0">
                <a:ln>
                  <a:noFill/>
                </a:ln>
                <a:solidFill>
                  <a:prstClr val="black"/>
                </a:solidFill>
                <a:effectLst/>
                <a:uLnTx/>
                <a:uFillTx/>
              </a:endParaRPr>
            </a:p>
          </p:txBody>
        </p:sp>
        <p:cxnSp>
          <p:nvCxnSpPr>
            <p:cNvPr id="516" name="Straight Connector 515"/>
            <p:cNvCxnSpPr/>
            <p:nvPr/>
          </p:nvCxnSpPr>
          <p:spPr>
            <a:xfrm flipV="1">
              <a:off x="18989492" y="21415615"/>
              <a:ext cx="1412674" cy="1"/>
            </a:xfrm>
            <a:prstGeom prst="line">
              <a:avLst/>
            </a:prstGeom>
            <a:noFill/>
            <a:ln w="28575" cap="flat" cmpd="sng" algn="ctr">
              <a:solidFill>
                <a:srgbClr val="0070C0"/>
              </a:solidFill>
              <a:prstDash val="solid"/>
              <a:miter lim="800000"/>
            </a:ln>
            <a:effectLst/>
          </p:spPr>
        </p:cxnSp>
      </p:grpSp>
      <p:sp>
        <p:nvSpPr>
          <p:cNvPr id="518" name="Rectangle 517"/>
          <p:cNvSpPr/>
          <p:nvPr/>
        </p:nvSpPr>
        <p:spPr>
          <a:xfrm>
            <a:off x="2278859" y="19707120"/>
            <a:ext cx="11622079" cy="2004864"/>
          </a:xfrm>
          <a:prstGeom prst="rect">
            <a:avLst/>
          </a:prstGeom>
          <a:noFill/>
          <a:ln>
            <a:solidFill>
              <a:schemeClr val="accent1">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9" name="Rectangle 518"/>
          <p:cNvSpPr/>
          <p:nvPr/>
        </p:nvSpPr>
        <p:spPr>
          <a:xfrm>
            <a:off x="22710726" y="19368889"/>
            <a:ext cx="6473191" cy="2523380"/>
          </a:xfrm>
          <a:prstGeom prst="rect">
            <a:avLst/>
          </a:prstGeom>
          <a:noFill/>
          <a:ln>
            <a:solidFill>
              <a:schemeClr val="accent1">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0" name="CustomShape 18 1 1"/>
          <p:cNvSpPr/>
          <p:nvPr/>
        </p:nvSpPr>
        <p:spPr>
          <a:xfrm>
            <a:off x="5329909" y="19775992"/>
            <a:ext cx="1728930" cy="688250"/>
          </a:xfrm>
          <a:prstGeom prst="rect">
            <a:avLst/>
          </a:prstGeom>
          <a:noFill/>
          <a:ln>
            <a:noFill/>
          </a:ln>
        </p:spPr>
        <p:txBody>
          <a:bodyPr wrap="none" lIns="90000" tIns="45000" rIns="90000" bIns="45000"/>
          <a:lstStyle/>
          <a:p>
            <a:pPr algn="ctr">
              <a:lnSpc>
                <a:spcPct val="100000"/>
              </a:lnSpc>
            </a:pPr>
            <a:r>
              <a:rPr lang="en-US" sz="3600" b="1" dirty="0" smtClean="0">
                <a:solidFill>
                  <a:schemeClr val="tx2">
                    <a:lumMod val="40000"/>
                    <a:lumOff val="60000"/>
                  </a:schemeClr>
                </a:solidFill>
                <a:latin typeface="Arial"/>
              </a:rPr>
              <a:t>Alice</a:t>
            </a:r>
            <a:endParaRPr sz="3600" b="1" dirty="0">
              <a:solidFill>
                <a:schemeClr val="tx2">
                  <a:lumMod val="40000"/>
                  <a:lumOff val="60000"/>
                </a:schemeClr>
              </a:solidFill>
            </a:endParaRPr>
          </a:p>
        </p:txBody>
      </p:sp>
      <p:sp>
        <p:nvSpPr>
          <p:cNvPr id="521" name="CustomShape 18 1 2"/>
          <p:cNvSpPr/>
          <p:nvPr/>
        </p:nvSpPr>
        <p:spPr>
          <a:xfrm>
            <a:off x="27817089" y="19388709"/>
            <a:ext cx="1728930" cy="688250"/>
          </a:xfrm>
          <a:prstGeom prst="rect">
            <a:avLst/>
          </a:prstGeom>
          <a:noFill/>
          <a:ln>
            <a:noFill/>
          </a:ln>
        </p:spPr>
        <p:txBody>
          <a:bodyPr wrap="none" lIns="90000" tIns="45000" rIns="90000" bIns="45000"/>
          <a:lstStyle/>
          <a:p>
            <a:pPr algn="ctr">
              <a:lnSpc>
                <a:spcPct val="100000"/>
              </a:lnSpc>
            </a:pPr>
            <a:r>
              <a:rPr lang="en-US" sz="3200" b="1" dirty="0" smtClean="0">
                <a:solidFill>
                  <a:schemeClr val="tx2">
                    <a:lumMod val="40000"/>
                    <a:lumOff val="60000"/>
                  </a:schemeClr>
                </a:solidFill>
                <a:latin typeface="Arial"/>
              </a:rPr>
              <a:t>Bob</a:t>
            </a:r>
            <a:endParaRPr sz="3200" b="1" dirty="0">
              <a:solidFill>
                <a:schemeClr val="tx2">
                  <a:lumMod val="40000"/>
                  <a:lumOff val="60000"/>
                </a:schemeClr>
              </a:solidFill>
            </a:endParaRPr>
          </a:p>
        </p:txBody>
      </p:sp>
      <p:sp>
        <p:nvSpPr>
          <p:cNvPr id="522" name="Rectangle 521"/>
          <p:cNvSpPr/>
          <p:nvPr/>
        </p:nvSpPr>
        <p:spPr>
          <a:xfrm>
            <a:off x="15601926" y="18890395"/>
            <a:ext cx="2993580" cy="1497842"/>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3" name="CustomShape 18 1 3"/>
          <p:cNvSpPr/>
          <p:nvPr/>
        </p:nvSpPr>
        <p:spPr>
          <a:xfrm>
            <a:off x="15141414" y="18484009"/>
            <a:ext cx="3693230" cy="688250"/>
          </a:xfrm>
          <a:prstGeom prst="rect">
            <a:avLst/>
          </a:prstGeom>
          <a:noFill/>
          <a:ln>
            <a:noFill/>
          </a:ln>
        </p:spPr>
        <p:txBody>
          <a:bodyPr wrap="none" lIns="90000" tIns="45000" rIns="90000" bIns="45000"/>
          <a:lstStyle/>
          <a:p>
            <a:pPr algn="ctr">
              <a:lnSpc>
                <a:spcPct val="100000"/>
              </a:lnSpc>
            </a:pPr>
            <a:r>
              <a:rPr lang="en-US" sz="2000" smtClean="0">
                <a:latin typeface="Arial"/>
              </a:rPr>
              <a:t>Arbitrary </a:t>
            </a:r>
            <a:r>
              <a:rPr lang="en-US" sz="2000" smtClean="0">
                <a:latin typeface="Arial"/>
              </a:rPr>
              <a:t>waveform generator </a:t>
            </a:r>
            <a:r>
              <a:rPr lang="en-US" sz="2000" smtClean="0">
                <a:latin typeface="Arial"/>
              </a:rPr>
              <a:t>(AWG)</a:t>
            </a:r>
            <a:endParaRPr sz="2000" dirty="0"/>
          </a:p>
        </p:txBody>
      </p:sp>
      <p:grpSp>
        <p:nvGrpSpPr>
          <p:cNvPr id="524" name="Group 523"/>
          <p:cNvGrpSpPr/>
          <p:nvPr/>
        </p:nvGrpSpPr>
        <p:grpSpPr>
          <a:xfrm>
            <a:off x="15743237" y="19431468"/>
            <a:ext cx="599327" cy="441651"/>
            <a:chOff x="15787937" y="19660590"/>
            <a:chExt cx="599327" cy="441651"/>
          </a:xfrm>
        </p:grpSpPr>
        <p:sp>
          <p:nvSpPr>
            <p:cNvPr id="525" name="Oval 524"/>
            <p:cNvSpPr/>
            <p:nvPr/>
          </p:nvSpPr>
          <p:spPr>
            <a:xfrm>
              <a:off x="15918363" y="19962301"/>
              <a:ext cx="84195" cy="8649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526" name="Oval 525"/>
            <p:cNvSpPr/>
            <p:nvPr/>
          </p:nvSpPr>
          <p:spPr>
            <a:xfrm>
              <a:off x="16123603" y="19962301"/>
              <a:ext cx="84195" cy="8649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527" name="Rectangle 526"/>
            <p:cNvSpPr/>
            <p:nvPr/>
          </p:nvSpPr>
          <p:spPr>
            <a:xfrm>
              <a:off x="15884700" y="19908857"/>
              <a:ext cx="392196" cy="19338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528" name="CustomShape 18 1 4"/>
            <p:cNvSpPr/>
            <p:nvPr/>
          </p:nvSpPr>
          <p:spPr>
            <a:xfrm>
              <a:off x="15787937" y="19660590"/>
              <a:ext cx="599327" cy="222578"/>
            </a:xfrm>
            <a:prstGeom prst="rect">
              <a:avLst/>
            </a:prstGeom>
            <a:noFill/>
            <a:ln>
              <a:noFill/>
            </a:ln>
          </p:spPr>
          <p:txBody>
            <a:bodyPr wrap="none" lIns="90000" tIns="45000" rIns="90000" bIns="45000"/>
            <a:lstStyle/>
            <a:p>
              <a:pPr algn="ctr">
                <a:lnSpc>
                  <a:spcPct val="100000"/>
                </a:lnSpc>
              </a:pPr>
              <a:r>
                <a:rPr lang="en-US" sz="1200" dirty="0" smtClean="0">
                  <a:solidFill>
                    <a:srgbClr val="000000"/>
                  </a:solidFill>
                  <a:latin typeface="Arial"/>
                </a:rPr>
                <a:t>Ch1</a:t>
              </a:r>
              <a:endParaRPr sz="1200" dirty="0"/>
            </a:p>
          </p:txBody>
        </p:sp>
      </p:grpSp>
      <p:grpSp>
        <p:nvGrpSpPr>
          <p:cNvPr id="529" name="Group 528"/>
          <p:cNvGrpSpPr/>
          <p:nvPr/>
        </p:nvGrpSpPr>
        <p:grpSpPr>
          <a:xfrm>
            <a:off x="15732000" y="19955883"/>
            <a:ext cx="599327" cy="410318"/>
            <a:chOff x="17587158" y="19919778"/>
            <a:chExt cx="599327" cy="410318"/>
          </a:xfrm>
        </p:grpSpPr>
        <p:sp>
          <p:nvSpPr>
            <p:cNvPr id="530" name="Oval 529"/>
            <p:cNvSpPr/>
            <p:nvPr/>
          </p:nvSpPr>
          <p:spPr>
            <a:xfrm>
              <a:off x="17739371" y="19967245"/>
              <a:ext cx="84195" cy="8649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531" name="Oval 530"/>
            <p:cNvSpPr/>
            <p:nvPr/>
          </p:nvSpPr>
          <p:spPr>
            <a:xfrm>
              <a:off x="17943824" y="19967672"/>
              <a:ext cx="84195" cy="8649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532" name="Rectangle 531"/>
            <p:cNvSpPr/>
            <p:nvPr/>
          </p:nvSpPr>
          <p:spPr>
            <a:xfrm>
              <a:off x="17694776" y="19919778"/>
              <a:ext cx="392196" cy="19338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533" name="CustomShape 18 1 5"/>
            <p:cNvSpPr/>
            <p:nvPr/>
          </p:nvSpPr>
          <p:spPr>
            <a:xfrm>
              <a:off x="17587158" y="20107518"/>
              <a:ext cx="599327" cy="222578"/>
            </a:xfrm>
            <a:prstGeom prst="rect">
              <a:avLst/>
            </a:prstGeom>
            <a:noFill/>
            <a:ln>
              <a:noFill/>
            </a:ln>
          </p:spPr>
          <p:txBody>
            <a:bodyPr wrap="none" lIns="90000" tIns="45000" rIns="90000" bIns="45000"/>
            <a:lstStyle/>
            <a:p>
              <a:pPr algn="ctr">
                <a:lnSpc>
                  <a:spcPct val="100000"/>
                </a:lnSpc>
              </a:pPr>
              <a:r>
                <a:rPr lang="en-US" sz="1200" dirty="0" smtClean="0">
                  <a:solidFill>
                    <a:srgbClr val="000000"/>
                  </a:solidFill>
                  <a:latin typeface="Arial"/>
                </a:rPr>
                <a:t>Ch2</a:t>
              </a:r>
              <a:endParaRPr sz="1200" dirty="0"/>
            </a:p>
          </p:txBody>
        </p:sp>
      </p:grpSp>
      <p:sp>
        <p:nvSpPr>
          <p:cNvPr id="534" name="CustomShape 2 2 2"/>
          <p:cNvSpPr/>
          <p:nvPr/>
        </p:nvSpPr>
        <p:spPr>
          <a:xfrm>
            <a:off x="9828552" y="20428269"/>
            <a:ext cx="1761805" cy="886656"/>
          </a:xfrm>
          <a:prstGeom prst="rect">
            <a:avLst/>
          </a:prstGeom>
          <a:noFill/>
          <a:ln>
            <a:noFill/>
          </a:ln>
        </p:spPr>
        <p:txBody>
          <a:bodyPr wrap="none" lIns="90000" tIns="45000" rIns="90000" bIns="45000"/>
          <a:lstStyle/>
          <a:p>
            <a:pPr algn="ctr">
              <a:lnSpc>
                <a:spcPct val="100000"/>
              </a:lnSpc>
            </a:pPr>
            <a:r>
              <a:rPr lang="en-US" sz="2000" smtClean="0">
                <a:solidFill>
                  <a:schemeClr val="bg1"/>
                </a:solidFill>
                <a:latin typeface="Arial"/>
              </a:rPr>
              <a:t>Phase </a:t>
            </a:r>
          </a:p>
          <a:p>
            <a:pPr algn="ctr">
              <a:lnSpc>
                <a:spcPct val="100000"/>
              </a:lnSpc>
            </a:pPr>
            <a:r>
              <a:rPr lang="en-US" sz="2000" smtClean="0">
                <a:solidFill>
                  <a:schemeClr val="bg1"/>
                </a:solidFill>
                <a:latin typeface="Arial"/>
              </a:rPr>
              <a:t>modulator</a:t>
            </a:r>
          </a:p>
          <a:p>
            <a:pPr algn="ctr">
              <a:lnSpc>
                <a:spcPct val="100000"/>
              </a:lnSpc>
            </a:pPr>
            <a:r>
              <a:rPr lang="en-US" sz="2000" smtClean="0">
                <a:solidFill>
                  <a:schemeClr val="bg1"/>
                </a:solidFill>
                <a:latin typeface="Arial"/>
              </a:rPr>
              <a:t>(PM)</a:t>
            </a:r>
            <a:endParaRPr sz="2000" dirty="0">
              <a:solidFill>
                <a:schemeClr val="bg1"/>
              </a:solidFill>
            </a:endParaRPr>
          </a:p>
        </p:txBody>
      </p:sp>
      <p:sp>
        <p:nvSpPr>
          <p:cNvPr id="535" name="CustomShape 2 2 3"/>
          <p:cNvSpPr/>
          <p:nvPr/>
        </p:nvSpPr>
        <p:spPr>
          <a:xfrm>
            <a:off x="11864329" y="20406519"/>
            <a:ext cx="1761805" cy="886656"/>
          </a:xfrm>
          <a:prstGeom prst="rect">
            <a:avLst/>
          </a:prstGeom>
          <a:noFill/>
          <a:ln>
            <a:noFill/>
          </a:ln>
        </p:spPr>
        <p:txBody>
          <a:bodyPr wrap="none" lIns="90000" tIns="45000" rIns="90000" bIns="45000"/>
          <a:lstStyle/>
          <a:p>
            <a:pPr algn="ctr">
              <a:lnSpc>
                <a:spcPct val="100000"/>
              </a:lnSpc>
            </a:pPr>
            <a:r>
              <a:rPr lang="en-US" sz="2000" smtClean="0">
                <a:solidFill>
                  <a:schemeClr val="bg1"/>
                </a:solidFill>
                <a:latin typeface="Arial"/>
              </a:rPr>
              <a:t>Variable </a:t>
            </a:r>
          </a:p>
          <a:p>
            <a:pPr algn="ctr">
              <a:lnSpc>
                <a:spcPct val="100000"/>
              </a:lnSpc>
            </a:pPr>
            <a:r>
              <a:rPr lang="en-US" sz="2000" smtClean="0">
                <a:solidFill>
                  <a:schemeClr val="bg1"/>
                </a:solidFill>
                <a:latin typeface="Arial"/>
              </a:rPr>
              <a:t>attenuator</a:t>
            </a:r>
          </a:p>
          <a:p>
            <a:pPr algn="ctr">
              <a:lnSpc>
                <a:spcPct val="100000"/>
              </a:lnSpc>
            </a:pPr>
            <a:r>
              <a:rPr lang="en-US" sz="2000" smtClean="0">
                <a:solidFill>
                  <a:schemeClr val="bg1"/>
                </a:solidFill>
                <a:latin typeface="Arial"/>
              </a:rPr>
              <a:t>(VATT)</a:t>
            </a:r>
            <a:endParaRPr sz="2000" dirty="0">
              <a:solidFill>
                <a:schemeClr val="bg1"/>
              </a:solidFill>
            </a:endParaRPr>
          </a:p>
        </p:txBody>
      </p:sp>
      <p:grpSp>
        <p:nvGrpSpPr>
          <p:cNvPr id="536" name="Group 535"/>
          <p:cNvGrpSpPr>
            <a:grpSpLocks noChangeAspect="1"/>
          </p:cNvGrpSpPr>
          <p:nvPr/>
        </p:nvGrpSpPr>
        <p:grpSpPr>
          <a:xfrm>
            <a:off x="16147864" y="20607292"/>
            <a:ext cx="1296000" cy="1228825"/>
            <a:chOff x="5212431" y="4474143"/>
            <a:chExt cx="552946" cy="605570"/>
          </a:xfrm>
        </p:grpSpPr>
        <p:sp>
          <p:nvSpPr>
            <p:cNvPr id="537" name="Can 536"/>
            <p:cNvSpPr/>
            <p:nvPr/>
          </p:nvSpPr>
          <p:spPr>
            <a:xfrm>
              <a:off x="5212538" y="4968835"/>
              <a:ext cx="552839" cy="110878"/>
            </a:xfrm>
            <a:prstGeom prst="can">
              <a:avLst>
                <a:gd name="adj" fmla="val 50000"/>
              </a:avLst>
            </a:prstGeom>
            <a:solidFill>
              <a:schemeClr val="tx2"/>
            </a:solidFill>
            <a:ln w="9525">
              <a:solidFill>
                <a:schemeClr val="tx2"/>
              </a:solidFill>
            </a:ln>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538" name="Group 537"/>
            <p:cNvGrpSpPr/>
            <p:nvPr/>
          </p:nvGrpSpPr>
          <p:grpSpPr>
            <a:xfrm>
              <a:off x="5277572" y="4732951"/>
              <a:ext cx="422665" cy="275027"/>
              <a:chOff x="1530028" y="4595042"/>
              <a:chExt cx="533535" cy="510684"/>
            </a:xfrm>
          </p:grpSpPr>
          <p:sp>
            <p:nvSpPr>
              <p:cNvPr id="545" name="Can 544"/>
              <p:cNvSpPr/>
              <p:nvPr/>
            </p:nvSpPr>
            <p:spPr>
              <a:xfrm>
                <a:off x="1530163" y="4899842"/>
                <a:ext cx="533400" cy="205884"/>
              </a:xfrm>
              <a:prstGeom prst="can">
                <a:avLst>
                  <a:gd name="adj" fmla="val 50000"/>
                </a:avLst>
              </a:prstGeom>
              <a:solidFill>
                <a:schemeClr val="bg2"/>
              </a:solidFill>
              <a:ln w="9525">
                <a:solidFill>
                  <a:srgbClr val="FF6600"/>
                </a:solidFill>
              </a:ln>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6" name="Can 545"/>
              <p:cNvSpPr/>
              <p:nvPr/>
            </p:nvSpPr>
            <p:spPr>
              <a:xfrm>
                <a:off x="1530163" y="4823642"/>
                <a:ext cx="533400" cy="205884"/>
              </a:xfrm>
              <a:prstGeom prst="can">
                <a:avLst>
                  <a:gd name="adj" fmla="val 50000"/>
                </a:avLst>
              </a:prstGeom>
              <a:solidFill>
                <a:schemeClr val="bg2"/>
              </a:solidFill>
              <a:ln w="9525">
                <a:solidFill>
                  <a:srgbClr val="FF6600"/>
                </a:solidFill>
              </a:ln>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7" name="Can 546"/>
              <p:cNvSpPr/>
              <p:nvPr/>
            </p:nvSpPr>
            <p:spPr>
              <a:xfrm>
                <a:off x="1530163" y="4747442"/>
                <a:ext cx="533400" cy="205884"/>
              </a:xfrm>
              <a:prstGeom prst="can">
                <a:avLst>
                  <a:gd name="adj" fmla="val 50000"/>
                </a:avLst>
              </a:prstGeom>
              <a:solidFill>
                <a:schemeClr val="bg2"/>
              </a:solidFill>
              <a:ln w="9525">
                <a:solidFill>
                  <a:srgbClr val="FF6600"/>
                </a:solidFill>
              </a:ln>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8" name="Can 547"/>
              <p:cNvSpPr/>
              <p:nvPr/>
            </p:nvSpPr>
            <p:spPr>
              <a:xfrm>
                <a:off x="1530163" y="4671242"/>
                <a:ext cx="533400" cy="205884"/>
              </a:xfrm>
              <a:prstGeom prst="can">
                <a:avLst>
                  <a:gd name="adj" fmla="val 50000"/>
                </a:avLst>
              </a:prstGeom>
              <a:solidFill>
                <a:schemeClr val="bg2"/>
              </a:solidFill>
              <a:ln w="9525">
                <a:solidFill>
                  <a:srgbClr val="FF6600"/>
                </a:solidFill>
              </a:ln>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9" name="Can 548"/>
              <p:cNvSpPr/>
              <p:nvPr/>
            </p:nvSpPr>
            <p:spPr>
              <a:xfrm>
                <a:off x="1530028" y="4595042"/>
                <a:ext cx="533400" cy="205884"/>
              </a:xfrm>
              <a:prstGeom prst="can">
                <a:avLst>
                  <a:gd name="adj" fmla="val 50000"/>
                </a:avLst>
              </a:prstGeom>
              <a:solidFill>
                <a:schemeClr val="bg2"/>
              </a:solidFill>
              <a:ln w="9525">
                <a:solidFill>
                  <a:srgbClr val="FF6600"/>
                </a:solidFill>
              </a:ln>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539" name="Can 538"/>
            <p:cNvSpPr/>
            <p:nvPr/>
          </p:nvSpPr>
          <p:spPr>
            <a:xfrm>
              <a:off x="5277679" y="4691914"/>
              <a:ext cx="422558" cy="110878"/>
            </a:xfrm>
            <a:prstGeom prst="can">
              <a:avLst>
                <a:gd name="adj" fmla="val 50000"/>
              </a:avLst>
            </a:prstGeom>
            <a:solidFill>
              <a:schemeClr val="bg2"/>
            </a:solidFill>
            <a:ln w="9525">
              <a:solidFill>
                <a:srgbClr val="FF6600"/>
              </a:solidFill>
            </a:ln>
            <a:scene3d>
              <a:camera prst="perspectiveRelaxed" fov="1500000">
                <a:rot lat="2159400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0" name="Can 539"/>
            <p:cNvSpPr/>
            <p:nvPr/>
          </p:nvSpPr>
          <p:spPr>
            <a:xfrm>
              <a:off x="5277679" y="4650877"/>
              <a:ext cx="422558" cy="110878"/>
            </a:xfrm>
            <a:prstGeom prst="can">
              <a:avLst>
                <a:gd name="adj" fmla="val 50000"/>
              </a:avLst>
            </a:prstGeom>
            <a:solidFill>
              <a:schemeClr val="bg2"/>
            </a:solidFill>
            <a:ln w="9525">
              <a:solidFill>
                <a:srgbClr val="FF6600"/>
              </a:solidFill>
            </a:ln>
            <a:scene3d>
              <a:camera prst="perspectiveRelaxed" fov="1500000">
                <a:rot lat="2159400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1" name="Can 540"/>
            <p:cNvSpPr/>
            <p:nvPr/>
          </p:nvSpPr>
          <p:spPr>
            <a:xfrm>
              <a:off x="5277679" y="4609840"/>
              <a:ext cx="422558" cy="110878"/>
            </a:xfrm>
            <a:prstGeom prst="can">
              <a:avLst>
                <a:gd name="adj" fmla="val 50000"/>
              </a:avLst>
            </a:prstGeom>
            <a:solidFill>
              <a:schemeClr val="bg2"/>
            </a:solidFill>
            <a:ln w="9525">
              <a:solidFill>
                <a:srgbClr val="FF6600"/>
              </a:solidFill>
            </a:ln>
            <a:scene3d>
              <a:camera prst="perspectiveRelaxed" fov="1500000">
                <a:rot lat="2159400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2" name="Can 541"/>
            <p:cNvSpPr/>
            <p:nvPr/>
          </p:nvSpPr>
          <p:spPr>
            <a:xfrm>
              <a:off x="5277679" y="4568802"/>
              <a:ext cx="422558" cy="110878"/>
            </a:xfrm>
            <a:prstGeom prst="can">
              <a:avLst>
                <a:gd name="adj" fmla="val 50000"/>
              </a:avLst>
            </a:prstGeom>
            <a:solidFill>
              <a:schemeClr val="bg2"/>
            </a:solidFill>
            <a:ln w="9525">
              <a:solidFill>
                <a:srgbClr val="FF6600"/>
              </a:solidFill>
            </a:ln>
            <a:scene3d>
              <a:camera prst="perspectiveRelaxed" fov="1500000">
                <a:rot lat="2159400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3" name="Can 542"/>
            <p:cNvSpPr/>
            <p:nvPr/>
          </p:nvSpPr>
          <p:spPr>
            <a:xfrm>
              <a:off x="5277572" y="4527765"/>
              <a:ext cx="422558" cy="110878"/>
            </a:xfrm>
            <a:prstGeom prst="can">
              <a:avLst>
                <a:gd name="adj" fmla="val 50000"/>
              </a:avLst>
            </a:prstGeom>
            <a:solidFill>
              <a:schemeClr val="bg2"/>
            </a:solidFill>
            <a:ln w="9525">
              <a:solidFill>
                <a:srgbClr val="FF6600"/>
              </a:solidFill>
            </a:ln>
            <a:scene3d>
              <a:camera prst="perspectiveRelaxed" fov="1500000">
                <a:rot lat="2159400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4" name="Can 543"/>
            <p:cNvSpPr/>
            <p:nvPr/>
          </p:nvSpPr>
          <p:spPr>
            <a:xfrm>
              <a:off x="5212431" y="4474143"/>
              <a:ext cx="552839" cy="110878"/>
            </a:xfrm>
            <a:prstGeom prst="can">
              <a:avLst>
                <a:gd name="adj" fmla="val 50000"/>
              </a:avLst>
            </a:prstGeom>
            <a:solidFill>
              <a:schemeClr val="tx2"/>
            </a:solidFill>
            <a:ln w="9525">
              <a:solidFill>
                <a:schemeClr val="tx2"/>
              </a:solidFill>
            </a:ln>
            <a:scene3d>
              <a:camera prst="perspectiveRelaxed" fov="1500000">
                <a:rot lat="2159400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550" name="Rectangle 549"/>
          <p:cNvSpPr/>
          <p:nvPr/>
        </p:nvSpPr>
        <p:spPr>
          <a:xfrm>
            <a:off x="692929" y="24408999"/>
            <a:ext cx="1700568" cy="1066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51" name="Group 550"/>
          <p:cNvGrpSpPr/>
          <p:nvPr/>
        </p:nvGrpSpPr>
        <p:grpSpPr>
          <a:xfrm>
            <a:off x="12473815" y="22047818"/>
            <a:ext cx="4161278" cy="836289"/>
            <a:chOff x="-3086370" y="-1256113"/>
            <a:chExt cx="4161278" cy="836289"/>
          </a:xfrm>
        </p:grpSpPr>
        <p:cxnSp>
          <p:nvCxnSpPr>
            <p:cNvPr id="552" name="Straight Connector 551"/>
            <p:cNvCxnSpPr/>
            <p:nvPr/>
          </p:nvCxnSpPr>
          <p:spPr>
            <a:xfrm flipV="1">
              <a:off x="-3086370" y="-1024104"/>
              <a:ext cx="609057" cy="2577"/>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553" name="Straight Connector 552"/>
            <p:cNvCxnSpPr/>
            <p:nvPr/>
          </p:nvCxnSpPr>
          <p:spPr>
            <a:xfrm flipV="1">
              <a:off x="-3086370" y="-674517"/>
              <a:ext cx="609057" cy="2577"/>
            </a:xfrm>
            <a:prstGeom prst="line">
              <a:avLst/>
            </a:prstGeom>
            <a:ln w="28575">
              <a:solidFill>
                <a:srgbClr val="FF6600"/>
              </a:solidFill>
            </a:ln>
          </p:spPr>
          <p:style>
            <a:lnRef idx="1">
              <a:schemeClr val="accent1"/>
            </a:lnRef>
            <a:fillRef idx="0">
              <a:schemeClr val="accent1"/>
            </a:fillRef>
            <a:effectRef idx="0">
              <a:schemeClr val="accent1"/>
            </a:effectRef>
            <a:fontRef idx="minor">
              <a:schemeClr val="tx1"/>
            </a:fontRef>
          </p:style>
        </p:cxnSp>
        <p:sp>
          <p:nvSpPr>
            <p:cNvPr id="554" name="CustomShape 2 4"/>
            <p:cNvSpPr/>
            <p:nvPr/>
          </p:nvSpPr>
          <p:spPr>
            <a:xfrm>
              <a:off x="-2331368" y="-1256113"/>
              <a:ext cx="3406276" cy="836289"/>
            </a:xfrm>
            <a:prstGeom prst="rect">
              <a:avLst/>
            </a:prstGeom>
            <a:noFill/>
            <a:ln>
              <a:noFill/>
            </a:ln>
          </p:spPr>
          <p:txBody>
            <a:bodyPr wrap="none" lIns="90000" tIns="45000" rIns="90000" bIns="45000"/>
            <a:lstStyle/>
            <a:p>
              <a:pPr>
                <a:lnSpc>
                  <a:spcPct val="100000"/>
                </a:lnSpc>
              </a:pPr>
              <a:r>
                <a:rPr lang="en-US" sz="2000" smtClean="0">
                  <a:solidFill>
                    <a:srgbClr val="000000"/>
                  </a:solidFill>
                  <a:latin typeface="Arial"/>
                </a:rPr>
                <a:t>polarization maintaining fiber (PMF)</a:t>
              </a:r>
              <a:endParaRPr lang="en-US" sz="2000" dirty="0" smtClean="0">
                <a:solidFill>
                  <a:srgbClr val="000000"/>
                </a:solidFill>
                <a:latin typeface="Arial"/>
              </a:endParaRPr>
            </a:p>
            <a:p>
              <a:pPr>
                <a:lnSpc>
                  <a:spcPct val="100000"/>
                </a:lnSpc>
              </a:pPr>
              <a:endParaRPr lang="en-US" sz="400" dirty="0" smtClean="0">
                <a:solidFill>
                  <a:srgbClr val="000000"/>
                </a:solidFill>
                <a:latin typeface="Arial"/>
              </a:endParaRPr>
            </a:p>
            <a:p>
              <a:pPr>
                <a:lnSpc>
                  <a:spcPct val="100000"/>
                </a:lnSpc>
              </a:pPr>
              <a:r>
                <a:rPr lang="en-US" sz="2000">
                  <a:solidFill>
                    <a:srgbClr val="000000"/>
                  </a:solidFill>
                  <a:latin typeface="Arial"/>
                </a:rPr>
                <a:t>s</a:t>
              </a:r>
              <a:r>
                <a:rPr lang="en-US" sz="2000" smtClean="0">
                  <a:solidFill>
                    <a:srgbClr val="000000"/>
                  </a:solidFill>
                  <a:latin typeface="Arial"/>
                </a:rPr>
                <a:t>ingle mode fiber (SMF)</a:t>
              </a:r>
              <a:endParaRPr dirty="0"/>
            </a:p>
          </p:txBody>
        </p:sp>
      </p:grpSp>
      <p:pic>
        <p:nvPicPr>
          <p:cNvPr id="555" name="Picture 554"/>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7065536" y="21912879"/>
            <a:ext cx="5025425" cy="3061849"/>
          </a:xfrm>
          <a:prstGeom prst="rect">
            <a:avLst/>
          </a:prstGeom>
        </p:spPr>
      </p:pic>
      <p:sp>
        <p:nvSpPr>
          <p:cNvPr id="556" name="CustomShape 18 4 1"/>
          <p:cNvSpPr/>
          <p:nvPr/>
        </p:nvSpPr>
        <p:spPr>
          <a:xfrm>
            <a:off x="12768422" y="27367037"/>
            <a:ext cx="6540046" cy="1131011"/>
          </a:xfrm>
          <a:prstGeom prst="rect">
            <a:avLst/>
          </a:prstGeom>
          <a:noFill/>
          <a:ln>
            <a:noFill/>
          </a:ln>
        </p:spPr>
        <p:txBody>
          <a:bodyPr wrap="none" lIns="90000" tIns="45000" rIns="90000" bIns="45000"/>
          <a:lstStyle/>
          <a:p>
            <a:pPr lvl="0" defTabSz="914400"/>
            <a:endParaRPr kumimoji="0" sz="1400" b="0" i="0" u="none" strike="noStrike" kern="0" cap="none" spc="0" normalizeH="0" baseline="0" noProof="0" dirty="0" smtClean="0">
              <a:ln>
                <a:noFill/>
              </a:ln>
              <a:solidFill>
                <a:prstClr val="black"/>
              </a:solidFill>
              <a:effectLst/>
              <a:uLnTx/>
              <a:uFillTx/>
            </a:endParaRPr>
          </a:p>
        </p:txBody>
      </p:sp>
      <p:pic>
        <p:nvPicPr>
          <p:cNvPr id="557" name="Picture 556"/>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341437" y="25159436"/>
            <a:ext cx="4819729" cy="2498483"/>
          </a:xfrm>
          <a:prstGeom prst="rect">
            <a:avLst/>
          </a:prstGeom>
        </p:spPr>
      </p:pic>
      <p:pic>
        <p:nvPicPr>
          <p:cNvPr id="558" name="Picture 557"/>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7229507" y="25012534"/>
            <a:ext cx="4744297" cy="2506421"/>
          </a:xfrm>
          <a:prstGeom prst="rect">
            <a:avLst/>
          </a:prstGeom>
        </p:spPr>
      </p:pic>
      <p:pic>
        <p:nvPicPr>
          <p:cNvPr id="559" name="Picture 558"/>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13588501" y="23348982"/>
            <a:ext cx="4517699" cy="3500963"/>
          </a:xfrm>
          <a:prstGeom prst="rect">
            <a:avLst/>
          </a:prstGeom>
        </p:spPr>
      </p:pic>
      <p:sp>
        <p:nvSpPr>
          <p:cNvPr id="560" name="CustomShape 18 4 2"/>
          <p:cNvSpPr/>
          <p:nvPr/>
        </p:nvSpPr>
        <p:spPr>
          <a:xfrm>
            <a:off x="1184791" y="27917257"/>
            <a:ext cx="4957246" cy="708063"/>
          </a:xfrm>
          <a:prstGeom prst="rect">
            <a:avLst/>
          </a:prstGeom>
          <a:noFill/>
          <a:ln>
            <a:noFill/>
          </a:ln>
        </p:spPr>
        <p:txBody>
          <a:bodyPr wrap="none" lIns="90000" tIns="45000" rIns="90000" bIns="45000"/>
          <a:lstStyle/>
          <a:p>
            <a:pPr lvl="0" defTabSz="914400"/>
            <a:endParaRPr kumimoji="0" sz="1200" b="0" i="0" u="none" strike="noStrike" kern="0" cap="none" spc="0" normalizeH="0" baseline="0" noProof="0" dirty="0" smtClean="0">
              <a:ln>
                <a:noFill/>
              </a:ln>
              <a:solidFill>
                <a:prstClr val="black"/>
              </a:solidFill>
              <a:effectLst/>
              <a:uLnTx/>
              <a:uFillTx/>
            </a:endParaRPr>
          </a:p>
        </p:txBody>
      </p:sp>
      <p:grpSp>
        <p:nvGrpSpPr>
          <p:cNvPr id="561" name="Group 560"/>
          <p:cNvGrpSpPr/>
          <p:nvPr/>
        </p:nvGrpSpPr>
        <p:grpSpPr>
          <a:xfrm>
            <a:off x="8609162" y="19880911"/>
            <a:ext cx="7283406" cy="684000"/>
            <a:chOff x="8575650" y="21286719"/>
            <a:chExt cx="7283406" cy="720000"/>
          </a:xfrm>
          <a:scene3d>
            <a:camera prst="orthographicFront">
              <a:rot lat="10800000" lon="0" rev="0"/>
            </a:camera>
            <a:lightRig rig="threePt" dir="t"/>
          </a:scene3d>
        </p:grpSpPr>
        <p:cxnSp>
          <p:nvCxnSpPr>
            <p:cNvPr id="562" name="Straight Arrow Connector 561"/>
            <p:cNvCxnSpPr/>
            <p:nvPr/>
          </p:nvCxnSpPr>
          <p:spPr>
            <a:xfrm flipV="1">
              <a:off x="8575650" y="21286719"/>
              <a:ext cx="31" cy="720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3" name="Straight Connector 562"/>
            <p:cNvCxnSpPr/>
            <p:nvPr/>
          </p:nvCxnSpPr>
          <p:spPr>
            <a:xfrm>
              <a:off x="8575650" y="21978846"/>
              <a:ext cx="7283406" cy="7624"/>
            </a:xfrm>
            <a:prstGeom prst="line">
              <a:avLst/>
            </a:prstGeom>
          </p:spPr>
          <p:style>
            <a:lnRef idx="3">
              <a:schemeClr val="dk1"/>
            </a:lnRef>
            <a:fillRef idx="0">
              <a:schemeClr val="dk1"/>
            </a:fillRef>
            <a:effectRef idx="2">
              <a:schemeClr val="dk1"/>
            </a:effectRef>
            <a:fontRef idx="minor">
              <a:schemeClr val="tx1"/>
            </a:fontRef>
          </p:style>
        </p:cxnSp>
      </p:grpSp>
      <p:grpSp>
        <p:nvGrpSpPr>
          <p:cNvPr id="564" name="Group 563"/>
          <p:cNvGrpSpPr/>
          <p:nvPr/>
        </p:nvGrpSpPr>
        <p:grpSpPr>
          <a:xfrm>
            <a:off x="10670517" y="20160000"/>
            <a:ext cx="5246713" cy="396000"/>
            <a:chOff x="8575650" y="21286719"/>
            <a:chExt cx="7283406" cy="720000"/>
          </a:xfrm>
          <a:scene3d>
            <a:camera prst="orthographicFront">
              <a:rot lat="10800000" lon="0" rev="0"/>
            </a:camera>
            <a:lightRig rig="threePt" dir="t"/>
          </a:scene3d>
        </p:grpSpPr>
        <p:cxnSp>
          <p:nvCxnSpPr>
            <p:cNvPr id="565" name="Straight Arrow Connector 564"/>
            <p:cNvCxnSpPr/>
            <p:nvPr/>
          </p:nvCxnSpPr>
          <p:spPr>
            <a:xfrm flipV="1">
              <a:off x="8575650" y="21286719"/>
              <a:ext cx="31" cy="720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6" name="Straight Connector 565"/>
            <p:cNvCxnSpPr/>
            <p:nvPr/>
          </p:nvCxnSpPr>
          <p:spPr>
            <a:xfrm>
              <a:off x="8575650" y="21978846"/>
              <a:ext cx="7283406" cy="7624"/>
            </a:xfrm>
            <a:prstGeom prst="line">
              <a:avLst/>
            </a:prstGeom>
          </p:spPr>
          <p:style>
            <a:lnRef idx="3">
              <a:schemeClr val="dk1"/>
            </a:lnRef>
            <a:fillRef idx="0">
              <a:schemeClr val="dk1"/>
            </a:fillRef>
            <a:effectRef idx="2">
              <a:schemeClr val="dk1"/>
            </a:effectRef>
            <a:fontRef idx="minor">
              <a:schemeClr val="tx1"/>
            </a:fontRef>
          </p:style>
        </p:cxnSp>
      </p:grpSp>
      <p:pic>
        <p:nvPicPr>
          <p:cNvPr id="567" name="Picture 566"/>
          <p:cNvPicPr>
            <a:picLocks noChangeAspect="1"/>
          </p:cNvPicPr>
          <p:nvPr/>
        </p:nvPicPr>
        <p:blipFill>
          <a:blip r:embed="rId24"/>
          <a:stretch>
            <a:fillRect/>
          </a:stretch>
        </p:blipFill>
        <p:spPr>
          <a:xfrm>
            <a:off x="16846032" y="18958719"/>
            <a:ext cx="1399394" cy="665994"/>
          </a:xfrm>
          <a:prstGeom prst="rect">
            <a:avLst/>
          </a:prstGeom>
        </p:spPr>
      </p:pic>
      <p:pic>
        <p:nvPicPr>
          <p:cNvPr id="568" name="Picture 567"/>
          <p:cNvPicPr>
            <a:picLocks noChangeAspect="1"/>
          </p:cNvPicPr>
          <p:nvPr/>
        </p:nvPicPr>
        <p:blipFill>
          <a:blip r:embed="rId25" cstate="print">
            <a:extLst>
              <a:ext uri="{28A0092B-C50C-407E-A947-70E740481C1C}">
                <a14:useLocalDpi xmlns:a14="http://schemas.microsoft.com/office/drawing/2010/main" val="0"/>
              </a:ext>
            </a:extLst>
          </a:blip>
          <a:stretch>
            <a:fillRect/>
          </a:stretch>
        </p:blipFill>
        <p:spPr>
          <a:xfrm>
            <a:off x="19074807" y="19034919"/>
            <a:ext cx="3157117" cy="1712517"/>
          </a:xfrm>
          <a:prstGeom prst="rect">
            <a:avLst/>
          </a:prstGeom>
        </p:spPr>
      </p:pic>
      <p:sp>
        <p:nvSpPr>
          <p:cNvPr id="569" name="CustomShape 2 2 4"/>
          <p:cNvSpPr/>
          <p:nvPr/>
        </p:nvSpPr>
        <p:spPr>
          <a:xfrm>
            <a:off x="14624715" y="21042561"/>
            <a:ext cx="1761805" cy="886656"/>
          </a:xfrm>
          <a:prstGeom prst="rect">
            <a:avLst/>
          </a:prstGeom>
          <a:noFill/>
          <a:ln>
            <a:noFill/>
          </a:ln>
        </p:spPr>
        <p:txBody>
          <a:bodyPr wrap="none" lIns="90000" tIns="45000" rIns="90000" bIns="45000"/>
          <a:lstStyle/>
          <a:p>
            <a:pPr algn="ctr">
              <a:lnSpc>
                <a:spcPct val="100000"/>
              </a:lnSpc>
            </a:pPr>
            <a:r>
              <a:rPr lang="en-US" sz="2000" smtClean="0">
                <a:latin typeface="Arial"/>
              </a:rPr>
              <a:t>Quantum</a:t>
            </a:r>
          </a:p>
          <a:p>
            <a:pPr algn="ctr">
              <a:lnSpc>
                <a:spcPct val="100000"/>
              </a:lnSpc>
            </a:pPr>
            <a:r>
              <a:rPr lang="en-US" sz="2000" smtClean="0">
                <a:latin typeface="Arial"/>
              </a:rPr>
              <a:t>channel</a:t>
            </a:r>
            <a:endParaRPr sz="2000" dirty="0"/>
          </a:p>
        </p:txBody>
      </p:sp>
      <p:grpSp>
        <p:nvGrpSpPr>
          <p:cNvPr id="570" name="Group 569"/>
          <p:cNvGrpSpPr/>
          <p:nvPr/>
        </p:nvGrpSpPr>
        <p:grpSpPr>
          <a:xfrm>
            <a:off x="19033661" y="25580319"/>
            <a:ext cx="6611087" cy="3132000"/>
            <a:chOff x="22677437" y="25370454"/>
            <a:chExt cx="6611087" cy="3132000"/>
          </a:xfrm>
        </p:grpSpPr>
        <p:pic>
          <p:nvPicPr>
            <p:cNvPr id="571" name="Picture 570"/>
            <p:cNvPicPr>
              <a:picLocks noChangeAspect="1"/>
            </p:cNvPicPr>
            <p:nvPr/>
          </p:nvPicPr>
          <p:blipFill>
            <a:blip r:embed="rId26" cstate="print">
              <a:extLst>
                <a:ext uri="{28A0092B-C50C-407E-A947-70E740481C1C}">
                  <a14:useLocalDpi xmlns:a14="http://schemas.microsoft.com/office/drawing/2010/main" val="0"/>
                </a:ext>
              </a:extLst>
            </a:blip>
            <a:stretch>
              <a:fillRect/>
            </a:stretch>
          </p:blipFill>
          <p:spPr>
            <a:xfrm>
              <a:off x="22677437" y="25370454"/>
              <a:ext cx="6611087" cy="3132000"/>
            </a:xfrm>
            <a:prstGeom prst="rect">
              <a:avLst/>
            </a:prstGeom>
          </p:spPr>
        </p:pic>
        <p:pic>
          <p:nvPicPr>
            <p:cNvPr id="572" name="Picture 571"/>
            <p:cNvPicPr>
              <a:picLocks noChangeAspect="1"/>
            </p:cNvPicPr>
            <p:nvPr/>
          </p:nvPicPr>
          <p:blipFill>
            <a:blip r:embed="rId27" cstate="print">
              <a:extLst>
                <a:ext uri="{28A0092B-C50C-407E-A947-70E740481C1C}">
                  <a14:useLocalDpi xmlns:a14="http://schemas.microsoft.com/office/drawing/2010/main" val="0"/>
                </a:ext>
              </a:extLst>
            </a:blip>
            <a:stretch>
              <a:fillRect/>
            </a:stretch>
          </p:blipFill>
          <p:spPr>
            <a:xfrm>
              <a:off x="24851022" y="25746085"/>
              <a:ext cx="2122974" cy="1351403"/>
            </a:xfrm>
            <a:prstGeom prst="rect">
              <a:avLst/>
            </a:prstGeom>
          </p:spPr>
        </p:pic>
      </p:grpSp>
      <p:sp>
        <p:nvSpPr>
          <p:cNvPr id="573" name="TextBox 572"/>
          <p:cNvSpPr txBox="1"/>
          <p:nvPr/>
        </p:nvSpPr>
        <p:spPr>
          <a:xfrm>
            <a:off x="1030292" y="27759505"/>
            <a:ext cx="5416545" cy="954107"/>
          </a:xfrm>
          <a:prstGeom prst="rect">
            <a:avLst/>
          </a:prstGeom>
          <a:noFill/>
        </p:spPr>
        <p:txBody>
          <a:bodyPr wrap="square" rtlCol="0">
            <a:spAutoFit/>
          </a:bodyPr>
          <a:lstStyle/>
          <a:p>
            <a:pPr algn="just"/>
            <a:r>
              <a:rPr lang="en-US" sz="1400" i="1" kern="0">
                <a:solidFill>
                  <a:srgbClr val="000000"/>
                </a:solidFill>
                <a:latin typeface="Arial" panose="020B0604020202020204" pitchFamily="34" charset="0"/>
                <a:cs typeface="Arial" panose="020B0604020202020204" pitchFamily="34" charset="0"/>
              </a:rPr>
              <a:t>Noise characteristics of the </a:t>
            </a:r>
            <a:r>
              <a:rPr lang="en-US" sz="1400" i="1" kern="0" smtClean="0">
                <a:solidFill>
                  <a:srgbClr val="000000"/>
                </a:solidFill>
                <a:latin typeface="Arial" panose="020B0604020202020204" pitchFamily="34" charset="0"/>
                <a:cs typeface="Arial" panose="020B0604020202020204" pitchFamily="34" charset="0"/>
              </a:rPr>
              <a:t>lasers.</a:t>
            </a:r>
            <a:r>
              <a:rPr lang="en-US" sz="1400" kern="0" smtClean="0">
                <a:solidFill>
                  <a:srgbClr val="000000"/>
                </a:solidFill>
                <a:latin typeface="Arial" panose="020B0604020202020204" pitchFamily="34" charset="0"/>
                <a:cs typeface="Arial" panose="020B0604020202020204" pitchFamily="34" charset="0"/>
              </a:rPr>
              <a:t> </a:t>
            </a:r>
            <a:r>
              <a:rPr lang="en-US" sz="1400" kern="0">
                <a:solidFill>
                  <a:srgbClr val="000000"/>
                </a:solidFill>
                <a:latin typeface="Arial" panose="020B0604020202020204" pitchFamily="34" charset="0"/>
                <a:cs typeface="Arial" panose="020B0604020202020204" pitchFamily="34" charset="0"/>
              </a:rPr>
              <a:t>(Top) Allan deviation of the beat </a:t>
            </a:r>
            <a:r>
              <a:rPr lang="en-US" sz="1400" kern="0" smtClean="0">
                <a:solidFill>
                  <a:srgbClr val="000000"/>
                </a:solidFill>
                <a:latin typeface="Arial" panose="020B0604020202020204" pitchFamily="34" charset="0"/>
                <a:cs typeface="Arial" panose="020B0604020202020204" pitchFamily="34" charset="0"/>
              </a:rPr>
              <a:t>between two E15 or X15 lasers from NKT Photonics. (Bottom) Intensity/shot noise (IN/SN) measurements using the balanced detector with diodes D1 &amp; D2 and assuming 20dB CMR</a:t>
            </a:r>
            <a:endParaRPr lang="en-US" sz="1400" kern="0">
              <a:solidFill>
                <a:prstClr val="black"/>
              </a:solidFill>
              <a:latin typeface="Arial" panose="020B0604020202020204" pitchFamily="34" charset="0"/>
              <a:cs typeface="Arial" panose="020B0604020202020204" pitchFamily="34" charset="0"/>
            </a:endParaRPr>
          </a:p>
        </p:txBody>
      </p:sp>
      <p:pic>
        <p:nvPicPr>
          <p:cNvPr id="574" name="Picture 573"/>
          <p:cNvPicPr>
            <a:picLocks noChangeAspect="1"/>
          </p:cNvPicPr>
          <p:nvPr/>
        </p:nvPicPr>
        <p:blipFill>
          <a:blip r:embed="rId28" cstate="print">
            <a:extLst>
              <a:ext uri="{28A0092B-C50C-407E-A947-70E740481C1C}">
                <a14:useLocalDpi xmlns:a14="http://schemas.microsoft.com/office/drawing/2010/main" val="0"/>
              </a:ext>
            </a:extLst>
          </a:blip>
          <a:stretch>
            <a:fillRect/>
          </a:stretch>
        </p:blipFill>
        <p:spPr>
          <a:xfrm>
            <a:off x="1326953" y="21920715"/>
            <a:ext cx="4815084" cy="3134371"/>
          </a:xfrm>
          <a:prstGeom prst="rect">
            <a:avLst/>
          </a:prstGeom>
        </p:spPr>
      </p:pic>
      <p:sp>
        <p:nvSpPr>
          <p:cNvPr id="575" name="TextBox 574"/>
          <p:cNvSpPr txBox="1"/>
          <p:nvPr/>
        </p:nvSpPr>
        <p:spPr>
          <a:xfrm>
            <a:off x="6631661" y="27568245"/>
            <a:ext cx="6316673" cy="1169551"/>
          </a:xfrm>
          <a:prstGeom prst="rect">
            <a:avLst/>
          </a:prstGeom>
          <a:noFill/>
        </p:spPr>
        <p:txBody>
          <a:bodyPr wrap="square" rtlCol="0">
            <a:spAutoFit/>
          </a:bodyPr>
          <a:lstStyle/>
          <a:p>
            <a:pPr lvl="0" algn="just" defTabSz="914400"/>
            <a:r>
              <a:rPr lang="en-US" sz="1400" i="1" kern="0">
                <a:solidFill>
                  <a:srgbClr val="000000"/>
                </a:solidFill>
                <a:latin typeface="Arial"/>
              </a:rPr>
              <a:t>Characterization of </a:t>
            </a:r>
            <a:r>
              <a:rPr lang="en-US" sz="1400" i="1" kern="0" smtClean="0">
                <a:solidFill>
                  <a:srgbClr val="000000"/>
                </a:solidFill>
                <a:latin typeface="Arial"/>
              </a:rPr>
              <a:t>phase </a:t>
            </a:r>
            <a:r>
              <a:rPr lang="en-US" sz="1400" i="1" kern="0">
                <a:solidFill>
                  <a:srgbClr val="000000"/>
                </a:solidFill>
                <a:latin typeface="Arial"/>
              </a:rPr>
              <a:t>&amp; </a:t>
            </a:r>
            <a:r>
              <a:rPr lang="en-US" sz="1400" i="1" kern="0" smtClean="0">
                <a:solidFill>
                  <a:srgbClr val="000000"/>
                </a:solidFill>
                <a:latin typeface="Arial"/>
              </a:rPr>
              <a:t>intensity </a:t>
            </a:r>
            <a:r>
              <a:rPr lang="en-US" sz="1400" i="1" kern="0">
                <a:solidFill>
                  <a:srgbClr val="000000"/>
                </a:solidFill>
                <a:latin typeface="Arial"/>
              </a:rPr>
              <a:t>modulators</a:t>
            </a:r>
            <a:r>
              <a:rPr lang="en-US" sz="1400" kern="0">
                <a:solidFill>
                  <a:srgbClr val="000000"/>
                </a:solidFill>
                <a:latin typeface="Arial"/>
              </a:rPr>
              <a:t>. </a:t>
            </a:r>
            <a:r>
              <a:rPr lang="en-US" sz="1400" kern="0" smtClean="0">
                <a:solidFill>
                  <a:srgbClr val="000000"/>
                </a:solidFill>
                <a:latin typeface="Arial"/>
              </a:rPr>
              <a:t>Broadband </a:t>
            </a:r>
            <a:r>
              <a:rPr lang="en-US" sz="1400" kern="0">
                <a:solidFill>
                  <a:srgbClr val="000000"/>
                </a:solidFill>
                <a:latin typeface="Arial"/>
              </a:rPr>
              <a:t>coding requires a thorough pre-characterization of the </a:t>
            </a:r>
            <a:r>
              <a:rPr lang="en-US" sz="1400" kern="0" smtClean="0">
                <a:solidFill>
                  <a:srgbClr val="000000"/>
                </a:solidFill>
                <a:latin typeface="Arial"/>
              </a:rPr>
              <a:t>modulators’ response in </a:t>
            </a:r>
            <a:r>
              <a:rPr lang="en-US" sz="1400" kern="0">
                <a:solidFill>
                  <a:srgbClr val="000000"/>
                </a:solidFill>
                <a:latin typeface="Arial"/>
              </a:rPr>
              <a:t>the frequency band of interest</a:t>
            </a:r>
            <a:r>
              <a:rPr lang="en-US" sz="1400" kern="0" smtClean="0">
                <a:solidFill>
                  <a:srgbClr val="000000"/>
                </a:solidFill>
                <a:latin typeface="Arial"/>
              </a:rPr>
              <a:t>. </a:t>
            </a:r>
            <a:r>
              <a:rPr lang="en-US" sz="1400" kern="0">
                <a:solidFill>
                  <a:srgbClr val="000000"/>
                </a:solidFill>
                <a:latin typeface="Arial"/>
              </a:rPr>
              <a:t>(Top)</a:t>
            </a:r>
            <a:r>
              <a:rPr lang="en-US" sz="1400" kern="0" smtClean="0">
                <a:solidFill>
                  <a:srgbClr val="000000"/>
                </a:solidFill>
                <a:latin typeface="Arial"/>
              </a:rPr>
              <a:t> Network </a:t>
            </a:r>
            <a:r>
              <a:rPr lang="en-US" sz="1400" kern="0">
                <a:solidFill>
                  <a:srgbClr val="000000"/>
                </a:solidFill>
                <a:latin typeface="Arial"/>
              </a:rPr>
              <a:t>analyzer measurement results of </a:t>
            </a:r>
            <a:r>
              <a:rPr lang="en-US" sz="1400" kern="0" smtClean="0">
                <a:solidFill>
                  <a:srgbClr val="000000"/>
                </a:solidFill>
                <a:latin typeface="Arial"/>
              </a:rPr>
              <a:t>the S21 </a:t>
            </a:r>
            <a:r>
              <a:rPr lang="en-US" sz="1400" kern="0">
                <a:solidFill>
                  <a:srgbClr val="000000"/>
                </a:solidFill>
                <a:latin typeface="Arial"/>
              </a:rPr>
              <a:t>parameter for the </a:t>
            </a:r>
            <a:r>
              <a:rPr lang="en-US" sz="1400" kern="0" smtClean="0">
                <a:solidFill>
                  <a:srgbClr val="000000"/>
                </a:solidFill>
                <a:latin typeface="Arial"/>
              </a:rPr>
              <a:t>PM. (Bottom) Transfer function of IM, measured using an Arduino (PDin--ADC, DC bias--DAC), also used for stabilization to quad point</a:t>
            </a:r>
            <a:endParaRPr lang="en-US" sz="1400" kern="0">
              <a:solidFill>
                <a:prstClr val="black"/>
              </a:solidFill>
              <a:latin typeface="Arial" panose="020B0604020202020204" pitchFamily="34" charset="0"/>
              <a:cs typeface="Arial" panose="020B0604020202020204" pitchFamily="34" charset="0"/>
            </a:endParaRPr>
          </a:p>
        </p:txBody>
      </p:sp>
      <p:sp>
        <p:nvSpPr>
          <p:cNvPr id="576" name="TextBox 575"/>
          <p:cNvSpPr txBox="1"/>
          <p:nvPr/>
        </p:nvSpPr>
        <p:spPr>
          <a:xfrm>
            <a:off x="13293873" y="27113174"/>
            <a:ext cx="5496087" cy="1600438"/>
          </a:xfrm>
          <a:prstGeom prst="rect">
            <a:avLst/>
          </a:prstGeom>
          <a:noFill/>
        </p:spPr>
        <p:txBody>
          <a:bodyPr wrap="square" rtlCol="0">
            <a:spAutoFit/>
          </a:bodyPr>
          <a:lstStyle/>
          <a:p>
            <a:pPr lvl="0" algn="just" defTabSz="914400"/>
            <a:r>
              <a:rPr lang="en-US" sz="1400" i="1" kern="0" smtClean="0">
                <a:solidFill>
                  <a:srgbClr val="000000"/>
                </a:solidFill>
                <a:latin typeface="Arial"/>
              </a:rPr>
              <a:t>Polarization fluctuation measurements in 20 km fiber spool</a:t>
            </a:r>
            <a:r>
              <a:rPr lang="en-US" sz="1400" kern="0" smtClean="0">
                <a:solidFill>
                  <a:srgbClr val="000000"/>
                </a:solidFill>
                <a:latin typeface="Arial"/>
              </a:rPr>
              <a:t>. Measurements were performed by connecting a detector to the output of the spool via a fiber </a:t>
            </a:r>
            <a:r>
              <a:rPr lang="en-US" sz="1400" kern="0">
                <a:solidFill>
                  <a:srgbClr val="000000"/>
                </a:solidFill>
                <a:latin typeface="Arial"/>
              </a:rPr>
              <a:t>polarization controller </a:t>
            </a:r>
            <a:r>
              <a:rPr lang="en-US" sz="1400" kern="0" smtClean="0">
                <a:solidFill>
                  <a:srgbClr val="000000"/>
                </a:solidFill>
                <a:latin typeface="Arial"/>
              </a:rPr>
              <a:t>(FPC) and inline polarizer. At </a:t>
            </a:r>
            <a:r>
              <a:rPr lang="en-US" sz="1400" i="1" kern="0" smtClean="0">
                <a:solidFill>
                  <a:srgbClr val="000000"/>
                </a:solidFill>
                <a:latin typeface="Arial"/>
              </a:rPr>
              <a:t>t</a:t>
            </a:r>
            <a:r>
              <a:rPr lang="en-US" sz="1400" kern="0" smtClean="0">
                <a:solidFill>
                  <a:srgbClr val="000000"/>
                </a:solidFill>
                <a:latin typeface="Arial"/>
              </a:rPr>
              <a:t>=0, the power was maximized using the FPC, and let evolve. Comparing with the measured trace at the input of spool (blue curve), it can be concluded that the polarization fluctuation in lab conditions is not significant. </a:t>
            </a:r>
            <a:endParaRPr lang="en-US" sz="1400" kern="0">
              <a:solidFill>
                <a:prstClr val="black"/>
              </a:solidFill>
              <a:latin typeface="Arial" panose="020B0604020202020204" pitchFamily="34" charset="0"/>
              <a:cs typeface="Arial" panose="020B0604020202020204" pitchFamily="34" charset="0"/>
            </a:endParaRPr>
          </a:p>
        </p:txBody>
      </p:sp>
      <p:sp>
        <p:nvSpPr>
          <p:cNvPr id="577" name="TextBox 576"/>
          <p:cNvSpPr txBox="1"/>
          <p:nvPr/>
        </p:nvSpPr>
        <p:spPr>
          <a:xfrm>
            <a:off x="25525065" y="25722534"/>
            <a:ext cx="3821837" cy="2246769"/>
          </a:xfrm>
          <a:prstGeom prst="rect">
            <a:avLst/>
          </a:prstGeom>
          <a:noFill/>
        </p:spPr>
        <p:txBody>
          <a:bodyPr wrap="square" rtlCol="0">
            <a:spAutoFit/>
          </a:bodyPr>
          <a:lstStyle/>
          <a:p>
            <a:pPr lvl="0" algn="just" defTabSz="914400"/>
            <a:r>
              <a:rPr lang="en-US" sz="1400" i="1" kern="0" smtClean="0">
                <a:solidFill>
                  <a:srgbClr val="000000"/>
                </a:solidFill>
                <a:latin typeface="Arial"/>
              </a:rPr>
              <a:t>Shot noise measurements on the broadband heterodyne detector</a:t>
            </a:r>
            <a:r>
              <a:rPr lang="en-US" sz="1400" kern="0" smtClean="0">
                <a:solidFill>
                  <a:srgbClr val="000000"/>
                </a:solidFill>
                <a:latin typeface="Arial"/>
              </a:rPr>
              <a:t>. Noise traces measured on a spectrum analyzer for different LO powers input at the 50/50 splitter before the detector. The inset shows the same response from near DC to 600 MHz, and it can be observed that it is quite non-uniform. The clearance from the electronic noise floor (blue trace) is also just around 6 dB at the max LO power, above which the detector saturates. </a:t>
            </a:r>
            <a:endParaRPr lang="en-US" sz="1400" kern="0">
              <a:solidFill>
                <a:prstClr val="black"/>
              </a:solidFill>
              <a:latin typeface="Arial" panose="020B0604020202020204" pitchFamily="34" charset="0"/>
              <a:cs typeface="Arial" panose="020B0604020202020204" pitchFamily="34" charset="0"/>
            </a:endParaRPr>
          </a:p>
        </p:txBody>
      </p:sp>
      <p:sp>
        <p:nvSpPr>
          <p:cNvPr id="578" name="TextBox 577"/>
          <p:cNvSpPr txBox="1"/>
          <p:nvPr/>
        </p:nvSpPr>
        <p:spPr>
          <a:xfrm>
            <a:off x="25388378" y="22529828"/>
            <a:ext cx="3707163" cy="2031325"/>
          </a:xfrm>
          <a:prstGeom prst="rect">
            <a:avLst/>
          </a:prstGeom>
          <a:noFill/>
        </p:spPr>
        <p:txBody>
          <a:bodyPr wrap="square" rtlCol="0">
            <a:spAutoFit/>
          </a:bodyPr>
          <a:lstStyle/>
          <a:p>
            <a:pPr lvl="0" algn="just" defTabSz="914400"/>
            <a:r>
              <a:rPr lang="en-US" sz="1400" i="1" kern="0" smtClean="0">
                <a:solidFill>
                  <a:srgbClr val="000000"/>
                </a:solidFill>
                <a:latin typeface="Arial"/>
              </a:rPr>
              <a:t>Beat signal strength measurements</a:t>
            </a:r>
            <a:r>
              <a:rPr lang="en-US" sz="1400" kern="0" smtClean="0">
                <a:solidFill>
                  <a:srgbClr val="000000"/>
                </a:solidFill>
                <a:latin typeface="Arial"/>
              </a:rPr>
              <a:t>. The LO and signal lasers are slightly detuned in frequency, and the beat signal is measured via the broadband heterodyne detector. Estimating the strength of this beat signal is necessary to gauge how well the filtering would eventually work, and how can the bits (from the oscilloscope/ADC) be partitioned between the quantum </a:t>
            </a:r>
            <a:r>
              <a:rPr lang="en-US" sz="1400" kern="0">
                <a:solidFill>
                  <a:srgbClr val="000000"/>
                </a:solidFill>
                <a:latin typeface="Arial"/>
              </a:rPr>
              <a:t>and the beat </a:t>
            </a:r>
            <a:r>
              <a:rPr lang="en-US" sz="1400" kern="0" smtClean="0">
                <a:solidFill>
                  <a:srgbClr val="000000"/>
                </a:solidFill>
                <a:latin typeface="Arial"/>
              </a:rPr>
              <a:t>signal.</a:t>
            </a:r>
            <a:endParaRPr lang="en-US" sz="1400" kern="0">
              <a:solidFill>
                <a:prstClr val="black"/>
              </a:solidFill>
              <a:latin typeface="Arial" panose="020B0604020202020204" pitchFamily="34" charset="0"/>
              <a:cs typeface="Arial" panose="020B0604020202020204" pitchFamily="34" charset="0"/>
            </a:endParaRPr>
          </a:p>
        </p:txBody>
      </p:sp>
      <p:cxnSp>
        <p:nvCxnSpPr>
          <p:cNvPr id="9" name="Elbow Connector 8"/>
          <p:cNvCxnSpPr/>
          <p:nvPr/>
        </p:nvCxnSpPr>
        <p:spPr>
          <a:xfrm rot="16200000" flipH="1">
            <a:off x="24081143" y="17197729"/>
            <a:ext cx="1532391" cy="8316000"/>
          </a:xfrm>
          <a:prstGeom prst="bentConnector2">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29002037" y="20581200"/>
            <a:ext cx="0" cy="156519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28773437" y="20589533"/>
            <a:ext cx="23582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9" name="Elbow Connector 578"/>
          <p:cNvCxnSpPr/>
          <p:nvPr/>
        </p:nvCxnSpPr>
        <p:spPr>
          <a:xfrm rot="16200000" flipH="1">
            <a:off x="18586261" y="19670224"/>
            <a:ext cx="1260000" cy="1440000"/>
          </a:xfrm>
          <a:prstGeom prst="bentConnector2">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0" name="Straight Connector 579"/>
          <p:cNvCxnSpPr/>
          <p:nvPr/>
        </p:nvCxnSpPr>
        <p:spPr>
          <a:xfrm>
            <a:off x="16078902" y="19771214"/>
            <a:ext cx="2399395" cy="1389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1" name="Elbow Connector 580"/>
          <p:cNvCxnSpPr/>
          <p:nvPr/>
        </p:nvCxnSpPr>
        <p:spPr>
          <a:xfrm rot="16200000" flipH="1">
            <a:off x="18856784" y="19630800"/>
            <a:ext cx="1044000" cy="1922400"/>
          </a:xfrm>
          <a:prstGeom prst="bentConnector2">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2" name="Straight Connector 581"/>
          <p:cNvCxnSpPr/>
          <p:nvPr/>
        </p:nvCxnSpPr>
        <p:spPr>
          <a:xfrm>
            <a:off x="16129757" y="20060109"/>
            <a:ext cx="2304000" cy="1389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3" name="Straight Connector 582"/>
          <p:cNvCxnSpPr/>
          <p:nvPr/>
        </p:nvCxnSpPr>
        <p:spPr>
          <a:xfrm flipV="1">
            <a:off x="20315237" y="20574000"/>
            <a:ext cx="0" cy="54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4" name="Straight Connector 583"/>
          <p:cNvCxnSpPr/>
          <p:nvPr/>
        </p:nvCxnSpPr>
        <p:spPr>
          <a:xfrm flipV="1">
            <a:off x="19934237" y="20592000"/>
            <a:ext cx="0" cy="4428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85" name="CustomShape 18 1 3"/>
          <p:cNvSpPr/>
          <p:nvPr/>
        </p:nvSpPr>
        <p:spPr>
          <a:xfrm>
            <a:off x="19212807" y="18577719"/>
            <a:ext cx="2626430" cy="688250"/>
          </a:xfrm>
          <a:prstGeom prst="rect">
            <a:avLst/>
          </a:prstGeom>
          <a:noFill/>
          <a:ln>
            <a:noFill/>
          </a:ln>
        </p:spPr>
        <p:txBody>
          <a:bodyPr wrap="none" lIns="90000" tIns="45000" rIns="90000" bIns="45000"/>
          <a:lstStyle/>
          <a:p>
            <a:pPr algn="ctr">
              <a:lnSpc>
                <a:spcPct val="100000"/>
              </a:lnSpc>
            </a:pPr>
            <a:r>
              <a:rPr lang="en-US" sz="2000" smtClean="0">
                <a:latin typeface="Arial"/>
              </a:rPr>
              <a:t>Oscilloscope</a:t>
            </a:r>
            <a:endParaRPr sz="2000" dirty="0"/>
          </a:p>
        </p:txBody>
      </p:sp>
    </p:spTree>
    <p:extLst>
      <p:ext uri="{BB962C8B-B14F-4D97-AF65-F5344CB8AC3E}">
        <p14:creationId xmlns:p14="http://schemas.microsoft.com/office/powerpoint/2010/main" val="1665220102"/>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OUTPUTDPI" val="1200"/>
  <p:tag name="ORIGINALHEIGHT" val="124.5174"/>
  <p:tag name="ORIGINALWIDTH" val="3426.478"/>
  <p:tag name="LATEXADDIN" val="\documentclass{article}&#10;\usepackage{amsmath}&#10;\pagestyle{empty}&#10;\begin{document}&#10;&#10;\begin{equation*}&#10;I(t) \propto \cos \left[\alpha V_{AM}(t) + \varphi(t) \right] \cos \left[\Omega_{\Delta}(t) t + \beta V_{PM}(t) + \theta(t) \right], \text{with}&#10;\end{equation*}&#10;&#10;\end{document}"/>
  <p:tag name="IGUANATEXSIZE" val="20"/>
  <p:tag name="IGUANATEXCURSOR" val="243"/>
  <p:tag name="TRANSPARENCY" val="True"/>
  <p:tag name="FILENAME" val=""/>
  <p:tag name="LATEXENGINEID" val="1"/>
  <p:tag name="TEMPFOLDER" val=".\"/>
  <p:tag name="LATEXFORMHEIGHT" val="312"/>
  <p:tag name="LATEXFORMWIDTH" val="384"/>
  <p:tag name="LATEXFORMWRAP" val="True"/>
  <p:tag name="BITMAPVECTOR" val="0"/>
</p:tagLst>
</file>

<file path=ppt/tags/tag2.xml><?xml version="1.0" encoding="utf-8"?>
<p:tagLst xmlns:a="http://schemas.openxmlformats.org/drawingml/2006/main" xmlns:r="http://schemas.openxmlformats.org/officeDocument/2006/relationships" xmlns:p="http://schemas.openxmlformats.org/presentationml/2006/main">
  <p:tag name="OUTPUTDPI" val="1200"/>
  <p:tag name="ORIGINALHEIGHT" val="1115.406"/>
  <p:tag name="ORIGINALWIDTH" val="3154.94"/>
  <p:tag name="LATEXADDIN" val="\documentclass{article}&#10;\usepackage{amsmath}&#10;\pagestyle{empty}&#10;\begin{document}&#10;&#10;\begin{itemize} &#10;\item $V_{AM/PM}(t)$ is the amplitude/phase modulation voltage, &#10;\item $\Omega_{\Delta}(t)$ is the detuning between LO and $Sig$,&#10;\item $\varphi(t)$ represents the DC bias on the AM, &#10;\item $\theta(t)$ captures the overall phase noise,&#10;\item $\alpha$ and $\beta$ are scaling constants. &#10;\end{itemize} %enumerate&#10;&#10;\end{document}"/>
  <p:tag name="IGUANATEXSIZE" val="20"/>
  <p:tag name="IGUANATEXCURSOR" val="80"/>
  <p:tag name="TRANSPARENCY" val="True"/>
  <p:tag name="FILENAME" val=""/>
  <p:tag name="LATEXENGINEID" val="1"/>
  <p:tag name="TEMPFOLDER" val=".\"/>
  <p:tag name="LATEXFORMHEIGHT" val="312"/>
  <p:tag name="LATEXFORMWIDTH" val="384"/>
  <p:tag name="LATEXFORMWRAP" val="True"/>
  <p:tag name="BITMAPVECTOR" val="0"/>
</p:tagLst>
</file>

<file path=ppt/tags/tag3.xml><?xml version="1.0" encoding="utf-8"?>
<p:tagLst xmlns:a="http://schemas.openxmlformats.org/drawingml/2006/main" xmlns:r="http://schemas.openxmlformats.org/officeDocument/2006/relationships" xmlns:p="http://schemas.openxmlformats.org/presentationml/2006/main">
  <p:tag name="OUTPUTDPI" val="1200"/>
  <p:tag name="ORIGINALHEIGHT" val="124.5174"/>
  <p:tag name="ORIGINALWIDTH" val="2863.9"/>
  <p:tag name="LATEXADDIN" val="\documentclass{article}&#10;\usepackage{amsmath}&#10;\pagestyle{empty}&#10;\begin{document}&#10;&#10;\begin{equation*}&#10;I(t) \propto \left(1 + \alpha V_{AM}(t) \right) \left( \cos \left[\Omega_{\Delta} t \right] - \beta V_{PM}(t) \sin \left[\Omega_{\Delta} t \right] \right) &#10;\end{equation*}&#10;&#10;\end{document}"/>
  <p:tag name="IGUANATEXSIZE" val="20"/>
  <p:tag name="IGUANATEXCURSOR" val="209"/>
  <p:tag name="TRANSPARENCY" val="True"/>
  <p:tag name="FILENAME" val=""/>
  <p:tag name="LATEXENGINEID" val="1"/>
  <p:tag name="TEMPFOLDER" val=".\"/>
  <p:tag name="LATEXFORMHEIGHT" val="312"/>
  <p:tag name="LATEXFORMWIDTH" val="384"/>
  <p:tag name="LATEXFORMWRAP" val="True"/>
  <p:tag name="BITMAPVECTOR" val="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3663</TotalTime>
  <Words>1384</Words>
  <Application>Microsoft Office PowerPoint</Application>
  <PresentationFormat>Custom</PresentationFormat>
  <Paragraphs>178</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Georgia</vt:lpstr>
      <vt:lpstr>Segoe UI Emoji</vt:lpstr>
      <vt:lpstr>Times New Roman</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Sepehr Ahmadi</dc:creator>
  <cp:lastModifiedBy>Nitin Jain</cp:lastModifiedBy>
  <cp:revision>271</cp:revision>
  <cp:lastPrinted>2015-06-04T15:11:14Z</cp:lastPrinted>
  <dcterms:created xsi:type="dcterms:W3CDTF">2006-08-16T00:00:00Z</dcterms:created>
  <dcterms:modified xsi:type="dcterms:W3CDTF">2017-09-15T20:34:05Z</dcterms:modified>
</cp:coreProperties>
</file>