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267275" cy="42794238"/>
  <p:notesSz cx="7010400" cy="9296400"/>
  <p:defaultTextStyle>
    <a:defPPr>
      <a:defRPr lang="en-US"/>
    </a:defPPr>
    <a:lvl1pPr marL="0" algn="l" defTabSz="416472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82363" algn="l" defTabSz="416472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64726" algn="l" defTabSz="416472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47088" algn="l" defTabSz="416472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29454" algn="l" defTabSz="416472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11817" algn="l" defTabSz="416472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494180" algn="l" defTabSz="416472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576543" algn="l" defTabSz="416472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658905" algn="l" defTabSz="416472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79">
          <p15:clr>
            <a:srgbClr val="A4A3A4"/>
          </p15:clr>
        </p15:guide>
        <p15:guide id="2" pos="953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6602" autoAdjust="0"/>
    <p:restoredTop sz="94660"/>
  </p:normalViewPr>
  <p:slideViewPr>
    <p:cSldViewPr>
      <p:cViewPr>
        <p:scale>
          <a:sx n="25" d="100"/>
          <a:sy n="25" d="100"/>
        </p:scale>
        <p:origin x="2192" y="12"/>
      </p:cViewPr>
      <p:guideLst>
        <p:guide orient="horz" pos="13479"/>
        <p:guide pos="953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046" y="13293959"/>
            <a:ext cx="25727184" cy="9173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0091" y="24250070"/>
            <a:ext cx="21187093" cy="1093630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82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65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2478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330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4130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495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5782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6609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2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762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905" y="27499265"/>
            <a:ext cx="25727184" cy="8499411"/>
          </a:xfrm>
        </p:spPr>
        <p:txBody>
          <a:bodyPr anchor="t"/>
          <a:lstStyle>
            <a:lvl1pPr algn="l">
              <a:defRPr sz="18200" b="1" cap="all"/>
            </a:lvl1pPr>
          </a:lstStyle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0905" y="18138032"/>
            <a:ext cx="25727184" cy="9361235"/>
          </a:xfrm>
        </p:spPr>
        <p:txBody>
          <a:bodyPr anchor="b"/>
          <a:lstStyle>
            <a:lvl1pPr marL="0" indent="0">
              <a:buNone/>
              <a:defRPr sz="9200">
                <a:solidFill>
                  <a:schemeClr val="tx1">
                    <a:tint val="75000"/>
                  </a:schemeClr>
                </a:solidFill>
              </a:defRPr>
            </a:lvl1pPr>
            <a:lvl2pPr marL="2082613" indent="0">
              <a:buNone/>
              <a:defRPr sz="8200">
                <a:solidFill>
                  <a:schemeClr val="tx1">
                    <a:tint val="75000"/>
                  </a:schemeClr>
                </a:solidFill>
              </a:defRPr>
            </a:lvl2pPr>
            <a:lvl3pPr marL="4165227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3pPr>
            <a:lvl4pPr marL="6247839" indent="0">
              <a:buNone/>
              <a:defRPr sz="6500">
                <a:solidFill>
                  <a:schemeClr val="tx1">
                    <a:tint val="75000"/>
                  </a:schemeClr>
                </a:solidFill>
              </a:defRPr>
            </a:lvl4pPr>
            <a:lvl5pPr marL="8330453" indent="0">
              <a:buNone/>
              <a:defRPr sz="6500">
                <a:solidFill>
                  <a:schemeClr val="tx1">
                    <a:tint val="75000"/>
                  </a:schemeClr>
                </a:solidFill>
              </a:defRPr>
            </a:lvl5pPr>
            <a:lvl6pPr marL="10413066" indent="0">
              <a:buNone/>
              <a:defRPr sz="6500">
                <a:solidFill>
                  <a:schemeClr val="tx1">
                    <a:tint val="75000"/>
                  </a:schemeClr>
                </a:solidFill>
              </a:defRPr>
            </a:lvl6pPr>
            <a:lvl7pPr marL="12495680" indent="0">
              <a:buNone/>
              <a:defRPr sz="6500">
                <a:solidFill>
                  <a:schemeClr val="tx1">
                    <a:tint val="75000"/>
                  </a:schemeClr>
                </a:solidFill>
              </a:defRPr>
            </a:lvl7pPr>
            <a:lvl8pPr marL="14578292" indent="0">
              <a:buNone/>
              <a:defRPr sz="6500">
                <a:solidFill>
                  <a:schemeClr val="tx1">
                    <a:tint val="75000"/>
                  </a:schemeClr>
                </a:solidFill>
              </a:defRPr>
            </a:lvl8pPr>
            <a:lvl9pPr marL="16660906" indent="0">
              <a:buNone/>
              <a:defRPr sz="6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584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13363" y="9985326"/>
            <a:ext cx="13368046" cy="28242218"/>
          </a:xfrm>
        </p:spPr>
        <p:txBody>
          <a:bodyPr/>
          <a:lstStyle>
            <a:lvl1pPr>
              <a:defRPr sz="12700"/>
            </a:lvl1pPr>
            <a:lvl2pPr>
              <a:defRPr sz="11000"/>
            </a:lvl2pPr>
            <a:lvl3pPr>
              <a:defRPr sz="920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85866" y="9985326"/>
            <a:ext cx="13368046" cy="28242218"/>
          </a:xfrm>
        </p:spPr>
        <p:txBody>
          <a:bodyPr/>
          <a:lstStyle>
            <a:lvl1pPr>
              <a:defRPr sz="12700"/>
            </a:lvl1pPr>
            <a:lvl2pPr>
              <a:defRPr sz="11000"/>
            </a:lvl2pPr>
            <a:lvl3pPr>
              <a:defRPr sz="920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864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369" y="9579181"/>
            <a:ext cx="13373303" cy="3992146"/>
          </a:xfrm>
        </p:spPr>
        <p:txBody>
          <a:bodyPr anchor="b"/>
          <a:lstStyle>
            <a:lvl1pPr marL="0" indent="0">
              <a:buNone/>
              <a:defRPr sz="11000" b="1"/>
            </a:lvl1pPr>
            <a:lvl2pPr marL="2082613" indent="0">
              <a:buNone/>
              <a:defRPr sz="9200" b="1"/>
            </a:lvl2pPr>
            <a:lvl3pPr marL="4165227" indent="0">
              <a:buNone/>
              <a:defRPr sz="8200" b="1"/>
            </a:lvl3pPr>
            <a:lvl4pPr marL="6247839" indent="0">
              <a:buNone/>
              <a:defRPr sz="7200" b="1"/>
            </a:lvl4pPr>
            <a:lvl5pPr marL="8330453" indent="0">
              <a:buNone/>
              <a:defRPr sz="7200" b="1"/>
            </a:lvl5pPr>
            <a:lvl6pPr marL="10413066" indent="0">
              <a:buNone/>
              <a:defRPr sz="7200" b="1"/>
            </a:lvl6pPr>
            <a:lvl7pPr marL="12495680" indent="0">
              <a:buNone/>
              <a:defRPr sz="7200" b="1"/>
            </a:lvl7pPr>
            <a:lvl8pPr marL="14578292" indent="0">
              <a:buNone/>
              <a:defRPr sz="7200" b="1"/>
            </a:lvl8pPr>
            <a:lvl9pPr marL="16660906" indent="0">
              <a:buNone/>
              <a:defRPr sz="7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3369" y="13571328"/>
            <a:ext cx="13373303" cy="24656218"/>
          </a:xfrm>
        </p:spPr>
        <p:txBody>
          <a:bodyPr/>
          <a:lstStyle>
            <a:lvl1pPr>
              <a:defRPr sz="11000"/>
            </a:lvl1pPr>
            <a:lvl2pPr>
              <a:defRPr sz="9200"/>
            </a:lvl2pPr>
            <a:lvl3pPr>
              <a:defRPr sz="820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75359" y="9579181"/>
            <a:ext cx="13378556" cy="3992146"/>
          </a:xfrm>
        </p:spPr>
        <p:txBody>
          <a:bodyPr anchor="b"/>
          <a:lstStyle>
            <a:lvl1pPr marL="0" indent="0">
              <a:buNone/>
              <a:defRPr sz="11000" b="1"/>
            </a:lvl1pPr>
            <a:lvl2pPr marL="2082613" indent="0">
              <a:buNone/>
              <a:defRPr sz="9200" b="1"/>
            </a:lvl2pPr>
            <a:lvl3pPr marL="4165227" indent="0">
              <a:buNone/>
              <a:defRPr sz="8200" b="1"/>
            </a:lvl3pPr>
            <a:lvl4pPr marL="6247839" indent="0">
              <a:buNone/>
              <a:defRPr sz="7200" b="1"/>
            </a:lvl4pPr>
            <a:lvl5pPr marL="8330453" indent="0">
              <a:buNone/>
              <a:defRPr sz="7200" b="1"/>
            </a:lvl5pPr>
            <a:lvl6pPr marL="10413066" indent="0">
              <a:buNone/>
              <a:defRPr sz="7200" b="1"/>
            </a:lvl6pPr>
            <a:lvl7pPr marL="12495680" indent="0">
              <a:buNone/>
              <a:defRPr sz="7200" b="1"/>
            </a:lvl7pPr>
            <a:lvl8pPr marL="14578292" indent="0">
              <a:buNone/>
              <a:defRPr sz="7200" b="1"/>
            </a:lvl8pPr>
            <a:lvl9pPr marL="16660906" indent="0">
              <a:buNone/>
              <a:defRPr sz="7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75359" y="13571328"/>
            <a:ext cx="13378556" cy="24656218"/>
          </a:xfrm>
        </p:spPr>
        <p:txBody>
          <a:bodyPr/>
          <a:lstStyle>
            <a:lvl1pPr>
              <a:defRPr sz="11000"/>
            </a:lvl1pPr>
            <a:lvl2pPr>
              <a:defRPr sz="9200"/>
            </a:lvl2pPr>
            <a:lvl3pPr>
              <a:defRPr sz="820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538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854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605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368" y="1703844"/>
            <a:ext cx="9957725" cy="7251246"/>
          </a:xfrm>
        </p:spPr>
        <p:txBody>
          <a:bodyPr anchor="b"/>
          <a:lstStyle>
            <a:lvl1pPr algn="l">
              <a:defRPr sz="9200" b="1"/>
            </a:lvl1pPr>
          </a:lstStyle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3664" y="1703851"/>
            <a:ext cx="16920248" cy="36523698"/>
          </a:xfrm>
        </p:spPr>
        <p:txBody>
          <a:bodyPr/>
          <a:lstStyle>
            <a:lvl1pPr>
              <a:defRPr sz="14700"/>
            </a:lvl1pPr>
            <a:lvl2pPr>
              <a:defRPr sz="12700"/>
            </a:lvl2pPr>
            <a:lvl3pPr>
              <a:defRPr sz="11000"/>
            </a:lvl3pPr>
            <a:lvl4pPr>
              <a:defRPr sz="9200"/>
            </a:lvl4pPr>
            <a:lvl5pPr>
              <a:defRPr sz="9200"/>
            </a:lvl5pPr>
            <a:lvl6pPr>
              <a:defRPr sz="9200"/>
            </a:lvl6pPr>
            <a:lvl7pPr>
              <a:defRPr sz="9200"/>
            </a:lvl7pPr>
            <a:lvl8pPr>
              <a:defRPr sz="9200"/>
            </a:lvl8pPr>
            <a:lvl9pPr>
              <a:defRPr sz="9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3368" y="8955095"/>
            <a:ext cx="9957725" cy="29272450"/>
          </a:xfrm>
        </p:spPr>
        <p:txBody>
          <a:bodyPr/>
          <a:lstStyle>
            <a:lvl1pPr marL="0" indent="0">
              <a:buNone/>
              <a:defRPr sz="6500"/>
            </a:lvl1pPr>
            <a:lvl2pPr marL="2082613" indent="0">
              <a:buNone/>
              <a:defRPr sz="5500"/>
            </a:lvl2pPr>
            <a:lvl3pPr marL="4165227" indent="0">
              <a:buNone/>
              <a:defRPr sz="4500"/>
            </a:lvl3pPr>
            <a:lvl4pPr marL="6247839" indent="0">
              <a:buNone/>
              <a:defRPr sz="4200"/>
            </a:lvl4pPr>
            <a:lvl5pPr marL="8330453" indent="0">
              <a:buNone/>
              <a:defRPr sz="4200"/>
            </a:lvl5pPr>
            <a:lvl6pPr marL="10413066" indent="0">
              <a:buNone/>
              <a:defRPr sz="4200"/>
            </a:lvl6pPr>
            <a:lvl7pPr marL="12495680" indent="0">
              <a:buNone/>
              <a:defRPr sz="4200"/>
            </a:lvl7pPr>
            <a:lvl8pPr marL="14578292" indent="0">
              <a:buNone/>
              <a:defRPr sz="4200"/>
            </a:lvl8pPr>
            <a:lvl9pPr marL="16660906" indent="0">
              <a:buNone/>
              <a:defRPr sz="4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325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2597" y="29955972"/>
            <a:ext cx="18160365" cy="3536471"/>
          </a:xfrm>
        </p:spPr>
        <p:txBody>
          <a:bodyPr anchor="b"/>
          <a:lstStyle>
            <a:lvl1pPr algn="l">
              <a:defRPr sz="9200" b="1"/>
            </a:lvl1pPr>
          </a:lstStyle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2597" y="3823745"/>
            <a:ext cx="18160365" cy="25676543"/>
          </a:xfrm>
        </p:spPr>
        <p:txBody>
          <a:bodyPr/>
          <a:lstStyle>
            <a:lvl1pPr marL="0" indent="0">
              <a:buNone/>
              <a:defRPr sz="14700"/>
            </a:lvl1pPr>
            <a:lvl2pPr marL="2082613" indent="0">
              <a:buNone/>
              <a:defRPr sz="12700"/>
            </a:lvl2pPr>
            <a:lvl3pPr marL="4165227" indent="0">
              <a:buNone/>
              <a:defRPr sz="11000"/>
            </a:lvl3pPr>
            <a:lvl4pPr marL="6247839" indent="0">
              <a:buNone/>
              <a:defRPr sz="9200"/>
            </a:lvl4pPr>
            <a:lvl5pPr marL="8330453" indent="0">
              <a:buNone/>
              <a:defRPr sz="9200"/>
            </a:lvl5pPr>
            <a:lvl6pPr marL="10413066" indent="0">
              <a:buNone/>
              <a:defRPr sz="9200"/>
            </a:lvl6pPr>
            <a:lvl7pPr marL="12495680" indent="0">
              <a:buNone/>
              <a:defRPr sz="9200"/>
            </a:lvl7pPr>
            <a:lvl8pPr marL="14578292" indent="0">
              <a:buNone/>
              <a:defRPr sz="9200"/>
            </a:lvl8pPr>
            <a:lvl9pPr marL="16660906" indent="0">
              <a:buNone/>
              <a:defRPr sz="9200"/>
            </a:lvl9pPr>
          </a:lstStyle>
          <a:p>
            <a:endParaRPr lang="da-DK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2597" y="33492444"/>
            <a:ext cx="18160365" cy="5022375"/>
          </a:xfrm>
        </p:spPr>
        <p:txBody>
          <a:bodyPr/>
          <a:lstStyle>
            <a:lvl1pPr marL="0" indent="0">
              <a:buNone/>
              <a:defRPr sz="6500"/>
            </a:lvl1pPr>
            <a:lvl2pPr marL="2082613" indent="0">
              <a:buNone/>
              <a:defRPr sz="5500"/>
            </a:lvl2pPr>
            <a:lvl3pPr marL="4165227" indent="0">
              <a:buNone/>
              <a:defRPr sz="4500"/>
            </a:lvl3pPr>
            <a:lvl4pPr marL="6247839" indent="0">
              <a:buNone/>
              <a:defRPr sz="4200"/>
            </a:lvl4pPr>
            <a:lvl5pPr marL="8330453" indent="0">
              <a:buNone/>
              <a:defRPr sz="4200"/>
            </a:lvl5pPr>
            <a:lvl6pPr marL="10413066" indent="0">
              <a:buNone/>
              <a:defRPr sz="4200"/>
            </a:lvl6pPr>
            <a:lvl7pPr marL="12495680" indent="0">
              <a:buNone/>
              <a:defRPr sz="4200"/>
            </a:lvl7pPr>
            <a:lvl8pPr marL="14578292" indent="0">
              <a:buNone/>
              <a:defRPr sz="4200"/>
            </a:lvl8pPr>
            <a:lvl9pPr marL="16660906" indent="0">
              <a:buNone/>
              <a:defRPr sz="4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86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616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43774" y="1713761"/>
            <a:ext cx="6810137" cy="365137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3364" y="1713761"/>
            <a:ext cx="19925956" cy="365137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72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13365" y="1713754"/>
            <a:ext cx="27240547" cy="7132373"/>
          </a:xfrm>
          <a:prstGeom prst="rect">
            <a:avLst/>
          </a:prstGeom>
        </p:spPr>
        <p:txBody>
          <a:bodyPr vert="horz" lIns="416523" tIns="208262" rIns="416523" bIns="208262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365" y="9985326"/>
            <a:ext cx="27240547" cy="28242218"/>
          </a:xfrm>
          <a:prstGeom prst="rect">
            <a:avLst/>
          </a:prstGeom>
        </p:spPr>
        <p:txBody>
          <a:bodyPr vert="horz" lIns="416523" tIns="208262" rIns="416523" bIns="208262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3363" y="39663929"/>
            <a:ext cx="7062365" cy="2278399"/>
          </a:xfrm>
          <a:prstGeom prst="rect">
            <a:avLst/>
          </a:prstGeom>
        </p:spPr>
        <p:txBody>
          <a:bodyPr vert="horz" lIns="416523" tIns="208262" rIns="416523" bIns="208262" rtlCol="0" anchor="ctr"/>
          <a:lstStyle>
            <a:lvl1pPr algn="l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41319" y="39663929"/>
            <a:ext cx="9584637" cy="2278399"/>
          </a:xfrm>
          <a:prstGeom prst="rect">
            <a:avLst/>
          </a:prstGeom>
        </p:spPr>
        <p:txBody>
          <a:bodyPr vert="horz" lIns="416523" tIns="208262" rIns="416523" bIns="208262" rtlCol="0" anchor="ctr"/>
          <a:lstStyle>
            <a:lvl1pPr algn="ct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91547" y="39663929"/>
            <a:ext cx="7062365" cy="2278399"/>
          </a:xfrm>
          <a:prstGeom prst="rect">
            <a:avLst/>
          </a:prstGeom>
        </p:spPr>
        <p:txBody>
          <a:bodyPr vert="horz" lIns="416523" tIns="208262" rIns="416523" bIns="208262" rtlCol="0" anchor="ctr"/>
          <a:lstStyle>
            <a:lvl1pPr algn="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178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165227" rtl="0" eaLnBrk="1" latinLnBrk="0" hangingPunct="1">
        <a:spcBef>
          <a:spcPct val="0"/>
        </a:spcBef>
        <a:buNone/>
        <a:defRPr sz="20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61959" indent="-1561959" algn="l" defTabSz="4165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4700" kern="1200">
          <a:solidFill>
            <a:schemeClr val="tx1"/>
          </a:solidFill>
          <a:latin typeface="+mn-lt"/>
          <a:ea typeface="+mn-ea"/>
          <a:cs typeface="+mn-cs"/>
        </a:defRPr>
      </a:lvl1pPr>
      <a:lvl2pPr marL="3384247" indent="-1301633" algn="l" defTabSz="4165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2700" kern="1200">
          <a:solidFill>
            <a:schemeClr val="tx1"/>
          </a:solidFill>
          <a:latin typeface="+mn-lt"/>
          <a:ea typeface="+mn-ea"/>
          <a:cs typeface="+mn-cs"/>
        </a:defRPr>
      </a:lvl2pPr>
      <a:lvl3pPr marL="5206533" indent="-1041306" algn="l" defTabSz="4165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0" kern="1200">
          <a:solidFill>
            <a:schemeClr val="tx1"/>
          </a:solidFill>
          <a:latin typeface="+mn-lt"/>
          <a:ea typeface="+mn-ea"/>
          <a:cs typeface="+mn-cs"/>
        </a:defRPr>
      </a:lvl3pPr>
      <a:lvl4pPr marL="7289147" indent="-1041306" algn="l" defTabSz="4165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9200" kern="1200">
          <a:solidFill>
            <a:schemeClr val="tx1"/>
          </a:solidFill>
          <a:latin typeface="+mn-lt"/>
          <a:ea typeface="+mn-ea"/>
          <a:cs typeface="+mn-cs"/>
        </a:defRPr>
      </a:lvl4pPr>
      <a:lvl5pPr marL="9371759" indent="-1041306" algn="l" defTabSz="4165227" rtl="0" eaLnBrk="1" latinLnBrk="0" hangingPunct="1">
        <a:spcBef>
          <a:spcPct val="20000"/>
        </a:spcBef>
        <a:buFont typeface="Arial" panose="020B0604020202020204" pitchFamily="34" charset="0"/>
        <a:buChar char="»"/>
        <a:defRPr sz="9200" kern="1200">
          <a:solidFill>
            <a:schemeClr val="tx1"/>
          </a:solidFill>
          <a:latin typeface="+mn-lt"/>
          <a:ea typeface="+mn-ea"/>
          <a:cs typeface="+mn-cs"/>
        </a:defRPr>
      </a:lvl5pPr>
      <a:lvl6pPr marL="11454373" indent="-1041306" algn="l" defTabSz="4165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6986" indent="-1041306" algn="l" defTabSz="4165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7pPr>
      <a:lvl8pPr marL="15619600" indent="-1041306" algn="l" defTabSz="4165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8pPr>
      <a:lvl9pPr marL="17702212" indent="-1041306" algn="l" defTabSz="4165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65227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1pPr>
      <a:lvl2pPr marL="2082613" algn="l" defTabSz="4165227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2pPr>
      <a:lvl3pPr marL="4165227" algn="l" defTabSz="4165227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247839" algn="l" defTabSz="4165227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4pPr>
      <a:lvl5pPr marL="8330453" algn="l" defTabSz="4165227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5pPr>
      <a:lvl6pPr marL="10413066" algn="l" defTabSz="4165227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6pPr>
      <a:lvl7pPr marL="12495680" algn="l" defTabSz="4165227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7pPr>
      <a:lvl8pPr marL="14578292" algn="l" defTabSz="4165227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8pPr>
      <a:lvl9pPr marL="16660906" algn="l" defTabSz="4165227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3" Type="http://schemas.openxmlformats.org/officeDocument/2006/relationships/tags" Target="../tags/tag3.xml"/><Relationship Id="rId21" Type="http://schemas.openxmlformats.org/officeDocument/2006/relationships/image" Target="../media/image17.png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tags" Target="../tags/tag2.xml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tags" Target="../tags/tag1.xml"/><Relationship Id="rId6" Type="http://schemas.openxmlformats.org/officeDocument/2006/relationships/image" Target="../media/image2.gif"/><Relationship Id="rId11" Type="http://schemas.openxmlformats.org/officeDocument/2006/relationships/image" Target="../media/image7.png"/><Relationship Id="rId24" Type="http://schemas.openxmlformats.org/officeDocument/2006/relationships/image" Target="../media/image20.png"/><Relationship Id="rId5" Type="http://schemas.openxmlformats.org/officeDocument/2006/relationships/image" Target="../media/image1.jpg"/><Relationship Id="rId15" Type="http://schemas.openxmlformats.org/officeDocument/2006/relationships/image" Target="../media/image11.png"/><Relationship Id="rId23" Type="http://schemas.openxmlformats.org/officeDocument/2006/relationships/image" Target="../media/image19.png"/><Relationship Id="rId10" Type="http://schemas.openxmlformats.org/officeDocument/2006/relationships/image" Target="../media/image6.png"/><Relationship Id="rId19" Type="http://schemas.openxmlformats.org/officeDocument/2006/relationships/image" Target="../media/image15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5.png"/><Relationship Id="rId14" Type="http://schemas.openxmlformats.org/officeDocument/2006/relationships/image" Target="../media/image10.png"/><Relationship Id="rId2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AutoShape 13 1"/>
          <p:cNvSpPr>
            <a:spLocks noChangeArrowheads="1"/>
          </p:cNvSpPr>
          <p:nvPr/>
        </p:nvSpPr>
        <p:spPr bwMode="auto">
          <a:xfrm>
            <a:off x="506006" y="35197052"/>
            <a:ext cx="16749705" cy="5237319"/>
          </a:xfrm>
          <a:prstGeom prst="roundRect">
            <a:avLst>
              <a:gd name="adj" fmla="val 10870"/>
            </a:avLst>
          </a:prstGeom>
          <a:ln w="76200">
            <a:headEnd/>
            <a:tailEnd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102784" tIns="51392" rIns="102784" bIns="51392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11" name="AutoShape 13 2"/>
          <p:cNvSpPr>
            <a:spLocks noChangeArrowheads="1"/>
          </p:cNvSpPr>
          <p:nvPr/>
        </p:nvSpPr>
        <p:spPr bwMode="auto">
          <a:xfrm>
            <a:off x="447602" y="29270339"/>
            <a:ext cx="29160648" cy="5611116"/>
          </a:xfrm>
          <a:prstGeom prst="roundRect">
            <a:avLst>
              <a:gd name="adj" fmla="val 10870"/>
            </a:avLst>
          </a:prstGeom>
          <a:ln w="76200">
            <a:headEnd/>
            <a:tailEnd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102784" tIns="51392" rIns="102784" bIns="51392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18" name="AutoShape 13 3"/>
          <p:cNvSpPr>
            <a:spLocks noChangeArrowheads="1"/>
          </p:cNvSpPr>
          <p:nvPr/>
        </p:nvSpPr>
        <p:spPr bwMode="auto">
          <a:xfrm>
            <a:off x="447602" y="18363561"/>
            <a:ext cx="29160648" cy="10544704"/>
          </a:xfrm>
          <a:prstGeom prst="roundRect">
            <a:avLst>
              <a:gd name="adj" fmla="val 10870"/>
            </a:avLst>
          </a:prstGeom>
          <a:ln w="76200">
            <a:headEnd/>
            <a:tailEnd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102784" tIns="51392" rIns="102784" bIns="51392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3" name="AutoShape 13 4"/>
          <p:cNvSpPr>
            <a:spLocks noChangeArrowheads="1"/>
          </p:cNvSpPr>
          <p:nvPr/>
        </p:nvSpPr>
        <p:spPr bwMode="auto">
          <a:xfrm>
            <a:off x="540000" y="517005"/>
            <a:ext cx="29196000" cy="6721058"/>
          </a:xfrm>
          <a:prstGeom prst="roundRect">
            <a:avLst>
              <a:gd name="adj" fmla="val 10870"/>
            </a:avLst>
          </a:prstGeom>
          <a:ln w="76200">
            <a:headEnd/>
            <a:tailEnd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102784" tIns="51392" rIns="102784" bIns="51392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endParaRPr lang="en-US" alt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 descr="C:\Users\sepah\Desktop\DTU-logo.gi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86850" y="1281959"/>
            <a:ext cx="2997067" cy="4367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 1" descr="C:\Users\sepah\Desktop\Templates\logo_fullname_2colour-dark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767" y="2418521"/>
            <a:ext cx="5169041" cy="2700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725468" y="1066662"/>
            <a:ext cx="23303811" cy="1792265"/>
          </a:xfrm>
          <a:prstGeom prst="rect">
            <a:avLst/>
          </a:prstGeom>
          <a:noFill/>
        </p:spPr>
        <p:txBody>
          <a:bodyPr wrap="square" lIns="129013" tIns="64506" rIns="129013" bIns="64506" rtlCol="0">
            <a:spAutoFit/>
          </a:bodyPr>
          <a:lstStyle/>
          <a:p>
            <a:pPr algn="ctr"/>
            <a:r>
              <a:rPr lang="en-US" sz="5400" dirty="0" smtClean="0">
                <a:latin typeface="Georgia" panose="02040502050405020303" pitchFamily="18" charset="0"/>
                <a:cs typeface="Arial" panose="020B0604020202020204" pitchFamily="34" charset="0"/>
              </a:rPr>
              <a:t>Investigating feasibility of broadband continuous variable quantum key distribution in telecom fibers with local </a:t>
            </a:r>
            <a:r>
              <a:rPr lang="en-US" sz="5400" dirty="0" err="1" smtClean="0">
                <a:latin typeface="Georgia" panose="02040502050405020303" pitchFamily="18" charset="0"/>
                <a:cs typeface="Arial" panose="020B0604020202020204" pitchFamily="34" charset="0"/>
              </a:rPr>
              <a:t>local</a:t>
            </a:r>
            <a:r>
              <a:rPr lang="en-US" sz="5400" dirty="0" smtClean="0">
                <a:latin typeface="Georgia" panose="02040502050405020303" pitchFamily="18" charset="0"/>
                <a:cs typeface="Arial" panose="020B0604020202020204" pitchFamily="34" charset="0"/>
              </a:rPr>
              <a:t> oscillator</a:t>
            </a:r>
            <a:endParaRPr lang="en-US" sz="5400" dirty="0"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37237" y="3097345"/>
            <a:ext cx="19948410" cy="1361378"/>
          </a:xfrm>
          <a:prstGeom prst="rect">
            <a:avLst/>
          </a:prstGeom>
          <a:noFill/>
        </p:spPr>
        <p:txBody>
          <a:bodyPr wrap="square" lIns="129013" tIns="64506" rIns="129013" bIns="64506" rtlCol="0">
            <a:spAutoFit/>
          </a:bodyPr>
          <a:lstStyle/>
          <a:p>
            <a:pPr algn="ctr"/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N. Jain,</a:t>
            </a:r>
            <a:r>
              <a:rPr lang="en-US" sz="4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C.S</a:t>
            </a:r>
            <a:r>
              <a:rPr lang="en-US" sz="4000" smtClean="0">
                <a:latin typeface="Arial" panose="020B0604020202020204" pitchFamily="34" charset="0"/>
                <a:cs typeface="Arial" panose="020B0604020202020204" pitchFamily="34" charset="0"/>
              </a:rPr>
              <a:t>. Jacobsen,</a:t>
            </a:r>
            <a:r>
              <a:rPr lang="en-US" sz="4000" baseline="3000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400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D. Solar Nikolic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. Kordts,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. Lupo,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. Grigoryan,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4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. Pedersen,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S. Pirandola,</a:t>
            </a:r>
            <a:r>
              <a:rPr lang="en-US" sz="4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2,4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T. Gehring,</a:t>
            </a:r>
            <a:r>
              <a:rPr lang="en-US" sz="4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U.L. Andersen</a:t>
            </a:r>
            <a:r>
              <a:rPr lang="en-US" sz="4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40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AutoShape 13 5"/>
          <p:cNvSpPr>
            <a:spLocks noChangeArrowheads="1"/>
          </p:cNvSpPr>
          <p:nvPr/>
        </p:nvSpPr>
        <p:spPr bwMode="auto">
          <a:xfrm>
            <a:off x="539999" y="7919999"/>
            <a:ext cx="7200000" cy="10008000"/>
          </a:xfrm>
          <a:prstGeom prst="roundRect">
            <a:avLst>
              <a:gd name="adj" fmla="val 10870"/>
            </a:avLst>
          </a:prstGeom>
          <a:ln w="76200">
            <a:headEnd/>
            <a:tailEnd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102784" tIns="51392" rIns="102784" bIns="51392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00000" y="8280000"/>
            <a:ext cx="6997909" cy="868936"/>
          </a:xfrm>
          <a:prstGeom prst="rect">
            <a:avLst/>
          </a:prstGeom>
          <a:noFill/>
        </p:spPr>
        <p:txBody>
          <a:bodyPr wrap="square" lIns="129013" tIns="64506" rIns="129013" bIns="64506" rtlCol="0">
            <a:spAutoFit/>
          </a:bodyPr>
          <a:lstStyle/>
          <a:p>
            <a:r>
              <a:rPr lang="en-US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40199" y="18634819"/>
            <a:ext cx="13416489" cy="868936"/>
          </a:xfrm>
          <a:prstGeom prst="rect">
            <a:avLst/>
          </a:prstGeom>
          <a:noFill/>
        </p:spPr>
        <p:txBody>
          <a:bodyPr wrap="square" lIns="129013" tIns="64506" rIns="129013" bIns="64506" rtlCol="0">
            <a:spAutoFit/>
          </a:bodyPr>
          <a:lstStyle/>
          <a:p>
            <a:r>
              <a:rPr lang="en-US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Current setup and component characterization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21822" y="29425822"/>
            <a:ext cx="14078129" cy="868936"/>
          </a:xfrm>
          <a:prstGeom prst="rect">
            <a:avLst/>
          </a:prstGeom>
          <a:noFill/>
        </p:spPr>
        <p:txBody>
          <a:bodyPr wrap="square" lIns="129013" tIns="64506" rIns="129013" bIns="64506" rtlCol="0">
            <a:spAutoFit/>
          </a:bodyPr>
          <a:lstStyle/>
          <a:p>
            <a:r>
              <a:rPr lang="en-US" sz="4800" smtClean="0">
                <a:latin typeface="Arial" panose="020B0604020202020204" pitchFamily="34" charset="0"/>
                <a:cs typeface="Arial" panose="020B0604020202020204" pitchFamily="34" charset="0"/>
              </a:rPr>
              <a:t>Preliminary results (back to back configuration)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26343" y="4709319"/>
            <a:ext cx="17203694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4165227">
              <a:spcBef>
                <a:spcPts val="600"/>
              </a:spcBef>
            </a:pPr>
            <a:r>
              <a:rPr lang="en-US" sz="3200" baseline="30000" smtClean="0">
                <a:solidFill>
                  <a:prstClr val="black"/>
                </a:solidFill>
              </a:rPr>
              <a:t>1</a:t>
            </a:r>
            <a:r>
              <a:rPr lang="en-US" sz="3200" smtClean="0">
                <a:solidFill>
                  <a:prstClr val="black"/>
                </a:solidFill>
              </a:rPr>
              <a:t>Department </a:t>
            </a:r>
            <a:r>
              <a:rPr lang="en-US" sz="3200" dirty="0">
                <a:solidFill>
                  <a:prstClr val="black"/>
                </a:solidFill>
              </a:rPr>
              <a:t>of Physics</a:t>
            </a:r>
            <a:r>
              <a:rPr lang="en-US" sz="3200">
                <a:solidFill>
                  <a:prstClr val="black"/>
                </a:solidFill>
              </a:rPr>
              <a:t>, </a:t>
            </a:r>
            <a:r>
              <a:rPr lang="en-US" sz="3200" smtClean="0">
                <a:solidFill>
                  <a:prstClr val="black"/>
                </a:solidFill>
              </a:rPr>
              <a:t>Fysikvej 309, Technical University of Denmark, </a:t>
            </a:r>
            <a:r>
              <a:rPr lang="en-US" sz="3200" dirty="0">
                <a:solidFill>
                  <a:prstClr val="black"/>
                </a:solidFill>
              </a:rPr>
              <a:t>2800 </a:t>
            </a:r>
            <a:r>
              <a:rPr lang="en-US" sz="3200" dirty="0" err="1">
                <a:solidFill>
                  <a:prstClr val="black"/>
                </a:solidFill>
              </a:rPr>
              <a:t>Kongens</a:t>
            </a:r>
            <a:r>
              <a:rPr lang="en-US" sz="3200" dirty="0">
                <a:solidFill>
                  <a:prstClr val="black"/>
                </a:solidFill>
              </a:rPr>
              <a:t> </a:t>
            </a:r>
            <a:r>
              <a:rPr lang="en-US" sz="3200" dirty="0" err="1">
                <a:solidFill>
                  <a:prstClr val="black"/>
                </a:solidFill>
              </a:rPr>
              <a:t>Lyngby</a:t>
            </a:r>
            <a:r>
              <a:rPr lang="en-US" sz="3200">
                <a:solidFill>
                  <a:prstClr val="black"/>
                </a:solidFill>
              </a:rPr>
              <a:t>, </a:t>
            </a:r>
            <a:r>
              <a:rPr lang="en-US" sz="3200" smtClean="0">
                <a:solidFill>
                  <a:prstClr val="black"/>
                </a:solidFill>
              </a:rPr>
              <a:t>Denmark</a:t>
            </a:r>
          </a:p>
          <a:p>
            <a:pPr lvl="0" algn="just" defTabSz="4165227">
              <a:spcBef>
                <a:spcPts val="600"/>
              </a:spcBef>
            </a:pPr>
            <a:r>
              <a:rPr lang="en-US" sz="3200" baseline="30000" smtClean="0">
                <a:solidFill>
                  <a:prstClr val="black"/>
                </a:solidFill>
              </a:rPr>
              <a:t>2</a:t>
            </a:r>
            <a:r>
              <a:rPr lang="en-US" sz="3200" smtClean="0">
                <a:solidFill>
                  <a:prstClr val="black"/>
                </a:solidFill>
              </a:rPr>
              <a:t>York </a:t>
            </a:r>
            <a:r>
              <a:rPr lang="en-US" sz="3200" dirty="0" smtClean="0">
                <a:solidFill>
                  <a:prstClr val="black"/>
                </a:solidFill>
              </a:rPr>
              <a:t>Centre for Quantum Technologies (YCQT), University of York, York YO10 5GH</a:t>
            </a:r>
            <a:r>
              <a:rPr lang="en-US" sz="3200" smtClean="0">
                <a:solidFill>
                  <a:prstClr val="black"/>
                </a:solidFill>
              </a:rPr>
              <a:t>, </a:t>
            </a:r>
            <a:r>
              <a:rPr lang="en-US" sz="3200">
                <a:solidFill>
                  <a:prstClr val="black"/>
                </a:solidFill>
              </a:rPr>
              <a:t>United Kingdom</a:t>
            </a:r>
          </a:p>
          <a:p>
            <a:pPr lvl="0" algn="just" defTabSz="4165227">
              <a:spcBef>
                <a:spcPts val="600"/>
              </a:spcBef>
            </a:pPr>
            <a:r>
              <a:rPr lang="en-US" sz="3200" baseline="30000" smtClean="0">
                <a:solidFill>
                  <a:prstClr val="black"/>
                </a:solidFill>
              </a:rPr>
              <a:t>3</a:t>
            </a:r>
            <a:r>
              <a:rPr lang="en-US" sz="3200" smtClean="0">
                <a:solidFill>
                  <a:prstClr val="black"/>
                </a:solidFill>
              </a:rPr>
              <a:t>Cryptomathic </a:t>
            </a:r>
            <a:r>
              <a:rPr lang="en-US" sz="3200" dirty="0" smtClean="0">
                <a:solidFill>
                  <a:prstClr val="black"/>
                </a:solidFill>
              </a:rPr>
              <a:t>A/S, </a:t>
            </a:r>
            <a:r>
              <a:rPr lang="en-US" sz="3200" dirty="0" err="1" smtClean="0">
                <a:solidFill>
                  <a:prstClr val="black"/>
                </a:solidFill>
              </a:rPr>
              <a:t>Jaegergardsgale</a:t>
            </a:r>
            <a:r>
              <a:rPr lang="en-US" sz="3200" dirty="0" smtClean="0">
                <a:solidFill>
                  <a:prstClr val="black"/>
                </a:solidFill>
              </a:rPr>
              <a:t> 118, 8000 Aarhus</a:t>
            </a:r>
            <a:r>
              <a:rPr lang="en-US" sz="3200" smtClean="0">
                <a:solidFill>
                  <a:prstClr val="black"/>
                </a:solidFill>
              </a:rPr>
              <a:t>, Denmark</a:t>
            </a:r>
          </a:p>
          <a:p>
            <a:pPr lvl="0" algn="just" defTabSz="4165227">
              <a:spcBef>
                <a:spcPts val="600"/>
              </a:spcBef>
            </a:pPr>
            <a:r>
              <a:rPr lang="en-US" sz="3200" baseline="30000" smtClean="0">
                <a:solidFill>
                  <a:prstClr val="black"/>
                </a:solidFill>
              </a:rPr>
              <a:t>4</a:t>
            </a:r>
            <a:r>
              <a:rPr lang="en-US" sz="3200" smtClean="0">
                <a:solidFill>
                  <a:prstClr val="black"/>
                </a:solidFill>
              </a:rPr>
              <a:t>Department of Computer </a:t>
            </a:r>
            <a:r>
              <a:rPr lang="en-US" sz="3200" dirty="0" smtClean="0">
                <a:solidFill>
                  <a:prstClr val="black"/>
                </a:solidFill>
              </a:rPr>
              <a:t>Science, University of York, York YO10 5GH, United Kingdom</a:t>
            </a:r>
            <a:endParaRPr lang="en-US" sz="4800" dirty="0"/>
          </a:p>
        </p:txBody>
      </p:sp>
      <p:sp>
        <p:nvSpPr>
          <p:cNvPr id="42" name="AutoShape 13 6"/>
          <p:cNvSpPr>
            <a:spLocks noChangeArrowheads="1"/>
          </p:cNvSpPr>
          <p:nvPr/>
        </p:nvSpPr>
        <p:spPr bwMode="auto">
          <a:xfrm>
            <a:off x="473730" y="40844040"/>
            <a:ext cx="29262270" cy="1653375"/>
          </a:xfrm>
          <a:prstGeom prst="roundRect">
            <a:avLst>
              <a:gd name="adj" fmla="val 10870"/>
            </a:avLst>
          </a:prstGeom>
          <a:ln w="76200">
            <a:headEnd/>
            <a:tailEnd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102784" tIns="51392" rIns="102784" bIns="51392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41170" y="40948390"/>
            <a:ext cx="280878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8163837" y="21854319"/>
            <a:ext cx="6096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17287884" y="29711622"/>
            <a:ext cx="990600" cy="880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645714" y="40779234"/>
            <a:ext cx="280992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[1]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9437" y="9180000"/>
            <a:ext cx="6881417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mtClean="0"/>
              <a:t>Continuous-variable </a:t>
            </a:r>
            <a:r>
              <a:rPr lang="en-US" sz="2800"/>
              <a:t>quantum key </a:t>
            </a:r>
            <a:r>
              <a:rPr lang="en-US" sz="2800"/>
              <a:t>distribution </a:t>
            </a:r>
            <a:r>
              <a:rPr lang="en-US" sz="2800" smtClean="0"/>
              <a:t>(CVQKD) </a:t>
            </a:r>
            <a:r>
              <a:rPr lang="en-US" sz="2800"/>
              <a:t>implementations </a:t>
            </a:r>
            <a:r>
              <a:rPr lang="en-US" sz="2800" smtClean="0"/>
              <a:t>have the potential </a:t>
            </a:r>
            <a:r>
              <a:rPr lang="en-US" sz="2800"/>
              <a:t>to reach Gbit key rates while </a:t>
            </a:r>
            <a:r>
              <a:rPr lang="en-US" sz="2800"/>
              <a:t>staying </a:t>
            </a:r>
            <a:r>
              <a:rPr lang="en-US" sz="2800" smtClean="0"/>
              <a:t>cost-effective by using standard telecom technology. </a:t>
            </a:r>
            <a:endParaRPr 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mtClean="0"/>
              <a:t>One possible realization, for instance, is via e</a:t>
            </a:r>
            <a:r>
              <a:rPr lang="en-US" sz="2800" smtClean="0"/>
              <a:t>ncoding </a:t>
            </a:r>
            <a:r>
              <a:rPr lang="en-US" sz="2800" dirty="0"/>
              <a:t>quantum states </a:t>
            </a:r>
            <a:r>
              <a:rPr lang="en-US" sz="2800"/>
              <a:t>in </a:t>
            </a:r>
            <a:r>
              <a:rPr lang="en-US" sz="2800" smtClean="0"/>
              <a:t>GHz-wide optical </a:t>
            </a:r>
            <a:r>
              <a:rPr lang="en-US" sz="2800" dirty="0"/>
              <a:t>sidebands (</a:t>
            </a:r>
            <a:r>
              <a:rPr lang="en-US" sz="2800"/>
              <a:t>at </a:t>
            </a:r>
            <a:r>
              <a:rPr lang="en-US" sz="2800" smtClean="0"/>
              <a:t>Alice</a:t>
            </a:r>
            <a:r>
              <a:rPr lang="en-US" sz="2800" dirty="0"/>
              <a:t>) </a:t>
            </a:r>
            <a:r>
              <a:rPr lang="en-US" sz="2800"/>
              <a:t>and </a:t>
            </a:r>
            <a:r>
              <a:rPr lang="en-US" sz="2800" smtClean="0"/>
              <a:t>decoding them with </a:t>
            </a:r>
            <a:r>
              <a:rPr lang="en-US" sz="2800"/>
              <a:t>a </a:t>
            </a:r>
            <a:r>
              <a:rPr lang="en-US" sz="2800" smtClean="0"/>
              <a:t>broadband coherent detector </a:t>
            </a:r>
            <a:r>
              <a:rPr lang="en-US" sz="2800" dirty="0"/>
              <a:t>(</a:t>
            </a:r>
            <a:r>
              <a:rPr lang="en-US" sz="2800"/>
              <a:t>at </a:t>
            </a:r>
            <a:r>
              <a:rPr lang="en-US" sz="2800" smtClean="0"/>
              <a:t>Bob</a:t>
            </a:r>
            <a:r>
              <a:rPr lang="en-US" sz="2800" smtClean="0"/>
              <a:t>). </a:t>
            </a:r>
            <a:endParaRPr lang="en-US" sz="280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mtClean="0"/>
              <a:t>Here</a:t>
            </a:r>
            <a:r>
              <a:rPr lang="en-US" sz="2800" dirty="0"/>
              <a:t>, we present the progress in realization of such a CV-QKD </a:t>
            </a:r>
            <a:r>
              <a:rPr lang="en-US" sz="2800"/>
              <a:t>scheme </a:t>
            </a:r>
            <a:r>
              <a:rPr lang="en-US" sz="2800" smtClean="0"/>
              <a:t>using </a:t>
            </a:r>
            <a:r>
              <a:rPr lang="en-US" sz="2800" dirty="0"/>
              <a:t>coherent states with Gaussian modulation, and the various challenges in adapting the security proof to real-world </a:t>
            </a:r>
            <a:r>
              <a:rPr lang="en-US" sz="2800"/>
              <a:t>scenarios</a:t>
            </a:r>
            <a:r>
              <a:rPr lang="en-US" sz="280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mtClean="0"/>
              <a:t>We use the recently proposed </a:t>
            </a:r>
            <a:r>
              <a:rPr lang="en-US" sz="2800" i="1" smtClean="0"/>
              <a:t>local</a:t>
            </a:r>
            <a:r>
              <a:rPr lang="en-US" sz="2800" smtClean="0"/>
              <a:t> </a:t>
            </a:r>
            <a:r>
              <a:rPr lang="en-US" sz="2800"/>
              <a:t>local oscillator (</a:t>
            </a:r>
            <a:r>
              <a:rPr lang="en-US" sz="2800"/>
              <a:t>LO</a:t>
            </a:r>
            <a:r>
              <a:rPr lang="en-US" sz="2800" smtClean="0"/>
              <a:t>) design and heterodyne detection in Bob to recover the info in the quantum signal (qSig) from Alice.</a:t>
            </a:r>
            <a:endParaRPr lang="en-US" sz="2800" dirty="0"/>
          </a:p>
        </p:txBody>
      </p:sp>
      <p:sp>
        <p:nvSpPr>
          <p:cNvPr id="43" name="AutoShape 13 7"/>
          <p:cNvSpPr>
            <a:spLocks noChangeArrowheads="1"/>
          </p:cNvSpPr>
          <p:nvPr/>
        </p:nvSpPr>
        <p:spPr bwMode="auto">
          <a:xfrm>
            <a:off x="8280000" y="7920000"/>
            <a:ext cx="21456000" cy="10008000"/>
          </a:xfrm>
          <a:prstGeom prst="roundRect">
            <a:avLst>
              <a:gd name="adj" fmla="val 10870"/>
            </a:avLst>
          </a:prstGeom>
          <a:ln w="76200">
            <a:headEnd/>
            <a:tailEnd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102784" tIns="51392" rIns="102784" bIns="51392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712000" y="8280000"/>
            <a:ext cx="20723013" cy="868936"/>
          </a:xfrm>
          <a:prstGeom prst="rect">
            <a:avLst/>
          </a:prstGeom>
          <a:noFill/>
        </p:spPr>
        <p:txBody>
          <a:bodyPr wrap="square" lIns="129013" tIns="64506" rIns="129013" bIns="64506" rtlCol="0">
            <a:spAutoFit/>
          </a:bodyPr>
          <a:lstStyle/>
          <a:p>
            <a:r>
              <a:rPr lang="en-US" sz="4800" smtClean="0">
                <a:latin typeface="Arial" panose="020B0604020202020204" pitchFamily="34" charset="0"/>
                <a:cs typeface="Arial" panose="020B0604020202020204" pitchFamily="34" charset="0"/>
              </a:rPr>
              <a:t>Design dilemmas: transmitted </a:t>
            </a:r>
            <a:r>
              <a:rPr lang="en-US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LO </a:t>
            </a:r>
            <a:r>
              <a:rPr lang="en-US" sz="4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en-US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4800" smtClean="0">
                <a:latin typeface="Arial" panose="020B0604020202020204" pitchFamily="34" charset="0"/>
                <a:cs typeface="Arial" panose="020B0604020202020204" pitchFamily="34" charset="0"/>
              </a:rPr>
              <a:t>local LO &amp; homodyne </a:t>
            </a:r>
            <a:r>
              <a:rPr lang="en-US" sz="4800" i="1" smtClean="0"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en-US" sz="4800" smtClean="0">
                <a:latin typeface="Arial" panose="020B0604020202020204" pitchFamily="34" charset="0"/>
                <a:cs typeface="Arial" panose="020B0604020202020204" pitchFamily="34" charset="0"/>
              </a:rPr>
              <a:t>. heterodyne 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656636" y="11978859"/>
            <a:ext cx="101471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400" dirty="0" smtClean="0">
                <a:solidFill>
                  <a:srgbClr val="00B050"/>
                </a:solidFill>
              </a:rPr>
              <a:t>Stable relative phase between </a:t>
            </a:r>
            <a:r>
              <a:rPr lang="en-US" sz="2400" i="1" dirty="0" err="1" smtClean="0">
                <a:solidFill>
                  <a:srgbClr val="00B050"/>
                </a:solidFill>
              </a:rPr>
              <a:t>qSig</a:t>
            </a:r>
            <a:r>
              <a:rPr lang="en-US" sz="2400" dirty="0" smtClean="0">
                <a:solidFill>
                  <a:srgbClr val="00B050"/>
                </a:solidFill>
              </a:rPr>
              <a:t> and LO at the receiver </a:t>
            </a:r>
          </a:p>
          <a:p>
            <a:pPr marL="342900" indent="-342900">
              <a:buFontTx/>
              <a:buChar char="-"/>
            </a:pPr>
            <a:r>
              <a:rPr lang="en-US" sz="2400" dirty="0" smtClean="0">
                <a:solidFill>
                  <a:srgbClr val="FF0000"/>
                </a:solidFill>
              </a:rPr>
              <a:t>Vulnerable to LO intensity/wavelength manipulation </a:t>
            </a:r>
            <a:r>
              <a:rPr lang="en-US" sz="2400" dirty="0">
                <a:solidFill>
                  <a:srgbClr val="FF0000"/>
                </a:solidFill>
              </a:rPr>
              <a:t>on quantum </a:t>
            </a:r>
            <a:r>
              <a:rPr lang="en-US" sz="2400" dirty="0" smtClean="0">
                <a:solidFill>
                  <a:srgbClr val="FF0000"/>
                </a:solidFill>
              </a:rPr>
              <a:t>channel</a:t>
            </a:r>
          </a:p>
          <a:p>
            <a:pPr marL="342900" indent="-342900">
              <a:buFontTx/>
              <a:buChar char="-"/>
            </a:pPr>
            <a:r>
              <a:rPr lang="en-US" sz="2400" dirty="0" smtClean="0">
                <a:solidFill>
                  <a:srgbClr val="FF0000"/>
                </a:solidFill>
              </a:rPr>
              <a:t>LO intensity limitation </a:t>
            </a:r>
            <a:r>
              <a:rPr lang="en-US" sz="2400" smtClean="0">
                <a:solidFill>
                  <a:srgbClr val="FF0000"/>
                </a:solidFill>
              </a:rPr>
              <a:t>at </a:t>
            </a:r>
            <a:r>
              <a:rPr lang="en-US" sz="2400" smtClean="0">
                <a:solidFill>
                  <a:srgbClr val="FF0000"/>
                </a:solidFill>
              </a:rPr>
              <a:t>Bob </a:t>
            </a:r>
            <a:r>
              <a:rPr lang="en-US" sz="2400" dirty="0" smtClean="0">
                <a:solidFill>
                  <a:srgbClr val="FF0000"/>
                </a:solidFill>
              </a:rPr>
              <a:t>due to propagation losses </a:t>
            </a:r>
            <a:r>
              <a:rPr lang="en-US" sz="2400" smtClean="0">
                <a:solidFill>
                  <a:srgbClr val="FF0000"/>
                </a:solidFill>
              </a:rPr>
              <a:t>and </a:t>
            </a:r>
            <a:r>
              <a:rPr lang="en-US" sz="2400" smtClean="0">
                <a:solidFill>
                  <a:srgbClr val="FF0000"/>
                </a:solidFill>
              </a:rPr>
              <a:t>nonlinear </a:t>
            </a:r>
            <a:r>
              <a:rPr lang="en-US" sz="2400" dirty="0" smtClean="0">
                <a:solidFill>
                  <a:srgbClr val="FF0000"/>
                </a:solidFill>
              </a:rPr>
              <a:t>effects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803766" y="11953276"/>
            <a:ext cx="108044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400" smtClean="0">
                <a:solidFill>
                  <a:srgbClr val="FF0000"/>
                </a:solidFill>
              </a:rPr>
              <a:t>High requirments on lasers’ phase noise + complex </a:t>
            </a:r>
            <a:r>
              <a:rPr lang="en-US" sz="2400" smtClean="0">
                <a:solidFill>
                  <a:srgbClr val="FF0000"/>
                </a:solidFill>
              </a:rPr>
              <a:t>phase </a:t>
            </a:r>
            <a:r>
              <a:rPr lang="en-US" sz="2400" smtClean="0">
                <a:solidFill>
                  <a:srgbClr val="FF0000"/>
                </a:solidFill>
              </a:rPr>
              <a:t>reference alignment</a:t>
            </a:r>
            <a:endParaRPr lang="en-US" sz="2400" dirty="0" smtClean="0">
              <a:solidFill>
                <a:srgbClr val="FF0000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400" dirty="0" smtClean="0">
                <a:solidFill>
                  <a:srgbClr val="00B050"/>
                </a:solidFill>
              </a:rPr>
              <a:t>LO can be fully trusted, security loopholes closed</a:t>
            </a:r>
          </a:p>
          <a:p>
            <a:pPr marL="342900" indent="-342900">
              <a:buFontTx/>
              <a:buChar char="-"/>
            </a:pPr>
            <a:r>
              <a:rPr lang="en-US" sz="2400" dirty="0" smtClean="0">
                <a:solidFill>
                  <a:srgbClr val="00B050"/>
                </a:solidFill>
              </a:rPr>
              <a:t>No limitation on the local LO intensity</a:t>
            </a:r>
          </a:p>
        </p:txBody>
      </p:sp>
      <p:cxnSp>
        <p:nvCxnSpPr>
          <p:cNvPr id="191" name="Straight Connector 190"/>
          <p:cNvCxnSpPr/>
          <p:nvPr/>
        </p:nvCxnSpPr>
        <p:spPr>
          <a:xfrm flipV="1">
            <a:off x="3367570" y="20926540"/>
            <a:ext cx="274320" cy="2577"/>
          </a:xfrm>
          <a:prstGeom prst="line">
            <a:avLst/>
          </a:prstGeom>
          <a:ln w="28575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/>
          <p:cNvCxnSpPr/>
          <p:nvPr/>
        </p:nvCxnSpPr>
        <p:spPr>
          <a:xfrm>
            <a:off x="2725468" y="20930149"/>
            <a:ext cx="11019307" cy="1154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CustomShape 17 1"/>
          <p:cNvSpPr/>
          <p:nvPr/>
        </p:nvSpPr>
        <p:spPr>
          <a:xfrm>
            <a:off x="2435298" y="20446915"/>
            <a:ext cx="2008576" cy="967282"/>
          </a:xfrm>
          <a:prstGeom prst="parallelogram">
            <a:avLst>
              <a:gd name="adj" fmla="val 25000"/>
            </a:avLst>
          </a:prstGeom>
          <a:solidFill>
            <a:srgbClr val="808080"/>
          </a:solidFill>
          <a:ln w="25560">
            <a:noFill/>
          </a:ln>
        </p:spPr>
      </p:sp>
      <p:sp>
        <p:nvSpPr>
          <p:cNvPr id="205" name="Hexagon 204"/>
          <p:cNvSpPr/>
          <p:nvPr/>
        </p:nvSpPr>
        <p:spPr>
          <a:xfrm>
            <a:off x="9807296" y="20439851"/>
            <a:ext cx="1770568" cy="982636"/>
          </a:xfrm>
          <a:prstGeom prst="hexagon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Hexagon 206"/>
          <p:cNvSpPr/>
          <p:nvPr/>
        </p:nvSpPr>
        <p:spPr>
          <a:xfrm>
            <a:off x="7606356" y="20446916"/>
            <a:ext cx="1956418" cy="1009094"/>
          </a:xfrm>
          <a:prstGeom prst="hexagon">
            <a:avLst/>
          </a:prstGeom>
          <a:solidFill>
            <a:srgbClr val="BF9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CustomShape 2 2 1"/>
          <p:cNvSpPr/>
          <p:nvPr/>
        </p:nvSpPr>
        <p:spPr>
          <a:xfrm>
            <a:off x="7728008" y="20425580"/>
            <a:ext cx="1761805" cy="886656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smtClean="0">
                <a:solidFill>
                  <a:schemeClr val="bg1"/>
                </a:solidFill>
                <a:latin typeface="Arial"/>
              </a:rPr>
              <a:t>Intensity </a:t>
            </a:r>
          </a:p>
          <a:p>
            <a:pPr algn="ctr">
              <a:lnSpc>
                <a:spcPct val="100000"/>
              </a:lnSpc>
            </a:pPr>
            <a:r>
              <a:rPr lang="en-US" sz="2000" smtClean="0">
                <a:solidFill>
                  <a:schemeClr val="bg1"/>
                </a:solidFill>
                <a:latin typeface="Arial"/>
              </a:rPr>
              <a:t>modulator</a:t>
            </a:r>
          </a:p>
          <a:p>
            <a:pPr algn="ctr">
              <a:lnSpc>
                <a:spcPct val="100000"/>
              </a:lnSpc>
            </a:pPr>
            <a:r>
              <a:rPr lang="en-US" sz="2000" smtClean="0">
                <a:solidFill>
                  <a:schemeClr val="bg1"/>
                </a:solidFill>
                <a:latin typeface="Arial"/>
              </a:rPr>
              <a:t>(IM)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12" name="CustomShape 2 3"/>
          <p:cNvSpPr/>
          <p:nvPr/>
        </p:nvSpPr>
        <p:spPr>
          <a:xfrm>
            <a:off x="2930049" y="20563129"/>
            <a:ext cx="1126099" cy="661362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000" smtClean="0">
                <a:solidFill>
                  <a:schemeClr val="bg1"/>
                </a:solidFill>
                <a:latin typeface="Arial"/>
              </a:rPr>
              <a:t>Signal </a:t>
            </a:r>
          </a:p>
          <a:p>
            <a:pPr>
              <a:lnSpc>
                <a:spcPct val="100000"/>
              </a:lnSpc>
            </a:pPr>
            <a:r>
              <a:rPr lang="en-US" sz="2000" smtClean="0">
                <a:solidFill>
                  <a:schemeClr val="bg1"/>
                </a:solidFill>
                <a:latin typeface="Arial"/>
              </a:rPr>
              <a:t>laser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18" name="CustomShape 34 1"/>
          <p:cNvSpPr/>
          <p:nvPr/>
        </p:nvSpPr>
        <p:spPr>
          <a:xfrm>
            <a:off x="11938335" y="20431903"/>
            <a:ext cx="1731616" cy="1007912"/>
          </a:xfrm>
          <a:prstGeom prst="roundRect">
            <a:avLst>
              <a:gd name="adj" fmla="val 12277"/>
            </a:avLst>
          </a:prstGeom>
          <a:gradFill>
            <a:gsLst>
              <a:gs pos="0">
                <a:srgbClr val="9BBB59"/>
              </a:gs>
              <a:gs pos="100000">
                <a:srgbClr val="000000"/>
              </a:gs>
            </a:gsLst>
            <a:lin ang="0"/>
          </a:gradFill>
          <a:ln w="25560">
            <a:noFill/>
          </a:ln>
        </p:spPr>
      </p:sp>
      <p:cxnSp>
        <p:nvCxnSpPr>
          <p:cNvPr id="234" name="Straight Connector 233"/>
          <p:cNvCxnSpPr/>
          <p:nvPr/>
        </p:nvCxnSpPr>
        <p:spPr>
          <a:xfrm flipV="1">
            <a:off x="13692988" y="20942150"/>
            <a:ext cx="2595549" cy="4171"/>
          </a:xfrm>
          <a:prstGeom prst="line">
            <a:avLst/>
          </a:prstGeom>
          <a:noFill/>
          <a:ln w="28575" cap="flat" cmpd="sng" algn="ctr">
            <a:solidFill>
              <a:srgbClr val="FF6600"/>
            </a:solidFill>
            <a:prstDash val="solid"/>
            <a:miter lim="800000"/>
          </a:ln>
          <a:effectLst/>
        </p:spPr>
      </p:cxnSp>
      <p:sp>
        <p:nvSpPr>
          <p:cNvPr id="235" name="CustomShape 5 1"/>
          <p:cNvSpPr/>
          <p:nvPr/>
        </p:nvSpPr>
        <p:spPr>
          <a:xfrm rot="10800000">
            <a:off x="20322448" y="19861933"/>
            <a:ext cx="1423908" cy="685362"/>
          </a:xfrm>
          <a:prstGeom prst="curvedConnector3">
            <a:avLst>
              <a:gd name="adj1" fmla="val 44326"/>
            </a:avLst>
          </a:prstGeom>
          <a:noFill/>
          <a:ln w="28575">
            <a:solidFill>
              <a:srgbClr val="0070C0"/>
            </a:solidFill>
            <a:round/>
          </a:ln>
        </p:spPr>
      </p:sp>
      <p:sp>
        <p:nvSpPr>
          <p:cNvPr id="236" name="CustomShape 6 1"/>
          <p:cNvSpPr/>
          <p:nvPr/>
        </p:nvSpPr>
        <p:spPr>
          <a:xfrm flipV="1">
            <a:off x="20322451" y="20552322"/>
            <a:ext cx="1423906" cy="855862"/>
          </a:xfrm>
          <a:prstGeom prst="curvedConnector3">
            <a:avLst>
              <a:gd name="adj1" fmla="val 54996"/>
            </a:avLst>
          </a:prstGeom>
          <a:noFill/>
          <a:ln w="31680">
            <a:solidFill>
              <a:srgbClr val="0070C0"/>
            </a:solidFill>
            <a:round/>
          </a:ln>
        </p:spPr>
      </p:sp>
      <p:sp>
        <p:nvSpPr>
          <p:cNvPr id="238" name="CustomShape 17 2"/>
          <p:cNvSpPr/>
          <p:nvPr/>
        </p:nvSpPr>
        <p:spPr>
          <a:xfrm>
            <a:off x="19141742" y="19511805"/>
            <a:ext cx="1288645" cy="687139"/>
          </a:xfrm>
          <a:prstGeom prst="parallelogram">
            <a:avLst>
              <a:gd name="adj" fmla="val 25000"/>
            </a:avLst>
          </a:prstGeom>
          <a:solidFill>
            <a:srgbClr val="808080"/>
          </a:solidFill>
          <a:ln w="25560">
            <a:noFill/>
          </a:ln>
        </p:spPr>
      </p:sp>
      <p:sp>
        <p:nvSpPr>
          <p:cNvPr id="239" name="CustomShape 18 2 1"/>
          <p:cNvSpPr/>
          <p:nvPr/>
        </p:nvSpPr>
        <p:spPr>
          <a:xfrm>
            <a:off x="19333807" y="19493665"/>
            <a:ext cx="1110090" cy="704327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</a:rPr>
              <a:t>LLO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0" smtClean="0">
                <a:solidFill>
                  <a:schemeClr val="bg1"/>
                </a:solidFill>
                <a:latin typeface="Arial"/>
              </a:rPr>
              <a:t>laser</a:t>
            </a:r>
            <a:endParaRPr kumimoji="0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56" name="Rectangle 255"/>
          <p:cNvSpPr/>
          <p:nvPr/>
        </p:nvSpPr>
        <p:spPr>
          <a:xfrm>
            <a:off x="22473426" y="20169578"/>
            <a:ext cx="1652249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heterodyne detection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l-GR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kumimoji="0" lang="en-US" sz="1800" b="0" i="0" u="none" strike="noStrike" kern="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≠ 0)</a:t>
            </a: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9" name="Straight Connector 278"/>
          <p:cNvCxnSpPr/>
          <p:nvPr/>
        </p:nvCxnSpPr>
        <p:spPr>
          <a:xfrm flipV="1">
            <a:off x="14156876" y="20942654"/>
            <a:ext cx="274320" cy="2577"/>
          </a:xfrm>
          <a:prstGeom prst="line">
            <a:avLst/>
          </a:prstGeom>
          <a:noFill/>
          <a:ln w="28575" cap="flat" cmpd="sng" algn="ctr">
            <a:solidFill>
              <a:srgbClr val="FF660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sp>
        <p:nvSpPr>
          <p:cNvPr id="286" name="CustomShape 6 2"/>
          <p:cNvSpPr/>
          <p:nvPr/>
        </p:nvSpPr>
        <p:spPr>
          <a:xfrm flipH="1">
            <a:off x="21735125" y="19869328"/>
            <a:ext cx="1505532" cy="677967"/>
          </a:xfrm>
          <a:prstGeom prst="curvedConnector3">
            <a:avLst>
              <a:gd name="adj1" fmla="val 55788"/>
            </a:avLst>
          </a:prstGeom>
          <a:noFill/>
          <a:ln w="31680">
            <a:solidFill>
              <a:srgbClr val="0070C0"/>
            </a:solidFill>
            <a:round/>
          </a:ln>
        </p:spPr>
      </p:sp>
      <p:sp>
        <p:nvSpPr>
          <p:cNvPr id="287" name="CustomShape 6 3"/>
          <p:cNvSpPr/>
          <p:nvPr/>
        </p:nvSpPr>
        <p:spPr>
          <a:xfrm>
            <a:off x="21735125" y="20552323"/>
            <a:ext cx="1537902" cy="853388"/>
          </a:xfrm>
          <a:prstGeom prst="curvedConnector3">
            <a:avLst>
              <a:gd name="adj1" fmla="val 41619"/>
            </a:avLst>
          </a:prstGeom>
          <a:noFill/>
          <a:ln w="31680">
            <a:solidFill>
              <a:srgbClr val="0070C0"/>
            </a:solidFill>
            <a:round/>
          </a:ln>
        </p:spPr>
      </p:sp>
      <p:sp>
        <p:nvSpPr>
          <p:cNvPr id="288" name="Flowchart: Delay 287"/>
          <p:cNvSpPr/>
          <p:nvPr/>
        </p:nvSpPr>
        <p:spPr>
          <a:xfrm>
            <a:off x="23244700" y="19555316"/>
            <a:ext cx="724619" cy="620643"/>
          </a:xfrm>
          <a:prstGeom prst="flowChartDela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Flowchart: Delay 288"/>
          <p:cNvSpPr/>
          <p:nvPr/>
        </p:nvSpPr>
        <p:spPr>
          <a:xfrm>
            <a:off x="23270643" y="21074269"/>
            <a:ext cx="698676" cy="607511"/>
          </a:xfrm>
          <a:prstGeom prst="flowChartDela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CustomShape 5 2"/>
          <p:cNvSpPr/>
          <p:nvPr/>
        </p:nvSpPr>
        <p:spPr>
          <a:xfrm rot="10800000">
            <a:off x="23964860" y="19869864"/>
            <a:ext cx="647740" cy="620315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round/>
          </a:ln>
        </p:spPr>
      </p:sp>
      <p:sp>
        <p:nvSpPr>
          <p:cNvPr id="292" name="CustomShape 6 4"/>
          <p:cNvSpPr/>
          <p:nvPr/>
        </p:nvSpPr>
        <p:spPr>
          <a:xfrm flipV="1">
            <a:off x="23964859" y="20646836"/>
            <a:ext cx="642470" cy="741880"/>
          </a:xfrm>
          <a:prstGeom prst="curvedConnector3">
            <a:avLst>
              <a:gd name="adj1" fmla="val 50990"/>
            </a:avLst>
          </a:prstGeom>
          <a:noFill/>
          <a:ln w="31680">
            <a:solidFill>
              <a:schemeClr val="tx1"/>
            </a:solidFill>
            <a:round/>
          </a:ln>
        </p:spPr>
      </p:sp>
      <p:sp>
        <p:nvSpPr>
          <p:cNvPr id="293" name="CustomShape 34 3"/>
          <p:cNvSpPr/>
          <p:nvPr/>
        </p:nvSpPr>
        <p:spPr>
          <a:xfrm>
            <a:off x="24592074" y="20337733"/>
            <a:ext cx="460128" cy="438643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295" name="CustomShape 35 3"/>
          <p:cNvSpPr/>
          <p:nvPr/>
        </p:nvSpPr>
        <p:spPr>
          <a:xfrm>
            <a:off x="24683104" y="20303423"/>
            <a:ext cx="225125" cy="348984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-</a:t>
            </a:r>
            <a:endParaRPr kumimoji="0" sz="2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305" name="Picture 30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6852" y="22218729"/>
            <a:ext cx="5798795" cy="3028243"/>
          </a:xfrm>
          <a:prstGeom prst="rect">
            <a:avLst/>
          </a:prstGeom>
        </p:spPr>
      </p:pic>
      <p:pic>
        <p:nvPicPr>
          <p:cNvPr id="309" name="Picture 30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787" y="30484991"/>
            <a:ext cx="5739303" cy="3562277"/>
          </a:xfrm>
          <a:prstGeom prst="rect">
            <a:avLst/>
          </a:prstGeom>
        </p:spPr>
      </p:pic>
      <p:pic>
        <p:nvPicPr>
          <p:cNvPr id="310" name="Picture 30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0320" y="30388719"/>
            <a:ext cx="5486482" cy="3705418"/>
          </a:xfrm>
          <a:prstGeom prst="rect">
            <a:avLst/>
          </a:prstGeom>
        </p:spPr>
      </p:pic>
      <p:pic>
        <p:nvPicPr>
          <p:cNvPr id="311" name="Picture 31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903" y="30615243"/>
            <a:ext cx="5900462" cy="3502630"/>
          </a:xfrm>
          <a:prstGeom prst="rect">
            <a:avLst/>
          </a:prstGeom>
        </p:spPr>
      </p:pic>
      <p:pic>
        <p:nvPicPr>
          <p:cNvPr id="312" name="Picture 31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02385" y="30713897"/>
            <a:ext cx="5633051" cy="3470647"/>
          </a:xfrm>
          <a:prstGeom prst="rect">
            <a:avLst/>
          </a:prstGeom>
        </p:spPr>
      </p:pic>
      <p:sp>
        <p:nvSpPr>
          <p:cNvPr id="315" name="TextBox 314"/>
          <p:cNvSpPr txBox="1"/>
          <p:nvPr/>
        </p:nvSpPr>
        <p:spPr>
          <a:xfrm>
            <a:off x="731297" y="30705038"/>
            <a:ext cx="525209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 smtClean="0"/>
              <a:t>Data processing performed offline in MATLAB with digital PLL for recovering the modulated data</a:t>
            </a:r>
          </a:p>
          <a:p>
            <a:pPr marL="457200" indent="-457200">
              <a:buFontTx/>
              <a:buChar char="-"/>
            </a:pPr>
            <a:r>
              <a:rPr lang="en-US" sz="2800" dirty="0" smtClean="0"/>
              <a:t>The current setup employs amplitude and phase modulators which create double sideband</a:t>
            </a:r>
            <a:endParaRPr lang="en-US" sz="2800" dirty="0"/>
          </a:p>
        </p:txBody>
      </p:sp>
      <p:sp>
        <p:nvSpPr>
          <p:cNvPr id="316" name="TextBox 315"/>
          <p:cNvSpPr txBox="1"/>
          <p:nvPr/>
        </p:nvSpPr>
        <p:spPr>
          <a:xfrm>
            <a:off x="604804" y="36128952"/>
            <a:ext cx="697084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 smtClean="0"/>
              <a:t>The future setup will use single-sideband modulation for better spectral efficiency and closing potential security loopholes</a:t>
            </a:r>
          </a:p>
          <a:p>
            <a:pPr marL="457200" indent="-457200">
              <a:buFontTx/>
              <a:buChar char="-"/>
            </a:pPr>
            <a:r>
              <a:rPr lang="en-US" sz="2800" dirty="0" smtClean="0"/>
              <a:t>Introduction of pilot signals for clock recovery, multiplexed in time with the quantum signal</a:t>
            </a:r>
          </a:p>
          <a:p>
            <a:pPr marL="457200" indent="-457200">
              <a:buFontTx/>
              <a:buChar char="-"/>
            </a:pPr>
            <a:r>
              <a:rPr lang="en-US" sz="2800" dirty="0" smtClean="0"/>
              <a:t>Carrier synchronization on receiver side</a:t>
            </a:r>
          </a:p>
          <a:p>
            <a:pPr marL="457200" indent="-457200">
              <a:buFontTx/>
              <a:buChar char="-"/>
            </a:pPr>
            <a:r>
              <a:rPr lang="en-US" sz="2800" dirty="0" smtClean="0"/>
              <a:t>Replacing AWG and oscilloscope with FPGA DAC/ADC suite for online signal generation and recovery</a:t>
            </a:r>
          </a:p>
          <a:p>
            <a:pPr marL="457200" indent="-457200">
              <a:buFontTx/>
              <a:buChar char="-"/>
            </a:pPr>
            <a:endParaRPr lang="en-US" sz="2800" dirty="0" smtClean="0"/>
          </a:p>
        </p:txBody>
      </p:sp>
      <p:sp>
        <p:nvSpPr>
          <p:cNvPr id="318" name="TextBox 317"/>
          <p:cNvSpPr txBox="1"/>
          <p:nvPr/>
        </p:nvSpPr>
        <p:spPr>
          <a:xfrm>
            <a:off x="731297" y="35288827"/>
            <a:ext cx="4211671" cy="868936"/>
          </a:xfrm>
          <a:prstGeom prst="rect">
            <a:avLst/>
          </a:prstGeom>
          <a:noFill/>
        </p:spPr>
        <p:txBody>
          <a:bodyPr wrap="square" lIns="129013" tIns="64506" rIns="129013" bIns="64506" rtlCol="0">
            <a:spAutoFit/>
          </a:bodyPr>
          <a:lstStyle/>
          <a:p>
            <a:r>
              <a:rPr lang="en-US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Future steps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9" name="AutoShape 13 8"/>
          <p:cNvSpPr>
            <a:spLocks noChangeArrowheads="1"/>
          </p:cNvSpPr>
          <p:nvPr/>
        </p:nvSpPr>
        <p:spPr bwMode="auto">
          <a:xfrm>
            <a:off x="17626481" y="35118235"/>
            <a:ext cx="11981769" cy="5316135"/>
          </a:xfrm>
          <a:prstGeom prst="roundRect">
            <a:avLst>
              <a:gd name="adj" fmla="val 10870"/>
            </a:avLst>
          </a:prstGeom>
          <a:ln w="76200">
            <a:headEnd/>
            <a:tailEnd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102784" tIns="51392" rIns="102784" bIns="51392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320" name="TextBox 319"/>
          <p:cNvSpPr txBox="1"/>
          <p:nvPr/>
        </p:nvSpPr>
        <p:spPr>
          <a:xfrm>
            <a:off x="17847643" y="35171087"/>
            <a:ext cx="5014190" cy="868936"/>
          </a:xfrm>
          <a:prstGeom prst="rect">
            <a:avLst/>
          </a:prstGeom>
          <a:noFill/>
        </p:spPr>
        <p:txBody>
          <a:bodyPr wrap="square" lIns="129013" tIns="64506" rIns="129013" bIns="64506" rtlCol="0">
            <a:spAutoFit/>
          </a:bodyPr>
          <a:lstStyle/>
          <a:p>
            <a:r>
              <a:rPr lang="en-US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Security analysis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6" name="Group 365"/>
          <p:cNvGrpSpPr/>
          <p:nvPr/>
        </p:nvGrpSpPr>
        <p:grpSpPr>
          <a:xfrm>
            <a:off x="15761419" y="35343042"/>
            <a:ext cx="1059281" cy="504318"/>
            <a:chOff x="1348146" y="3581156"/>
            <a:chExt cx="1995722" cy="999649"/>
          </a:xfrm>
        </p:grpSpPr>
        <p:cxnSp>
          <p:nvCxnSpPr>
            <p:cNvPr id="367" name="Straight Connector 366"/>
            <p:cNvCxnSpPr/>
            <p:nvPr/>
          </p:nvCxnSpPr>
          <p:spPr>
            <a:xfrm flipV="1">
              <a:off x="1348146" y="4228641"/>
              <a:ext cx="609057" cy="2577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368" name="Straight Connector 367"/>
            <p:cNvCxnSpPr/>
            <p:nvPr/>
          </p:nvCxnSpPr>
          <p:spPr>
            <a:xfrm flipV="1">
              <a:off x="1348146" y="4578228"/>
              <a:ext cx="609057" cy="2577"/>
            </a:xfrm>
            <a:prstGeom prst="line">
              <a:avLst/>
            </a:prstGeom>
            <a:noFill/>
            <a:ln w="28575" cap="flat" cmpd="sng" algn="ctr">
              <a:solidFill>
                <a:srgbClr val="FF6600"/>
              </a:solidFill>
              <a:prstDash val="solid"/>
              <a:miter lim="800000"/>
            </a:ln>
            <a:effectLst/>
          </p:spPr>
        </p:cxnSp>
        <p:sp>
          <p:nvSpPr>
            <p:cNvPr id="369" name="CustomShape 2 6"/>
            <p:cNvSpPr/>
            <p:nvPr/>
          </p:nvSpPr>
          <p:spPr>
            <a:xfrm>
              <a:off x="2170188" y="3581156"/>
              <a:ext cx="1173680" cy="836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PMF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SMF</a:t>
              </a:r>
              <a:endParaRPr kumimoji="0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370" name="Straight Connector 369"/>
          <p:cNvCxnSpPr/>
          <p:nvPr/>
        </p:nvCxnSpPr>
        <p:spPr>
          <a:xfrm>
            <a:off x="12915209" y="36458171"/>
            <a:ext cx="2322176" cy="6524"/>
          </a:xfrm>
          <a:prstGeom prst="line">
            <a:avLst/>
          </a:prstGeom>
          <a:noFill/>
          <a:ln w="28575" cap="flat" cmpd="sng" algn="ctr">
            <a:solidFill>
              <a:srgbClr val="FF6600"/>
            </a:solidFill>
            <a:prstDash val="solid"/>
            <a:miter lim="800000"/>
          </a:ln>
          <a:effectLst/>
        </p:spPr>
      </p:cxnSp>
      <p:cxnSp>
        <p:nvCxnSpPr>
          <p:cNvPr id="371" name="Straight Connector 370"/>
          <p:cNvCxnSpPr/>
          <p:nvPr/>
        </p:nvCxnSpPr>
        <p:spPr>
          <a:xfrm flipV="1">
            <a:off x="9332259" y="36462118"/>
            <a:ext cx="274320" cy="2577"/>
          </a:xfrm>
          <a:prstGeom prst="line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cxnSp>
        <p:nvCxnSpPr>
          <p:cNvPr id="372" name="Straight Connector 371"/>
          <p:cNvCxnSpPr/>
          <p:nvPr/>
        </p:nvCxnSpPr>
        <p:spPr>
          <a:xfrm flipV="1">
            <a:off x="8705050" y="36458172"/>
            <a:ext cx="4212000" cy="6869"/>
          </a:xfrm>
          <a:prstGeom prst="line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</a:ln>
          <a:effectLst/>
        </p:spPr>
      </p:cxnSp>
      <p:sp>
        <p:nvSpPr>
          <p:cNvPr id="373" name="CustomShape 17 3"/>
          <p:cNvSpPr/>
          <p:nvPr/>
        </p:nvSpPr>
        <p:spPr>
          <a:xfrm>
            <a:off x="8071715" y="36275540"/>
            <a:ext cx="915138" cy="350552"/>
          </a:xfrm>
          <a:prstGeom prst="parallelogram">
            <a:avLst>
              <a:gd name="adj" fmla="val 25000"/>
            </a:avLst>
          </a:prstGeom>
          <a:solidFill>
            <a:srgbClr val="E7E6E6">
              <a:lumMod val="75000"/>
            </a:srgbClr>
          </a:solidFill>
          <a:ln w="25560">
            <a:noFill/>
          </a:ln>
        </p:spPr>
      </p:sp>
      <p:sp>
        <p:nvSpPr>
          <p:cNvPr id="374" name="Hexagon 373"/>
          <p:cNvSpPr/>
          <p:nvPr/>
        </p:nvSpPr>
        <p:spPr>
          <a:xfrm>
            <a:off x="10083350" y="36183661"/>
            <a:ext cx="1273597" cy="534307"/>
          </a:xfrm>
          <a:prstGeom prst="hexagon">
            <a:avLst/>
          </a:prstGeom>
          <a:solidFill>
            <a:srgbClr val="BF9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5" name="CustomShape 2 7"/>
          <p:cNvSpPr/>
          <p:nvPr/>
        </p:nvSpPr>
        <p:spPr>
          <a:xfrm>
            <a:off x="10234473" y="36251658"/>
            <a:ext cx="937726" cy="408514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IQmod</a:t>
            </a:r>
            <a:endParaRPr kumimoji="0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76" name="CustomShape 2 8"/>
          <p:cNvSpPr/>
          <p:nvPr/>
        </p:nvSpPr>
        <p:spPr>
          <a:xfrm>
            <a:off x="8130751" y="36243913"/>
            <a:ext cx="869128" cy="39528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laser</a:t>
            </a:r>
            <a:endParaRPr kumimoji="0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78" name="Rectangle 377"/>
          <p:cNvSpPr/>
          <p:nvPr/>
        </p:nvSpPr>
        <p:spPr>
          <a:xfrm>
            <a:off x="10247974" y="35312459"/>
            <a:ext cx="1073016" cy="647661"/>
          </a:xfrm>
          <a:prstGeom prst="rect">
            <a:avLst/>
          </a:prstGeom>
          <a:solidFill>
            <a:srgbClr val="ED7D31">
              <a:lumMod val="60000"/>
              <a:lumOff val="4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9" name="CustomShape 18 5"/>
          <p:cNvSpPr/>
          <p:nvPr/>
        </p:nvSpPr>
        <p:spPr>
          <a:xfrm>
            <a:off x="10273844" y="35321372"/>
            <a:ext cx="1034638" cy="568367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FPGA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(RF mod)</a:t>
            </a:r>
            <a:endParaRPr kumimoji="0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cxnSp>
        <p:nvCxnSpPr>
          <p:cNvPr id="380" name="Straight Arrow Connector 379"/>
          <p:cNvCxnSpPr/>
          <p:nvPr/>
        </p:nvCxnSpPr>
        <p:spPr>
          <a:xfrm flipH="1">
            <a:off x="10771424" y="35917596"/>
            <a:ext cx="13992" cy="299211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81" name="CustomShape 34 4"/>
          <p:cNvSpPr/>
          <p:nvPr/>
        </p:nvSpPr>
        <p:spPr>
          <a:xfrm>
            <a:off x="11887888" y="36285640"/>
            <a:ext cx="661798" cy="330351"/>
          </a:xfrm>
          <a:prstGeom prst="roundRect">
            <a:avLst>
              <a:gd name="adj" fmla="val 12277"/>
            </a:avLst>
          </a:prstGeom>
          <a:gradFill>
            <a:gsLst>
              <a:gs pos="0">
                <a:srgbClr val="9BBB59"/>
              </a:gs>
              <a:gs pos="100000">
                <a:srgbClr val="000000"/>
              </a:gs>
            </a:gsLst>
            <a:lin ang="0"/>
          </a:gradFill>
          <a:ln w="25560">
            <a:noFill/>
          </a:ln>
        </p:spPr>
      </p:sp>
      <p:sp>
        <p:nvSpPr>
          <p:cNvPr id="382" name="CustomShape 35 4"/>
          <p:cNvSpPr/>
          <p:nvPr/>
        </p:nvSpPr>
        <p:spPr>
          <a:xfrm>
            <a:off x="11778602" y="35917596"/>
            <a:ext cx="868690" cy="422712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VATT</a:t>
            </a:r>
            <a:endParaRPr kumimoji="0" sz="16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383" name="Group 382"/>
          <p:cNvGrpSpPr/>
          <p:nvPr/>
        </p:nvGrpSpPr>
        <p:grpSpPr>
          <a:xfrm>
            <a:off x="8358531" y="35315055"/>
            <a:ext cx="1605272" cy="685782"/>
            <a:chOff x="137734" y="3578280"/>
            <a:chExt cx="1728930" cy="850303"/>
          </a:xfrm>
        </p:grpSpPr>
        <p:sp>
          <p:nvSpPr>
            <p:cNvPr id="384" name="Oval 383"/>
            <p:cNvSpPr/>
            <p:nvPr/>
          </p:nvSpPr>
          <p:spPr>
            <a:xfrm>
              <a:off x="371578" y="3578280"/>
              <a:ext cx="1261241" cy="780192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5" name="CustomShape 18 6"/>
            <p:cNvSpPr/>
            <p:nvPr/>
          </p:nvSpPr>
          <p:spPr>
            <a:xfrm>
              <a:off x="137734" y="3740333"/>
              <a:ext cx="1728930" cy="688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QRNG</a:t>
              </a:r>
              <a:endParaRPr kumimoji="0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386" name="Straight Arrow Connector 385"/>
          <p:cNvCxnSpPr/>
          <p:nvPr/>
        </p:nvCxnSpPr>
        <p:spPr>
          <a:xfrm>
            <a:off x="9822538" y="35643829"/>
            <a:ext cx="288000" cy="7119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87" name="Oval 386"/>
          <p:cNvSpPr/>
          <p:nvPr/>
        </p:nvSpPr>
        <p:spPr>
          <a:xfrm>
            <a:off x="14427171" y="36131540"/>
            <a:ext cx="372781" cy="333155"/>
          </a:xfrm>
          <a:prstGeom prst="ellipse">
            <a:avLst/>
          </a:prstGeom>
          <a:noFill/>
          <a:ln w="28575" cap="flat" cmpd="sng" algn="ctr">
            <a:solidFill>
              <a:srgbClr val="FF66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90" name="Straight Connector 389"/>
          <p:cNvCxnSpPr/>
          <p:nvPr/>
        </p:nvCxnSpPr>
        <p:spPr>
          <a:xfrm>
            <a:off x="11174752" y="39648333"/>
            <a:ext cx="1609764" cy="2425"/>
          </a:xfrm>
          <a:prstGeom prst="line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</a:ln>
          <a:effectLst/>
        </p:spPr>
      </p:cxnSp>
      <p:cxnSp>
        <p:nvCxnSpPr>
          <p:cNvPr id="391" name="Straight Connector 390"/>
          <p:cNvCxnSpPr/>
          <p:nvPr/>
        </p:nvCxnSpPr>
        <p:spPr>
          <a:xfrm>
            <a:off x="8705050" y="38060884"/>
            <a:ext cx="3994386" cy="29239"/>
          </a:xfrm>
          <a:prstGeom prst="line">
            <a:avLst/>
          </a:prstGeom>
          <a:noFill/>
          <a:ln w="28575" cap="flat" cmpd="sng" algn="ctr">
            <a:solidFill>
              <a:srgbClr val="FF6600"/>
            </a:solidFill>
            <a:prstDash val="solid"/>
            <a:miter lim="800000"/>
          </a:ln>
          <a:effectLst/>
        </p:spPr>
      </p:cxnSp>
      <p:grpSp>
        <p:nvGrpSpPr>
          <p:cNvPr id="392" name="Group 391"/>
          <p:cNvGrpSpPr/>
          <p:nvPr/>
        </p:nvGrpSpPr>
        <p:grpSpPr>
          <a:xfrm>
            <a:off x="12675026" y="38087259"/>
            <a:ext cx="965030" cy="1569643"/>
            <a:chOff x="7321991" y="4382428"/>
            <a:chExt cx="1352355" cy="1569643"/>
          </a:xfrm>
        </p:grpSpPr>
        <p:sp>
          <p:nvSpPr>
            <p:cNvPr id="393" name="CustomShape 5 3"/>
            <p:cNvSpPr/>
            <p:nvPr/>
          </p:nvSpPr>
          <p:spPr>
            <a:xfrm rot="10800000">
              <a:off x="7321991" y="4382428"/>
              <a:ext cx="1341741" cy="863243"/>
            </a:xfrm>
            <a:prstGeom prst="curvedConnector3">
              <a:avLst>
                <a:gd name="adj1" fmla="val 50000"/>
              </a:avLst>
            </a:prstGeom>
            <a:noFill/>
            <a:ln w="28575">
              <a:solidFill>
                <a:srgbClr val="0070C0"/>
              </a:solidFill>
              <a:round/>
            </a:ln>
          </p:spPr>
        </p:sp>
        <p:sp>
          <p:nvSpPr>
            <p:cNvPr id="394" name="CustomShape 6 5"/>
            <p:cNvSpPr/>
            <p:nvPr/>
          </p:nvSpPr>
          <p:spPr>
            <a:xfrm flipV="1">
              <a:off x="7321992" y="5256714"/>
              <a:ext cx="1352354" cy="695357"/>
            </a:xfrm>
            <a:prstGeom prst="curvedConnector3">
              <a:avLst>
                <a:gd name="adj1" fmla="val 65833"/>
              </a:avLst>
            </a:prstGeom>
            <a:noFill/>
            <a:ln w="31680">
              <a:solidFill>
                <a:srgbClr val="0070C0"/>
              </a:solidFill>
              <a:round/>
            </a:ln>
          </p:spPr>
        </p:sp>
      </p:grpSp>
      <p:sp>
        <p:nvSpPr>
          <p:cNvPr id="396" name="CustomShape 17 4"/>
          <p:cNvSpPr/>
          <p:nvPr/>
        </p:nvSpPr>
        <p:spPr>
          <a:xfrm>
            <a:off x="10407635" y="39462705"/>
            <a:ext cx="977230" cy="420675"/>
          </a:xfrm>
          <a:prstGeom prst="parallelogram">
            <a:avLst>
              <a:gd name="adj" fmla="val 25000"/>
            </a:avLst>
          </a:prstGeom>
          <a:solidFill>
            <a:srgbClr val="E7E6E6">
              <a:lumMod val="75000"/>
            </a:srgbClr>
          </a:solidFill>
          <a:ln w="25560">
            <a:noFill/>
          </a:ln>
        </p:spPr>
      </p:sp>
      <p:sp>
        <p:nvSpPr>
          <p:cNvPr id="397" name="CustomShape 34 5"/>
          <p:cNvSpPr/>
          <p:nvPr/>
        </p:nvSpPr>
        <p:spPr>
          <a:xfrm>
            <a:off x="12487974" y="39539885"/>
            <a:ext cx="470719" cy="234034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9BBB59"/>
              </a:gs>
              <a:gs pos="100000">
                <a:srgbClr val="000000"/>
              </a:gs>
            </a:gsLst>
            <a:lin ang="0"/>
          </a:gradFill>
          <a:ln w="25560">
            <a:noFill/>
          </a:ln>
        </p:spPr>
      </p:sp>
      <p:sp>
        <p:nvSpPr>
          <p:cNvPr id="398" name="CustomShape 35 5"/>
          <p:cNvSpPr/>
          <p:nvPr/>
        </p:nvSpPr>
        <p:spPr>
          <a:xfrm>
            <a:off x="10558807" y="38342398"/>
            <a:ext cx="2268901" cy="695042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dynamic polarization </a:t>
            </a:r>
            <a:endParaRPr kumimoji="0" lang="da-DK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controller</a:t>
            </a:r>
            <a:endParaRPr kumimoji="0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400" name="Group 399"/>
          <p:cNvGrpSpPr/>
          <p:nvPr/>
        </p:nvGrpSpPr>
        <p:grpSpPr>
          <a:xfrm>
            <a:off x="11105513" y="37877415"/>
            <a:ext cx="752587" cy="436480"/>
            <a:chOff x="6072867" y="1992156"/>
            <a:chExt cx="752587" cy="436480"/>
          </a:xfrm>
        </p:grpSpPr>
        <p:sp>
          <p:nvSpPr>
            <p:cNvPr id="401" name="Rounded Rectangle 400"/>
            <p:cNvSpPr/>
            <p:nvPr/>
          </p:nvSpPr>
          <p:spPr>
            <a:xfrm>
              <a:off x="6072867" y="1992156"/>
              <a:ext cx="752587" cy="436480"/>
            </a:xfrm>
            <a:prstGeom prst="roundRect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a-DK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02" name="Picture 401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75836" y="2016951"/>
              <a:ext cx="369882" cy="393370"/>
            </a:xfrm>
            <a:prstGeom prst="rect">
              <a:avLst/>
            </a:prstGeom>
          </p:spPr>
        </p:pic>
      </p:grpSp>
      <p:cxnSp>
        <p:nvCxnSpPr>
          <p:cNvPr id="403" name="Straight Connector 402"/>
          <p:cNvCxnSpPr/>
          <p:nvPr/>
        </p:nvCxnSpPr>
        <p:spPr>
          <a:xfrm flipV="1">
            <a:off x="11833507" y="39650859"/>
            <a:ext cx="274320" cy="2577"/>
          </a:xfrm>
          <a:prstGeom prst="line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sp>
        <p:nvSpPr>
          <p:cNvPr id="404" name="Oval 403"/>
          <p:cNvSpPr/>
          <p:nvPr/>
        </p:nvSpPr>
        <p:spPr>
          <a:xfrm>
            <a:off x="9328386" y="37735632"/>
            <a:ext cx="372781" cy="333155"/>
          </a:xfrm>
          <a:prstGeom prst="ellipse">
            <a:avLst/>
          </a:prstGeom>
          <a:noFill/>
          <a:ln w="28575" cap="flat" cmpd="sng" algn="ctr">
            <a:solidFill>
              <a:srgbClr val="FF66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½</a:t>
            </a:r>
          </a:p>
        </p:txBody>
      </p:sp>
      <p:sp>
        <p:nvSpPr>
          <p:cNvPr id="405" name="CustomShape 18 7"/>
          <p:cNvSpPr/>
          <p:nvPr/>
        </p:nvSpPr>
        <p:spPr>
          <a:xfrm>
            <a:off x="10509235" y="39475405"/>
            <a:ext cx="938823" cy="326378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laser</a:t>
            </a:r>
            <a:endParaRPr kumimoji="0" sz="16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6" name="CustomShape 35 6"/>
          <p:cNvSpPr/>
          <p:nvPr/>
        </p:nvSpPr>
        <p:spPr>
          <a:xfrm>
            <a:off x="12310887" y="39149426"/>
            <a:ext cx="868690" cy="422712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VATT</a:t>
            </a:r>
            <a:endParaRPr kumimoji="0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7" name="CustomShape 11"/>
          <p:cNvSpPr/>
          <p:nvPr/>
        </p:nvSpPr>
        <p:spPr>
          <a:xfrm>
            <a:off x="9853384" y="38025282"/>
            <a:ext cx="326957" cy="71205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9360">
            <a:solidFill>
              <a:srgbClr val="000000"/>
            </a:solidFill>
            <a:round/>
          </a:ln>
          <a:scene3d>
            <a:camera prst="orthographicFront">
              <a:rot lat="0" lon="0" rev="4200000"/>
            </a:camera>
            <a:lightRig rig="threePt" dir="t"/>
          </a:scene3d>
        </p:spPr>
      </p:sp>
      <p:sp>
        <p:nvSpPr>
          <p:cNvPr id="408" name="CustomShape 49 2"/>
          <p:cNvSpPr/>
          <p:nvPr/>
        </p:nvSpPr>
        <p:spPr>
          <a:xfrm rot="10800000" flipV="1">
            <a:off x="11503374" y="37601841"/>
            <a:ext cx="3902139" cy="282054"/>
          </a:xfrm>
          <a:prstGeom prst="bentConnector2">
            <a:avLst/>
          </a:prstGeom>
          <a:noFill/>
          <a:ln w="38160">
            <a:solidFill>
              <a:srgbClr val="000000"/>
            </a:solidFill>
            <a:round/>
            <a:tailEnd type="triangle" w="med" len="med"/>
          </a:ln>
        </p:spPr>
      </p:sp>
      <p:sp>
        <p:nvSpPr>
          <p:cNvPr id="411" name="Rectangle 410"/>
          <p:cNvSpPr/>
          <p:nvPr/>
        </p:nvSpPr>
        <p:spPr>
          <a:xfrm>
            <a:off x="14736281" y="37014195"/>
            <a:ext cx="2279194" cy="104237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3" name="CustomShape 18 9"/>
          <p:cNvSpPr/>
          <p:nvPr/>
        </p:nvSpPr>
        <p:spPr>
          <a:xfrm>
            <a:off x="15138654" y="37096496"/>
            <a:ext cx="1728930" cy="874923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ADC, clock recovery,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demodulation,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reconstruction etc.</a:t>
            </a:r>
            <a:endParaRPr kumimoji="0" sz="16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6" name="CustomShape 49 3"/>
          <p:cNvSpPr/>
          <p:nvPr/>
        </p:nvSpPr>
        <p:spPr>
          <a:xfrm rot="10800000" flipH="1">
            <a:off x="15987244" y="38082860"/>
            <a:ext cx="370876" cy="901612"/>
          </a:xfrm>
          <a:prstGeom prst="bentConnector2">
            <a:avLst/>
          </a:prstGeom>
          <a:noFill/>
          <a:ln w="57150">
            <a:solidFill>
              <a:srgbClr val="000000"/>
            </a:solidFill>
            <a:round/>
            <a:tailEnd type="triangle" w="med" len="med"/>
          </a:ln>
        </p:spPr>
      </p:sp>
      <p:sp>
        <p:nvSpPr>
          <p:cNvPr id="417" name="Rectangle 416"/>
          <p:cNvSpPr/>
          <p:nvPr/>
        </p:nvSpPr>
        <p:spPr>
          <a:xfrm>
            <a:off x="14455573" y="38500680"/>
            <a:ext cx="165224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heterodyne detection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l-GR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kumimoji="0" lang="en-US" sz="1600" b="0" i="0" u="none" strike="noStrike" kern="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≠ 0)</a:t>
            </a: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8" name="CustomShape 6 6"/>
          <p:cNvSpPr/>
          <p:nvPr/>
        </p:nvSpPr>
        <p:spPr>
          <a:xfrm flipH="1">
            <a:off x="13615800" y="38389239"/>
            <a:ext cx="1184152" cy="562967"/>
          </a:xfrm>
          <a:prstGeom prst="curvedConnector3">
            <a:avLst>
              <a:gd name="adj1" fmla="val 55788"/>
            </a:avLst>
          </a:prstGeom>
          <a:noFill/>
          <a:ln w="31680">
            <a:solidFill>
              <a:srgbClr val="0070C0"/>
            </a:solidFill>
            <a:round/>
          </a:ln>
        </p:spPr>
      </p:sp>
      <p:sp>
        <p:nvSpPr>
          <p:cNvPr id="419" name="CustomShape 6 7"/>
          <p:cNvSpPr/>
          <p:nvPr/>
        </p:nvSpPr>
        <p:spPr>
          <a:xfrm>
            <a:off x="13643223" y="38961549"/>
            <a:ext cx="1156729" cy="496002"/>
          </a:xfrm>
          <a:prstGeom prst="curvedConnector3">
            <a:avLst>
              <a:gd name="adj1" fmla="val 41619"/>
            </a:avLst>
          </a:prstGeom>
          <a:noFill/>
          <a:ln w="31680">
            <a:solidFill>
              <a:srgbClr val="0070C0"/>
            </a:solidFill>
            <a:round/>
          </a:ln>
        </p:spPr>
      </p:sp>
      <p:sp>
        <p:nvSpPr>
          <p:cNvPr id="420" name="Flowchart: Delay 419"/>
          <p:cNvSpPr/>
          <p:nvPr/>
        </p:nvSpPr>
        <p:spPr>
          <a:xfrm>
            <a:off x="14799952" y="38196312"/>
            <a:ext cx="390698" cy="407324"/>
          </a:xfrm>
          <a:prstGeom prst="flowChartDela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1" name="CustomShape 5 4"/>
          <p:cNvSpPr/>
          <p:nvPr/>
        </p:nvSpPr>
        <p:spPr>
          <a:xfrm rot="10800000">
            <a:off x="15208846" y="38367741"/>
            <a:ext cx="462929" cy="618717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round/>
          </a:ln>
        </p:spPr>
      </p:sp>
      <p:sp>
        <p:nvSpPr>
          <p:cNvPr id="422" name="CustomShape 34 6"/>
          <p:cNvSpPr/>
          <p:nvPr/>
        </p:nvSpPr>
        <p:spPr>
          <a:xfrm>
            <a:off x="15699636" y="38796249"/>
            <a:ext cx="338809" cy="330591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423" name="TextBox 422"/>
          <p:cNvSpPr txBox="1"/>
          <p:nvPr/>
        </p:nvSpPr>
        <p:spPr>
          <a:xfrm>
            <a:off x="17855660" y="35984105"/>
            <a:ext cx="11374977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 smtClean="0"/>
              <a:t>A </a:t>
            </a:r>
            <a:r>
              <a:rPr lang="en-US" sz="2800" dirty="0" err="1" smtClean="0"/>
              <a:t>composable</a:t>
            </a:r>
            <a:r>
              <a:rPr lang="en-US" sz="2800" dirty="0" smtClean="0"/>
              <a:t> security proof for the most general attacks in Gaussian CV-QKD systems is still an open problem</a:t>
            </a:r>
          </a:p>
          <a:p>
            <a:pPr marL="457200" indent="-457200">
              <a:buFontTx/>
              <a:buChar char="-"/>
            </a:pPr>
            <a:r>
              <a:rPr lang="en-US" sz="2800" dirty="0" smtClean="0"/>
              <a:t>It is proved that the system is secure against collective attacks for continuous Gaussian modulation of coherent states; this is very important result since general coherent attacks will be possible only with very advanced quantum adversary in, what is believed, not so near future</a:t>
            </a:r>
          </a:p>
          <a:p>
            <a:pPr marL="457200" indent="-457200">
              <a:buFontTx/>
              <a:buChar char="-"/>
            </a:pPr>
            <a:r>
              <a:rPr lang="en-US" sz="2800" dirty="0" smtClean="0"/>
              <a:t>The main focus of our theoretical research is estimating final key length taking into account finite block length and inevitable discretization of Gaussian modulation</a:t>
            </a:r>
          </a:p>
          <a:p>
            <a:pPr marL="457200" indent="-457200">
              <a:buFontTx/>
              <a:buChar char="-"/>
            </a:pPr>
            <a:r>
              <a:rPr lang="en-US" sz="2800" dirty="0" smtClean="0"/>
              <a:t>Current security proof provides an expression for secret key length:</a:t>
            </a:r>
          </a:p>
          <a:p>
            <a:pPr marL="457200" indent="-457200">
              <a:buFontTx/>
              <a:buChar char="-"/>
            </a:pPr>
            <a:r>
              <a:rPr lang="en-US" sz="2800" dirty="0" smtClean="0"/>
              <a:t>EQUATION FROM COSMO</a:t>
            </a:r>
          </a:p>
          <a:p>
            <a:pPr marL="457200" indent="-457200">
              <a:buFontTx/>
              <a:buChar char="-"/>
            </a:pPr>
            <a:endParaRPr lang="en-US" sz="2000" dirty="0"/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6000" y="13929519"/>
            <a:ext cx="7925216" cy="28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2848" y="14386719"/>
            <a:ext cx="6822364" cy="2412000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19548000" y="16939488"/>
            <a:ext cx="9430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/>
              <a:t>Assuming small modulation </a:t>
            </a:r>
            <a:r>
              <a:rPr lang="en-US" sz="2400" smtClean="0"/>
              <a:t>depths, negligible </a:t>
            </a:r>
            <a:r>
              <a:rPr lang="en-US" sz="2400" smtClean="0"/>
              <a:t>phase noise and </a:t>
            </a:r>
            <a:r>
              <a:rPr lang="en-US" sz="2400" smtClean="0"/>
              <a:t>drifts etc: </a:t>
            </a:r>
            <a:endParaRPr lang="en-US" sz="2400" dirty="0" smtClean="0"/>
          </a:p>
        </p:txBody>
      </p:sp>
      <p:pic>
        <p:nvPicPr>
          <p:cNvPr id="30" name="Picture 2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6000" y="17464714"/>
            <a:ext cx="6624010" cy="288000"/>
          </a:xfrm>
          <a:prstGeom prst="rect">
            <a:avLst/>
          </a:prstGeom>
        </p:spPr>
      </p:pic>
      <p:sp>
        <p:nvSpPr>
          <p:cNvPr id="165" name="CustomShape 18 2 2"/>
          <p:cNvSpPr/>
          <p:nvPr/>
        </p:nvSpPr>
        <p:spPr>
          <a:xfrm rot="16200000">
            <a:off x="7447842" y="10213258"/>
            <a:ext cx="3000309" cy="449011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i="1" kern="0" smtClean="0">
                <a:solidFill>
                  <a:srgbClr val="000000"/>
                </a:solidFill>
                <a:latin typeface="Arial"/>
              </a:rPr>
              <a:t>Transmitted </a:t>
            </a:r>
            <a:r>
              <a:rPr lang="en-US" sz="2000" i="1" kern="0" smtClean="0">
                <a:solidFill>
                  <a:srgbClr val="000000"/>
                </a:solidFill>
                <a:latin typeface="Arial"/>
              </a:rPr>
              <a:t>LO design</a:t>
            </a:r>
            <a:endParaRPr kumimoji="0" lang="en-US" sz="2000" b="0" i="1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66" name="CustomShape 18 2 3"/>
          <p:cNvSpPr/>
          <p:nvPr/>
        </p:nvSpPr>
        <p:spPr>
          <a:xfrm>
            <a:off x="17800637" y="10268003"/>
            <a:ext cx="2275843" cy="449011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0" lon="0" rev="5400000"/>
            </a:camera>
            <a:lightRig rig="threePt" dir="t"/>
          </a:scene3d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i="1" kern="0" smtClean="0">
                <a:solidFill>
                  <a:srgbClr val="000000"/>
                </a:solidFill>
                <a:latin typeface="Arial"/>
              </a:rPr>
              <a:t>Local </a:t>
            </a:r>
            <a:r>
              <a:rPr lang="en-US" sz="2000" i="1" kern="0" smtClean="0">
                <a:solidFill>
                  <a:srgbClr val="000000"/>
                </a:solidFill>
                <a:latin typeface="Arial"/>
              </a:rPr>
              <a:t>LO design</a:t>
            </a:r>
            <a:endParaRPr kumimoji="0" lang="en-US" sz="2000" b="0" i="1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cxnSp>
        <p:nvCxnSpPr>
          <p:cNvPr id="169" name="Straight Connector 168"/>
          <p:cNvCxnSpPr/>
          <p:nvPr/>
        </p:nvCxnSpPr>
        <p:spPr>
          <a:xfrm flipV="1">
            <a:off x="17287884" y="21415615"/>
            <a:ext cx="1701608" cy="6872"/>
          </a:xfrm>
          <a:prstGeom prst="line">
            <a:avLst/>
          </a:prstGeom>
          <a:noFill/>
          <a:ln w="28575" cap="flat" cmpd="sng" algn="ctr">
            <a:solidFill>
              <a:srgbClr val="FF6600"/>
            </a:solidFill>
            <a:prstDash val="solid"/>
            <a:miter lim="800000"/>
          </a:ln>
          <a:effectLst/>
        </p:spPr>
      </p:cxnSp>
      <p:cxnSp>
        <p:nvCxnSpPr>
          <p:cNvPr id="171" name="Straight Connector 170"/>
          <p:cNvCxnSpPr/>
          <p:nvPr/>
        </p:nvCxnSpPr>
        <p:spPr>
          <a:xfrm flipV="1">
            <a:off x="18989492" y="21415615"/>
            <a:ext cx="1412674" cy="1"/>
          </a:xfrm>
          <a:prstGeom prst="line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</a:ln>
          <a:effectLst/>
        </p:spPr>
      </p:cxnSp>
      <p:cxnSp>
        <p:nvCxnSpPr>
          <p:cNvPr id="35" name="Straight Arrow Connector 34"/>
          <p:cNvCxnSpPr/>
          <p:nvPr/>
        </p:nvCxnSpPr>
        <p:spPr>
          <a:xfrm>
            <a:off x="25071801" y="20552323"/>
            <a:ext cx="1219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2" name="Rectangle 191"/>
          <p:cNvSpPr/>
          <p:nvPr/>
        </p:nvSpPr>
        <p:spPr>
          <a:xfrm>
            <a:off x="2278859" y="19707120"/>
            <a:ext cx="11622079" cy="2004864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Rectangle 193"/>
          <p:cNvSpPr/>
          <p:nvPr/>
        </p:nvSpPr>
        <p:spPr>
          <a:xfrm>
            <a:off x="19019838" y="19368889"/>
            <a:ext cx="10164080" cy="2523380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CustomShape 18 1 1"/>
          <p:cNvSpPr/>
          <p:nvPr/>
        </p:nvSpPr>
        <p:spPr>
          <a:xfrm>
            <a:off x="5329909" y="19775992"/>
            <a:ext cx="1728930" cy="68825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600" b="1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Arial"/>
              </a:rPr>
              <a:t>Alice</a:t>
            </a:r>
            <a:endParaRPr sz="3600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98" name="CustomShape 18 1 2"/>
          <p:cNvSpPr/>
          <p:nvPr/>
        </p:nvSpPr>
        <p:spPr>
          <a:xfrm>
            <a:off x="27533166" y="21078362"/>
            <a:ext cx="1728930" cy="68825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200" b="1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Arial"/>
              </a:rPr>
              <a:t>Bob</a:t>
            </a:r>
            <a:endParaRPr sz="3200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4" name="Rectangle 213"/>
          <p:cNvSpPr/>
          <p:nvPr/>
        </p:nvSpPr>
        <p:spPr>
          <a:xfrm>
            <a:off x="15601926" y="18695638"/>
            <a:ext cx="2993580" cy="16925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CustomShape 18 1 3"/>
          <p:cNvSpPr/>
          <p:nvPr/>
        </p:nvSpPr>
        <p:spPr>
          <a:xfrm>
            <a:off x="16084692" y="18667082"/>
            <a:ext cx="1967885" cy="68825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400" smtClean="0">
                <a:solidFill>
                  <a:schemeClr val="bg1"/>
                </a:solidFill>
                <a:latin typeface="Arial"/>
              </a:rPr>
              <a:t>Arbitrary waveform</a:t>
            </a:r>
          </a:p>
          <a:p>
            <a:pPr algn="ctr">
              <a:lnSpc>
                <a:spcPct val="100000"/>
              </a:lnSpc>
            </a:pPr>
            <a:r>
              <a:rPr lang="en-US" sz="2400">
                <a:solidFill>
                  <a:schemeClr val="bg1"/>
                </a:solidFill>
                <a:latin typeface="Arial"/>
              </a:rPr>
              <a:t>g</a:t>
            </a:r>
            <a:r>
              <a:rPr lang="en-US" sz="2400" smtClean="0">
                <a:solidFill>
                  <a:schemeClr val="bg1"/>
                </a:solidFill>
                <a:latin typeface="Arial"/>
              </a:rPr>
              <a:t>enerator  (AWG)</a:t>
            </a:r>
            <a:endParaRPr sz="2400" dirty="0">
              <a:solidFill>
                <a:schemeClr val="bg1"/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5743237" y="19431468"/>
            <a:ext cx="599327" cy="441651"/>
            <a:chOff x="15787937" y="19660590"/>
            <a:chExt cx="599327" cy="441651"/>
          </a:xfrm>
        </p:grpSpPr>
        <p:sp>
          <p:nvSpPr>
            <p:cNvPr id="84" name="Oval 83"/>
            <p:cNvSpPr/>
            <p:nvPr/>
          </p:nvSpPr>
          <p:spPr>
            <a:xfrm>
              <a:off x="15918363" y="19962301"/>
              <a:ext cx="84195" cy="8649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31" name="Oval 230"/>
            <p:cNvSpPr/>
            <p:nvPr/>
          </p:nvSpPr>
          <p:spPr>
            <a:xfrm>
              <a:off x="16123603" y="19962301"/>
              <a:ext cx="84195" cy="8649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15884700" y="19908857"/>
              <a:ext cx="392196" cy="19338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43" name="CustomShape 18 1 4"/>
            <p:cNvSpPr/>
            <p:nvPr/>
          </p:nvSpPr>
          <p:spPr>
            <a:xfrm>
              <a:off x="15787937" y="19660590"/>
              <a:ext cx="599327" cy="222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algn="ctr">
                <a:lnSpc>
                  <a:spcPct val="100000"/>
                </a:lnSpc>
              </a:pPr>
              <a:r>
                <a:rPr lang="en-US" sz="1200" dirty="0" smtClean="0">
                  <a:solidFill>
                    <a:srgbClr val="000000"/>
                  </a:solidFill>
                  <a:latin typeface="Arial"/>
                </a:rPr>
                <a:t>Ch1</a:t>
              </a:r>
              <a:endParaRPr sz="1200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5732000" y="19955883"/>
            <a:ext cx="599327" cy="410318"/>
            <a:chOff x="17587158" y="19919778"/>
            <a:chExt cx="599327" cy="410318"/>
          </a:xfrm>
        </p:grpSpPr>
        <p:sp>
          <p:nvSpPr>
            <p:cNvPr id="232" name="Oval 231"/>
            <p:cNvSpPr/>
            <p:nvPr/>
          </p:nvSpPr>
          <p:spPr>
            <a:xfrm>
              <a:off x="17739371" y="19967245"/>
              <a:ext cx="84195" cy="8649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37" name="Oval 236"/>
            <p:cNvSpPr/>
            <p:nvPr/>
          </p:nvSpPr>
          <p:spPr>
            <a:xfrm>
              <a:off x="17943824" y="19967672"/>
              <a:ext cx="84195" cy="8649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42" name="Rectangle 241"/>
            <p:cNvSpPr/>
            <p:nvPr/>
          </p:nvSpPr>
          <p:spPr>
            <a:xfrm>
              <a:off x="17694776" y="19919778"/>
              <a:ext cx="392196" cy="19338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44" name="CustomShape 18 1 5"/>
            <p:cNvSpPr/>
            <p:nvPr/>
          </p:nvSpPr>
          <p:spPr>
            <a:xfrm>
              <a:off x="17587158" y="20107518"/>
              <a:ext cx="599327" cy="222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algn="ctr">
                <a:lnSpc>
                  <a:spcPct val="100000"/>
                </a:lnSpc>
              </a:pPr>
              <a:r>
                <a:rPr lang="en-US" sz="1200" dirty="0" smtClean="0">
                  <a:solidFill>
                    <a:srgbClr val="000000"/>
                  </a:solidFill>
                  <a:latin typeface="Arial"/>
                </a:rPr>
                <a:t>Ch2</a:t>
              </a:r>
              <a:endParaRPr sz="1200" dirty="0"/>
            </a:p>
          </p:txBody>
        </p:sp>
      </p:grpSp>
      <p:sp>
        <p:nvSpPr>
          <p:cNvPr id="182" name="CustomShape 2 2 2"/>
          <p:cNvSpPr/>
          <p:nvPr/>
        </p:nvSpPr>
        <p:spPr>
          <a:xfrm>
            <a:off x="9828552" y="20428269"/>
            <a:ext cx="1761805" cy="886656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smtClean="0">
                <a:solidFill>
                  <a:schemeClr val="bg1"/>
                </a:solidFill>
                <a:latin typeface="Arial"/>
              </a:rPr>
              <a:t>Phase </a:t>
            </a:r>
          </a:p>
          <a:p>
            <a:pPr algn="ctr">
              <a:lnSpc>
                <a:spcPct val="100000"/>
              </a:lnSpc>
            </a:pPr>
            <a:r>
              <a:rPr lang="en-US" sz="2000" smtClean="0">
                <a:solidFill>
                  <a:schemeClr val="bg1"/>
                </a:solidFill>
                <a:latin typeface="Arial"/>
              </a:rPr>
              <a:t>modulator</a:t>
            </a:r>
          </a:p>
          <a:p>
            <a:pPr algn="ctr">
              <a:lnSpc>
                <a:spcPct val="100000"/>
              </a:lnSpc>
            </a:pPr>
            <a:r>
              <a:rPr lang="en-US" sz="2000" smtClean="0">
                <a:solidFill>
                  <a:schemeClr val="bg1"/>
                </a:solidFill>
                <a:latin typeface="Arial"/>
              </a:rPr>
              <a:t>(PM)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183" name="CustomShape 2 2 3"/>
          <p:cNvSpPr/>
          <p:nvPr/>
        </p:nvSpPr>
        <p:spPr>
          <a:xfrm>
            <a:off x="11864329" y="20406519"/>
            <a:ext cx="1761805" cy="886656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smtClean="0">
                <a:solidFill>
                  <a:schemeClr val="bg1"/>
                </a:solidFill>
                <a:latin typeface="Arial"/>
              </a:rPr>
              <a:t>Variable </a:t>
            </a:r>
          </a:p>
          <a:p>
            <a:pPr algn="ctr">
              <a:lnSpc>
                <a:spcPct val="100000"/>
              </a:lnSpc>
            </a:pPr>
            <a:r>
              <a:rPr lang="en-US" sz="2000" smtClean="0">
                <a:solidFill>
                  <a:schemeClr val="bg1"/>
                </a:solidFill>
                <a:latin typeface="Arial"/>
              </a:rPr>
              <a:t>attenuator</a:t>
            </a:r>
          </a:p>
          <a:p>
            <a:pPr algn="ctr">
              <a:lnSpc>
                <a:spcPct val="100000"/>
              </a:lnSpc>
            </a:pPr>
            <a:r>
              <a:rPr lang="en-US" sz="2000" smtClean="0">
                <a:solidFill>
                  <a:schemeClr val="bg1"/>
                </a:solidFill>
                <a:latin typeface="Arial"/>
              </a:rPr>
              <a:t>(VATT)</a:t>
            </a:r>
            <a:endParaRPr sz="2000" dirty="0">
              <a:solidFill>
                <a:schemeClr val="bg1"/>
              </a:solidFill>
            </a:endParaRPr>
          </a:p>
        </p:txBody>
      </p:sp>
      <p:grpSp>
        <p:nvGrpSpPr>
          <p:cNvPr id="148" name="Group 147"/>
          <p:cNvGrpSpPr>
            <a:grpSpLocks noChangeAspect="1"/>
          </p:cNvGrpSpPr>
          <p:nvPr/>
        </p:nvGrpSpPr>
        <p:grpSpPr>
          <a:xfrm>
            <a:off x="16147864" y="20607292"/>
            <a:ext cx="1296000" cy="1228825"/>
            <a:chOff x="5212431" y="4474143"/>
            <a:chExt cx="552946" cy="605570"/>
          </a:xfrm>
        </p:grpSpPr>
        <p:sp>
          <p:nvSpPr>
            <p:cNvPr id="149" name="Can 148"/>
            <p:cNvSpPr/>
            <p:nvPr/>
          </p:nvSpPr>
          <p:spPr>
            <a:xfrm>
              <a:off x="5212538" y="4968835"/>
              <a:ext cx="552839" cy="110878"/>
            </a:xfrm>
            <a:prstGeom prst="can">
              <a:avLst>
                <a:gd name="adj" fmla="val 50000"/>
              </a:avLst>
            </a:prstGeom>
            <a:solidFill>
              <a:schemeClr val="tx2"/>
            </a:solidFill>
            <a:ln w="9525">
              <a:solidFill>
                <a:schemeClr val="tx2"/>
              </a:solidFill>
            </a:ln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50" name="Group 149"/>
            <p:cNvGrpSpPr/>
            <p:nvPr/>
          </p:nvGrpSpPr>
          <p:grpSpPr>
            <a:xfrm>
              <a:off x="5277572" y="4732951"/>
              <a:ext cx="422665" cy="275027"/>
              <a:chOff x="1530028" y="4595042"/>
              <a:chExt cx="533535" cy="510684"/>
            </a:xfrm>
          </p:grpSpPr>
          <p:sp>
            <p:nvSpPr>
              <p:cNvPr id="157" name="Can 156"/>
              <p:cNvSpPr/>
              <p:nvPr/>
            </p:nvSpPr>
            <p:spPr>
              <a:xfrm>
                <a:off x="1530163" y="4899842"/>
                <a:ext cx="533400" cy="205884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8" name="Can 157"/>
              <p:cNvSpPr/>
              <p:nvPr/>
            </p:nvSpPr>
            <p:spPr>
              <a:xfrm>
                <a:off x="1530163" y="4823642"/>
                <a:ext cx="533400" cy="205884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9" name="Can 158"/>
              <p:cNvSpPr/>
              <p:nvPr/>
            </p:nvSpPr>
            <p:spPr>
              <a:xfrm>
                <a:off x="1530163" y="4747442"/>
                <a:ext cx="533400" cy="205884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0" name="Can 159"/>
              <p:cNvSpPr/>
              <p:nvPr/>
            </p:nvSpPr>
            <p:spPr>
              <a:xfrm>
                <a:off x="1530163" y="4671242"/>
                <a:ext cx="533400" cy="205884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1" name="Can 160"/>
              <p:cNvSpPr/>
              <p:nvPr/>
            </p:nvSpPr>
            <p:spPr>
              <a:xfrm>
                <a:off x="1530028" y="4595042"/>
                <a:ext cx="533400" cy="205884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51" name="Can 150"/>
            <p:cNvSpPr/>
            <p:nvPr/>
          </p:nvSpPr>
          <p:spPr>
            <a:xfrm>
              <a:off x="5277679" y="4691914"/>
              <a:ext cx="422558" cy="110878"/>
            </a:xfrm>
            <a:prstGeom prst="can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rgbClr val="FF6600"/>
              </a:solidFill>
            </a:ln>
            <a:scene3d>
              <a:camera prst="perspectiveRelaxed" fov="1500000">
                <a:rot lat="2159400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2" name="Can 151"/>
            <p:cNvSpPr/>
            <p:nvPr/>
          </p:nvSpPr>
          <p:spPr>
            <a:xfrm>
              <a:off x="5277679" y="4650877"/>
              <a:ext cx="422558" cy="110878"/>
            </a:xfrm>
            <a:prstGeom prst="can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rgbClr val="FF6600"/>
              </a:solidFill>
            </a:ln>
            <a:scene3d>
              <a:camera prst="perspectiveRelaxed" fov="1500000">
                <a:rot lat="2159400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3" name="Can 152"/>
            <p:cNvSpPr/>
            <p:nvPr/>
          </p:nvSpPr>
          <p:spPr>
            <a:xfrm>
              <a:off x="5277679" y="4609840"/>
              <a:ext cx="422558" cy="110878"/>
            </a:xfrm>
            <a:prstGeom prst="can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rgbClr val="FF6600"/>
              </a:solidFill>
            </a:ln>
            <a:scene3d>
              <a:camera prst="perspectiveRelaxed" fov="1500000">
                <a:rot lat="2159400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4" name="Can 153"/>
            <p:cNvSpPr/>
            <p:nvPr/>
          </p:nvSpPr>
          <p:spPr>
            <a:xfrm>
              <a:off x="5277679" y="4568802"/>
              <a:ext cx="422558" cy="110878"/>
            </a:xfrm>
            <a:prstGeom prst="can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rgbClr val="FF6600"/>
              </a:solidFill>
            </a:ln>
            <a:scene3d>
              <a:camera prst="perspectiveRelaxed" fov="1500000">
                <a:rot lat="2159400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5" name="Can 154"/>
            <p:cNvSpPr/>
            <p:nvPr/>
          </p:nvSpPr>
          <p:spPr>
            <a:xfrm>
              <a:off x="5277572" y="4527765"/>
              <a:ext cx="422558" cy="110878"/>
            </a:xfrm>
            <a:prstGeom prst="can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rgbClr val="FF6600"/>
              </a:solidFill>
            </a:ln>
            <a:scene3d>
              <a:camera prst="perspectiveRelaxed" fov="1500000">
                <a:rot lat="2159400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6" name="Can 155"/>
            <p:cNvSpPr/>
            <p:nvPr/>
          </p:nvSpPr>
          <p:spPr>
            <a:xfrm>
              <a:off x="5212431" y="4474143"/>
              <a:ext cx="552839" cy="110878"/>
            </a:xfrm>
            <a:prstGeom prst="can">
              <a:avLst>
                <a:gd name="adj" fmla="val 50000"/>
              </a:avLst>
            </a:prstGeom>
            <a:solidFill>
              <a:schemeClr val="tx2"/>
            </a:solidFill>
            <a:ln w="9525">
              <a:solidFill>
                <a:schemeClr val="tx2"/>
              </a:solidFill>
            </a:ln>
            <a:scene3d>
              <a:camera prst="perspectiveRelaxed" fov="1500000">
                <a:rot lat="2159400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4" name="Rectangle 53"/>
          <p:cNvSpPr/>
          <p:nvPr/>
        </p:nvSpPr>
        <p:spPr>
          <a:xfrm>
            <a:off x="692929" y="24408999"/>
            <a:ext cx="170056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0" name="Group 219"/>
          <p:cNvGrpSpPr/>
          <p:nvPr/>
        </p:nvGrpSpPr>
        <p:grpSpPr>
          <a:xfrm>
            <a:off x="12473815" y="22047818"/>
            <a:ext cx="4161278" cy="836289"/>
            <a:chOff x="-3086370" y="-1256113"/>
            <a:chExt cx="4161278" cy="836289"/>
          </a:xfrm>
        </p:grpSpPr>
        <p:cxnSp>
          <p:nvCxnSpPr>
            <p:cNvPr id="221" name="Straight Connector 220"/>
            <p:cNvCxnSpPr/>
            <p:nvPr/>
          </p:nvCxnSpPr>
          <p:spPr>
            <a:xfrm flipV="1">
              <a:off x="-3086370" y="-1024104"/>
              <a:ext cx="609057" cy="2577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-3086370" y="-674517"/>
              <a:ext cx="609057" cy="2577"/>
            </a:xfrm>
            <a:prstGeom prst="line">
              <a:avLst/>
            </a:prstGeom>
            <a:ln w="285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CustomShape 2 4"/>
            <p:cNvSpPr/>
            <p:nvPr/>
          </p:nvSpPr>
          <p:spPr>
            <a:xfrm>
              <a:off x="-2331368" y="-1256113"/>
              <a:ext cx="3406276" cy="8362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>
                <a:lnSpc>
                  <a:spcPct val="100000"/>
                </a:lnSpc>
              </a:pPr>
              <a:r>
                <a:rPr lang="en-US" sz="2000" smtClean="0">
                  <a:solidFill>
                    <a:srgbClr val="000000"/>
                  </a:solidFill>
                  <a:latin typeface="Arial"/>
                </a:rPr>
                <a:t>polarization maintaining </a:t>
              </a:r>
              <a:r>
                <a:rPr lang="en-US" sz="2000">
                  <a:solidFill>
                    <a:srgbClr val="000000"/>
                  </a:solidFill>
                  <a:latin typeface="Arial"/>
                </a:rPr>
                <a:t>f</a:t>
              </a:r>
              <a:r>
                <a:rPr lang="en-US" sz="2000" smtClean="0">
                  <a:solidFill>
                    <a:srgbClr val="000000"/>
                  </a:solidFill>
                  <a:latin typeface="Arial"/>
                </a:rPr>
                <a:t>iber</a:t>
              </a:r>
              <a:endParaRPr lang="en-US" sz="2000" dirty="0" smtClean="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en-US" sz="400" dirty="0" smtClean="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</a:rPr>
                <a:t>s</a:t>
              </a:r>
              <a:r>
                <a:rPr lang="en-US" sz="2000" smtClean="0">
                  <a:solidFill>
                    <a:srgbClr val="000000"/>
                  </a:solidFill>
                  <a:latin typeface="Arial"/>
                </a:rPr>
                <a:t>ingle mode fiber</a:t>
              </a:r>
              <a:endParaRPr dirty="0"/>
            </a:p>
          </p:txBody>
        </p:sp>
      </p:grpSp>
      <p:pic>
        <p:nvPicPr>
          <p:cNvPr id="285" name="Picture 284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953" y="21920715"/>
            <a:ext cx="4815084" cy="3134371"/>
          </a:xfrm>
          <a:prstGeom prst="rect">
            <a:avLst/>
          </a:prstGeom>
        </p:spPr>
      </p:pic>
      <p:pic>
        <p:nvPicPr>
          <p:cNvPr id="290" name="Picture 289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4587" y="21912879"/>
            <a:ext cx="5020101" cy="3058605"/>
          </a:xfrm>
          <a:prstGeom prst="rect">
            <a:avLst/>
          </a:prstGeom>
        </p:spPr>
      </p:pic>
      <p:sp>
        <p:nvSpPr>
          <p:cNvPr id="300" name="CustomShape 18 4 1"/>
          <p:cNvSpPr/>
          <p:nvPr/>
        </p:nvSpPr>
        <p:spPr>
          <a:xfrm>
            <a:off x="6639531" y="27671054"/>
            <a:ext cx="5768041" cy="1131011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lvl="0" defTabSz="914400"/>
            <a:r>
              <a:rPr lang="en-US" sz="1200" kern="0" dirty="0">
                <a:solidFill>
                  <a:srgbClr val="000000"/>
                </a:solidFill>
                <a:latin typeface="Arial"/>
              </a:rPr>
              <a:t>Broadband coding </a:t>
            </a:r>
            <a:r>
              <a:rPr lang="en-US" sz="1200" kern="0" dirty="0" smtClean="0">
                <a:solidFill>
                  <a:srgbClr val="000000"/>
                </a:solidFill>
                <a:latin typeface="Arial"/>
              </a:rPr>
              <a:t>requires </a:t>
            </a:r>
            <a:r>
              <a:rPr lang="en-US" sz="1200" kern="0" dirty="0">
                <a:solidFill>
                  <a:srgbClr val="000000"/>
                </a:solidFill>
                <a:latin typeface="Arial"/>
              </a:rPr>
              <a:t>a thorough </a:t>
            </a:r>
            <a:r>
              <a:rPr lang="en-US" sz="1200" kern="0" dirty="0" smtClean="0">
                <a:solidFill>
                  <a:srgbClr val="000000"/>
                </a:solidFill>
                <a:latin typeface="Arial"/>
              </a:rPr>
              <a:t>pre-characterization </a:t>
            </a:r>
            <a:r>
              <a:rPr lang="en-US" sz="1200" kern="0">
                <a:solidFill>
                  <a:srgbClr val="000000"/>
                </a:solidFill>
                <a:latin typeface="Arial"/>
              </a:rPr>
              <a:t>of </a:t>
            </a:r>
            <a:r>
              <a:rPr lang="en-US" sz="1200" kern="0" smtClean="0">
                <a:solidFill>
                  <a:srgbClr val="000000"/>
                </a:solidFill>
                <a:latin typeface="Arial"/>
              </a:rPr>
              <a:t>the </a:t>
            </a:r>
            <a:r>
              <a:rPr lang="en-US" sz="1200" kern="0" dirty="0">
                <a:solidFill>
                  <a:srgbClr val="000000"/>
                </a:solidFill>
                <a:latin typeface="Arial"/>
              </a:rPr>
              <a:t>modulators and </a:t>
            </a:r>
            <a:r>
              <a:rPr lang="en-US" sz="1200" kern="0" smtClean="0">
                <a:solidFill>
                  <a:srgbClr val="000000"/>
                </a:solidFill>
                <a:latin typeface="Arial"/>
              </a:rPr>
              <a:t>detector </a:t>
            </a:r>
          </a:p>
          <a:p>
            <a:pPr lvl="0" defTabSz="914400"/>
            <a:r>
              <a:rPr lang="en-US" sz="1200" kern="0" smtClean="0">
                <a:solidFill>
                  <a:srgbClr val="000000"/>
                </a:solidFill>
                <a:latin typeface="Arial"/>
              </a:rPr>
              <a:t>response </a:t>
            </a:r>
            <a:r>
              <a:rPr lang="en-US" sz="1200" kern="0" dirty="0">
                <a:solidFill>
                  <a:srgbClr val="000000"/>
                </a:solidFill>
                <a:latin typeface="Arial"/>
              </a:rPr>
              <a:t>(transfer function) in </a:t>
            </a:r>
            <a:r>
              <a:rPr lang="en-US" sz="1200" kern="0">
                <a:solidFill>
                  <a:srgbClr val="000000"/>
                </a:solidFill>
                <a:latin typeface="Arial"/>
              </a:rPr>
              <a:t>the </a:t>
            </a:r>
            <a:r>
              <a:rPr lang="en-US" sz="1200" kern="0" smtClean="0">
                <a:solidFill>
                  <a:srgbClr val="000000"/>
                </a:solidFill>
                <a:latin typeface="Arial"/>
              </a:rPr>
              <a:t>frequency </a:t>
            </a:r>
            <a:r>
              <a:rPr lang="en-US" sz="1200" kern="0" dirty="0">
                <a:solidFill>
                  <a:srgbClr val="000000"/>
                </a:solidFill>
                <a:latin typeface="Arial"/>
              </a:rPr>
              <a:t>band of </a:t>
            </a:r>
            <a:r>
              <a:rPr lang="en-US" sz="1200" kern="0" dirty="0" smtClean="0">
                <a:solidFill>
                  <a:srgbClr val="000000"/>
                </a:solidFill>
                <a:latin typeface="Arial"/>
              </a:rPr>
              <a:t>interest.</a:t>
            </a:r>
          </a:p>
          <a:p>
            <a:pPr lvl="0" defTabSz="914400"/>
            <a:endParaRPr lang="en-US" sz="1200" kern="0" dirty="0" smtClean="0">
              <a:solidFill>
                <a:srgbClr val="000000"/>
              </a:solidFill>
              <a:latin typeface="Arial"/>
            </a:endParaRPr>
          </a:p>
          <a:p>
            <a:pPr lvl="0" defTabSz="914400"/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Figure 1</a:t>
            </a:r>
            <a:r>
              <a:rPr lang="en-US" sz="1200" kern="0" dirty="0" smtClean="0">
                <a:solidFill>
                  <a:srgbClr val="000000"/>
                </a:solidFill>
                <a:latin typeface="Arial"/>
              </a:rPr>
              <a:t>. shows the network analyzer measurement results </a:t>
            </a:r>
            <a:r>
              <a:rPr lang="en-US" sz="1200" kern="0" smtClean="0">
                <a:solidFill>
                  <a:srgbClr val="000000"/>
                </a:solidFill>
                <a:latin typeface="Arial"/>
              </a:rPr>
              <a:t>of S21 </a:t>
            </a:r>
            <a:r>
              <a:rPr lang="en-US" sz="1200" kern="0" dirty="0" smtClean="0">
                <a:solidFill>
                  <a:srgbClr val="000000"/>
                </a:solidFill>
                <a:latin typeface="Arial"/>
              </a:rPr>
              <a:t>parameter for the </a:t>
            </a:r>
            <a:r>
              <a:rPr lang="en-US" sz="1200" kern="0" smtClean="0">
                <a:solidFill>
                  <a:srgbClr val="000000"/>
                </a:solidFill>
                <a:latin typeface="Arial"/>
              </a:rPr>
              <a:t>phase </a:t>
            </a:r>
          </a:p>
          <a:p>
            <a:pPr lvl="0" defTabSz="914400"/>
            <a:r>
              <a:rPr lang="en-US" sz="1200" kern="0" smtClean="0">
                <a:solidFill>
                  <a:srgbClr val="000000"/>
                </a:solidFill>
                <a:latin typeface="Arial"/>
              </a:rPr>
              <a:t>modulator. </a:t>
            </a: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Figure 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2. shows the</a:t>
            </a:r>
            <a:r>
              <a:rPr kumimoji="0" lang="en-US" sz="12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effects of stabilization of </a:t>
            </a: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transmitted optical</a:t>
            </a:r>
            <a:r>
              <a:rPr kumimoji="0" lang="en-US" sz="1200" b="0" i="0" u="none" strike="noStrike" kern="0" cap="none" spc="0" normalizeH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</a:t>
            </a: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power through </a:t>
            </a:r>
          </a:p>
          <a:p>
            <a:pPr lvl="0" defTabSz="914400"/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the 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amplitude</a:t>
            </a:r>
            <a:r>
              <a:rPr kumimoji="0" lang="en-US" sz="12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</a:t>
            </a:r>
            <a:r>
              <a:rPr lang="en-US" sz="1200" kern="0" dirty="0" smtClean="0">
                <a:solidFill>
                  <a:srgbClr val="000000"/>
                </a:solidFill>
                <a:latin typeface="Arial"/>
              </a:rPr>
              <a:t>modulator as a function of time.</a:t>
            </a:r>
            <a:endParaRPr kumimoji="0" sz="12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296" name="Picture 295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116" y="25286494"/>
            <a:ext cx="4819729" cy="2500989"/>
          </a:xfrm>
          <a:prstGeom prst="rect">
            <a:avLst/>
          </a:prstGeom>
        </p:spPr>
      </p:pic>
      <p:pic>
        <p:nvPicPr>
          <p:cNvPr id="302" name="Picture 301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725" y="25050518"/>
            <a:ext cx="4697481" cy="2520000"/>
          </a:xfrm>
          <a:prstGeom prst="rect">
            <a:avLst/>
          </a:prstGeom>
        </p:spPr>
      </p:pic>
      <p:pic>
        <p:nvPicPr>
          <p:cNvPr id="303" name="Picture 302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2988" y="23433721"/>
            <a:ext cx="5258162" cy="4074780"/>
          </a:xfrm>
          <a:prstGeom prst="rect">
            <a:avLst/>
          </a:prstGeom>
        </p:spPr>
      </p:pic>
      <p:sp>
        <p:nvSpPr>
          <p:cNvPr id="199" name="CustomShape 18 4 2"/>
          <p:cNvSpPr/>
          <p:nvPr/>
        </p:nvSpPr>
        <p:spPr>
          <a:xfrm>
            <a:off x="1543213" y="27876620"/>
            <a:ext cx="4509589" cy="708063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lvl="0" defTabSz="914400"/>
            <a:r>
              <a:rPr lang="en-US" sz="1200" kern="0" dirty="0" smtClean="0">
                <a:solidFill>
                  <a:srgbClr val="000000"/>
                </a:solidFill>
                <a:latin typeface="Arial"/>
              </a:rPr>
              <a:t>Figure 1. shows the measured Allan variance for X15 and E15 lasers</a:t>
            </a:r>
          </a:p>
          <a:p>
            <a:pPr lvl="0" defTabSz="914400"/>
            <a:r>
              <a:rPr lang="en-US" sz="1200" kern="0" dirty="0" smtClean="0">
                <a:solidFill>
                  <a:srgbClr val="000000"/>
                </a:solidFill>
                <a:latin typeface="Arial"/>
              </a:rPr>
              <a:t>by NKT Photonics.</a:t>
            </a:r>
          </a:p>
          <a:p>
            <a:pPr lvl="0" defTabSz="914400"/>
            <a:r>
              <a:rPr lang="en-US" sz="1200" kern="0" dirty="0" smtClean="0">
                <a:solidFill>
                  <a:srgbClr val="000000"/>
                </a:solidFill>
                <a:latin typeface="Arial"/>
              </a:rPr>
              <a:t>Figure 2. shows relative intensity noise for the E15 laser. </a:t>
            </a:r>
          </a:p>
          <a:p>
            <a:pPr lvl="0" defTabSz="914400"/>
            <a:r>
              <a:rPr lang="en-US" sz="1200" kern="0" dirty="0" smtClean="0">
                <a:solidFill>
                  <a:srgbClr val="000000"/>
                </a:solidFill>
                <a:latin typeface="Arial"/>
              </a:rPr>
              <a:t> </a:t>
            </a:r>
            <a:endParaRPr kumimoji="0" sz="12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8609162" y="19880911"/>
            <a:ext cx="7283406" cy="684000"/>
            <a:chOff x="8575650" y="21286719"/>
            <a:chExt cx="7283406" cy="720000"/>
          </a:xfrm>
          <a:scene3d>
            <a:camera prst="orthographicFront">
              <a:rot lat="10800000" lon="0" rev="0"/>
            </a:camera>
            <a:lightRig rig="threePt" dir="t"/>
          </a:scene3d>
        </p:grpSpPr>
        <p:cxnSp>
          <p:nvCxnSpPr>
            <p:cNvPr id="216" name="Straight Arrow Connector 215"/>
            <p:cNvCxnSpPr/>
            <p:nvPr/>
          </p:nvCxnSpPr>
          <p:spPr>
            <a:xfrm flipV="1">
              <a:off x="8575650" y="21286719"/>
              <a:ext cx="31" cy="72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8575650" y="21978846"/>
              <a:ext cx="7283406" cy="762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0" name="Group 189"/>
          <p:cNvGrpSpPr/>
          <p:nvPr/>
        </p:nvGrpSpPr>
        <p:grpSpPr>
          <a:xfrm>
            <a:off x="10670517" y="20160000"/>
            <a:ext cx="5246713" cy="396000"/>
            <a:chOff x="8575650" y="21286719"/>
            <a:chExt cx="7283406" cy="720000"/>
          </a:xfrm>
          <a:scene3d>
            <a:camera prst="orthographicFront">
              <a:rot lat="10800000" lon="0" rev="0"/>
            </a:camera>
            <a:lightRig rig="threePt" dir="t"/>
          </a:scene3d>
        </p:grpSpPr>
        <p:cxnSp>
          <p:nvCxnSpPr>
            <p:cNvPr id="195" name="Straight Arrow Connector 194"/>
            <p:cNvCxnSpPr/>
            <p:nvPr/>
          </p:nvCxnSpPr>
          <p:spPr>
            <a:xfrm flipV="1">
              <a:off x="8575650" y="21286719"/>
              <a:ext cx="31" cy="72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/>
            <p:nvPr/>
          </p:nvCxnSpPr>
          <p:spPr>
            <a:xfrm>
              <a:off x="8575650" y="21978846"/>
              <a:ext cx="7283406" cy="762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09" name="Picture 208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5857" y="25370454"/>
            <a:ext cx="6611087" cy="3132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6912374" y="19580856"/>
            <a:ext cx="1399394" cy="665994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4737" y="18770396"/>
            <a:ext cx="2988252" cy="1620920"/>
          </a:xfrm>
          <a:prstGeom prst="rect">
            <a:avLst/>
          </a:prstGeom>
        </p:spPr>
      </p:pic>
      <p:sp>
        <p:nvSpPr>
          <p:cNvPr id="210" name="CustomShape 2 2 4"/>
          <p:cNvSpPr/>
          <p:nvPr/>
        </p:nvSpPr>
        <p:spPr>
          <a:xfrm>
            <a:off x="14624715" y="21042561"/>
            <a:ext cx="1761805" cy="886656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smtClean="0">
                <a:latin typeface="Arial"/>
              </a:rPr>
              <a:t>Quantum</a:t>
            </a:r>
          </a:p>
          <a:p>
            <a:pPr algn="ctr">
              <a:lnSpc>
                <a:spcPct val="100000"/>
              </a:lnSpc>
            </a:pPr>
            <a:r>
              <a:rPr lang="en-US" sz="2000" smtClean="0">
                <a:latin typeface="Arial"/>
              </a:rPr>
              <a:t>channel</a:t>
            </a:r>
            <a:endParaRPr sz="2000" dirty="0"/>
          </a:p>
        </p:txBody>
      </p:sp>
      <p:sp>
        <p:nvSpPr>
          <p:cNvPr id="211" name="CustomShape 18 4 3"/>
          <p:cNvSpPr/>
          <p:nvPr/>
        </p:nvSpPr>
        <p:spPr>
          <a:xfrm>
            <a:off x="13569640" y="27645134"/>
            <a:ext cx="5768041" cy="1131011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defTabSz="914400"/>
            <a:r>
              <a:rPr lang="en-US" sz="1200" kern="0" smtClean="0">
                <a:solidFill>
                  <a:srgbClr val="000000"/>
                </a:solidFill>
                <a:latin typeface="Arial"/>
              </a:rPr>
              <a:t>Cpation for polarization drift measurements</a:t>
            </a:r>
            <a:endParaRPr kumimoji="0" sz="12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25998132" y="22273939"/>
            <a:ext cx="3185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mtClean="0">
                <a:latin typeface="Arial" panose="020B0604020202020204" pitchFamily="34" charset="0"/>
                <a:cs typeface="Arial" panose="020B0604020202020204" pitchFamily="34" charset="0"/>
              </a:rPr>
              <a:t>Caption for beat signal strength </a:t>
            </a:r>
          </a:p>
          <a:p>
            <a:r>
              <a:rPr lang="en-US" sz="1200" smtClean="0">
                <a:latin typeface="Arial" panose="020B0604020202020204" pitchFamily="34" charset="0"/>
                <a:cs typeface="Arial" panose="020B0604020202020204" pitchFamily="34" charset="0"/>
              </a:rPr>
              <a:t>measurements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" name="TextBox 214"/>
          <p:cNvSpPr txBox="1"/>
          <p:nvPr/>
        </p:nvSpPr>
        <p:spPr>
          <a:xfrm>
            <a:off x="19924004" y="25423678"/>
            <a:ext cx="3185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mtClean="0">
                <a:latin typeface="Arial" panose="020B0604020202020204" pitchFamily="34" charset="0"/>
                <a:cs typeface="Arial" panose="020B0604020202020204" pitchFamily="34" charset="0"/>
              </a:rPr>
              <a:t>Caption for shot noise </a:t>
            </a:r>
          </a:p>
          <a:p>
            <a:r>
              <a:rPr lang="en-US" sz="1200" smtClean="0">
                <a:latin typeface="Arial" panose="020B0604020202020204" pitchFamily="34" charset="0"/>
                <a:cs typeface="Arial" panose="020B0604020202020204" pitchFamily="34" charset="0"/>
              </a:rPr>
              <a:t>measurements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5" name="Group 364"/>
          <p:cNvGrpSpPr>
            <a:grpSpLocks noChangeAspect="1"/>
          </p:cNvGrpSpPr>
          <p:nvPr/>
        </p:nvGrpSpPr>
        <p:grpSpPr>
          <a:xfrm>
            <a:off x="19172237" y="9392778"/>
            <a:ext cx="10235575" cy="2340000"/>
            <a:chOff x="1427859" y="2757949"/>
            <a:chExt cx="7141476" cy="1632644"/>
          </a:xfrm>
        </p:grpSpPr>
        <p:cxnSp>
          <p:nvCxnSpPr>
            <p:cNvPr id="377" name="Straight Connector 376"/>
            <p:cNvCxnSpPr/>
            <p:nvPr/>
          </p:nvCxnSpPr>
          <p:spPr>
            <a:xfrm>
              <a:off x="2183203" y="3757811"/>
              <a:ext cx="2193559" cy="6674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</a:ln>
            <a:effectLst/>
          </p:spPr>
        </p:cxnSp>
        <p:sp>
          <p:nvSpPr>
            <p:cNvPr id="388" name="CustomShape 17 5"/>
            <p:cNvSpPr/>
            <p:nvPr/>
          </p:nvSpPr>
          <p:spPr>
            <a:xfrm>
              <a:off x="1563364" y="3510989"/>
              <a:ext cx="795000" cy="438053"/>
            </a:xfrm>
            <a:prstGeom prst="parallelogram">
              <a:avLst>
                <a:gd name="adj" fmla="val 25000"/>
              </a:avLst>
            </a:prstGeom>
            <a:solidFill>
              <a:srgbClr val="808080"/>
            </a:solidFill>
            <a:ln w="25560">
              <a:noFill/>
            </a:ln>
          </p:spPr>
        </p:sp>
        <p:cxnSp>
          <p:nvCxnSpPr>
            <p:cNvPr id="389" name="Straight Connector 388"/>
            <p:cNvCxnSpPr/>
            <p:nvPr/>
          </p:nvCxnSpPr>
          <p:spPr>
            <a:xfrm>
              <a:off x="4345804" y="3764485"/>
              <a:ext cx="703817" cy="0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</a:ln>
            <a:effectLst/>
          </p:spPr>
        </p:cxnSp>
        <p:cxnSp>
          <p:nvCxnSpPr>
            <p:cNvPr id="395" name="Straight Connector 394"/>
            <p:cNvCxnSpPr>
              <a:endCxn id="442" idx="4"/>
            </p:cNvCxnSpPr>
            <p:nvPr/>
          </p:nvCxnSpPr>
          <p:spPr>
            <a:xfrm>
              <a:off x="5054551" y="3766538"/>
              <a:ext cx="597166" cy="6084"/>
            </a:xfrm>
            <a:prstGeom prst="line">
              <a:avLst/>
            </a:prstGeom>
            <a:noFill/>
            <a:ln w="28575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cxnSp>
          <p:nvCxnSpPr>
            <p:cNvPr id="399" name="Straight Connector 398"/>
            <p:cNvCxnSpPr/>
            <p:nvPr/>
          </p:nvCxnSpPr>
          <p:spPr>
            <a:xfrm flipV="1">
              <a:off x="6565767" y="3215065"/>
              <a:ext cx="1147857" cy="6139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</a:ln>
            <a:effectLst/>
          </p:spPr>
        </p:cxnSp>
        <p:sp>
          <p:nvSpPr>
            <p:cNvPr id="409" name="CustomShape 18 3"/>
            <p:cNvSpPr/>
            <p:nvPr/>
          </p:nvSpPr>
          <p:spPr>
            <a:xfrm>
              <a:off x="1427859" y="3561452"/>
              <a:ext cx="1063463" cy="3653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smtClean="0">
                  <a:solidFill>
                    <a:schemeClr val="bg1"/>
                  </a:solidFill>
                  <a:latin typeface="Arial"/>
                </a:rPr>
                <a:t>laser</a:t>
              </a:r>
              <a:endParaRPr kumimoji="0" sz="1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cxnSp>
          <p:nvCxnSpPr>
            <p:cNvPr id="410" name="Straight Connector 409"/>
            <p:cNvCxnSpPr/>
            <p:nvPr/>
          </p:nvCxnSpPr>
          <p:spPr>
            <a:xfrm flipV="1">
              <a:off x="5996934" y="4001277"/>
              <a:ext cx="1764000" cy="1518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</a:ln>
            <a:effectLst/>
          </p:spPr>
        </p:cxnSp>
        <p:sp>
          <p:nvSpPr>
            <p:cNvPr id="412" name="Rectangle 411"/>
            <p:cNvSpPr/>
            <p:nvPr/>
          </p:nvSpPr>
          <p:spPr>
            <a:xfrm>
              <a:off x="1507071" y="2786299"/>
              <a:ext cx="3547480" cy="1589054"/>
            </a:xfrm>
            <a:prstGeom prst="rect">
              <a:avLst/>
            </a:prstGeom>
            <a:noFill/>
            <a:ln>
              <a:solidFill>
                <a:schemeClr val="tx1">
                  <a:alpha val="63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14" name="Rectangle 413"/>
            <p:cNvSpPr/>
            <p:nvPr/>
          </p:nvSpPr>
          <p:spPr>
            <a:xfrm>
              <a:off x="5970363" y="2757949"/>
              <a:ext cx="2598972" cy="1632644"/>
            </a:xfrm>
            <a:prstGeom prst="rect">
              <a:avLst/>
            </a:prstGeom>
            <a:noFill/>
            <a:ln>
              <a:solidFill>
                <a:schemeClr val="tx1">
                  <a:alpha val="63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15" name="CustomShape 18 8"/>
            <p:cNvSpPr/>
            <p:nvPr/>
          </p:nvSpPr>
          <p:spPr>
            <a:xfrm>
              <a:off x="6916709" y="2913414"/>
              <a:ext cx="445972" cy="285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kern="0" smtClean="0">
                  <a:solidFill>
                    <a:srgbClr val="000000"/>
                  </a:solidFill>
                  <a:latin typeface="Arial"/>
                </a:rPr>
                <a:t>LLO</a:t>
              </a:r>
              <a:endParaRPr kumimoji="0" sz="1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424" name="Group 423"/>
            <p:cNvGrpSpPr/>
            <p:nvPr/>
          </p:nvGrpSpPr>
          <p:grpSpPr>
            <a:xfrm>
              <a:off x="5325141" y="3698666"/>
              <a:ext cx="370267" cy="410646"/>
              <a:chOff x="5212431" y="4474143"/>
              <a:chExt cx="552946" cy="605570"/>
            </a:xfrm>
          </p:grpSpPr>
          <p:sp>
            <p:nvSpPr>
              <p:cNvPr id="436" name="Can 435"/>
              <p:cNvSpPr/>
              <p:nvPr/>
            </p:nvSpPr>
            <p:spPr>
              <a:xfrm>
                <a:off x="5212538" y="4968835"/>
                <a:ext cx="552839" cy="110878"/>
              </a:xfrm>
              <a:prstGeom prst="can">
                <a:avLst>
                  <a:gd name="adj" fmla="val 50000"/>
                </a:avLst>
              </a:prstGeom>
              <a:solidFill>
                <a:schemeClr val="tx2"/>
              </a:solidFill>
              <a:ln w="9525">
                <a:solidFill>
                  <a:schemeClr val="tx2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437" name="Group 436"/>
              <p:cNvGrpSpPr/>
              <p:nvPr/>
            </p:nvGrpSpPr>
            <p:grpSpPr>
              <a:xfrm>
                <a:off x="5277572" y="4732951"/>
                <a:ext cx="422665" cy="275027"/>
                <a:chOff x="1530028" y="4595042"/>
                <a:chExt cx="533535" cy="510684"/>
              </a:xfrm>
            </p:grpSpPr>
            <p:sp>
              <p:nvSpPr>
                <p:cNvPr id="444" name="Can 443"/>
                <p:cNvSpPr/>
                <p:nvPr/>
              </p:nvSpPr>
              <p:spPr>
                <a:xfrm>
                  <a:off x="1530163" y="4899842"/>
                  <a:ext cx="533400" cy="205884"/>
                </a:xfrm>
                <a:prstGeom prst="can">
                  <a:avLst>
                    <a:gd name="adj" fmla="val 50000"/>
                  </a:avLst>
                </a:prstGeom>
                <a:solidFill>
                  <a:schemeClr val="bg2"/>
                </a:solidFill>
                <a:ln w="9525">
                  <a:solidFill>
                    <a:srgbClr val="FF660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45" name="Can 444"/>
                <p:cNvSpPr/>
                <p:nvPr/>
              </p:nvSpPr>
              <p:spPr>
                <a:xfrm>
                  <a:off x="1530163" y="4823642"/>
                  <a:ext cx="533400" cy="205884"/>
                </a:xfrm>
                <a:prstGeom prst="can">
                  <a:avLst>
                    <a:gd name="adj" fmla="val 50000"/>
                  </a:avLst>
                </a:prstGeom>
                <a:solidFill>
                  <a:schemeClr val="bg2"/>
                </a:solidFill>
                <a:ln w="9525">
                  <a:solidFill>
                    <a:srgbClr val="FF660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46" name="Can 445"/>
                <p:cNvSpPr/>
                <p:nvPr/>
              </p:nvSpPr>
              <p:spPr>
                <a:xfrm>
                  <a:off x="1530163" y="4747442"/>
                  <a:ext cx="533400" cy="205884"/>
                </a:xfrm>
                <a:prstGeom prst="can">
                  <a:avLst>
                    <a:gd name="adj" fmla="val 50000"/>
                  </a:avLst>
                </a:prstGeom>
                <a:solidFill>
                  <a:schemeClr val="bg2"/>
                </a:solidFill>
                <a:ln w="9525">
                  <a:solidFill>
                    <a:srgbClr val="FF660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47" name="Can 446"/>
                <p:cNvSpPr/>
                <p:nvPr/>
              </p:nvSpPr>
              <p:spPr>
                <a:xfrm>
                  <a:off x="1530163" y="4671242"/>
                  <a:ext cx="533400" cy="205884"/>
                </a:xfrm>
                <a:prstGeom prst="can">
                  <a:avLst>
                    <a:gd name="adj" fmla="val 50000"/>
                  </a:avLst>
                </a:prstGeom>
                <a:solidFill>
                  <a:schemeClr val="bg2"/>
                </a:solidFill>
                <a:ln w="9525">
                  <a:solidFill>
                    <a:srgbClr val="FF660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48" name="Can 447"/>
                <p:cNvSpPr/>
                <p:nvPr/>
              </p:nvSpPr>
              <p:spPr>
                <a:xfrm>
                  <a:off x="1530028" y="4595042"/>
                  <a:ext cx="533400" cy="205884"/>
                </a:xfrm>
                <a:prstGeom prst="can">
                  <a:avLst>
                    <a:gd name="adj" fmla="val 50000"/>
                  </a:avLst>
                </a:prstGeom>
                <a:solidFill>
                  <a:schemeClr val="bg2"/>
                </a:solidFill>
                <a:ln w="9525">
                  <a:solidFill>
                    <a:srgbClr val="FF660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438" name="Can 437"/>
              <p:cNvSpPr/>
              <p:nvPr/>
            </p:nvSpPr>
            <p:spPr>
              <a:xfrm>
                <a:off x="5277679" y="4691914"/>
                <a:ext cx="422558" cy="110878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perspectiveRelaxed" fov="1500000">
                  <a:rot lat="21594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9" name="Can 438"/>
              <p:cNvSpPr/>
              <p:nvPr/>
            </p:nvSpPr>
            <p:spPr>
              <a:xfrm>
                <a:off x="5277679" y="4650877"/>
                <a:ext cx="422558" cy="110878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perspectiveRelaxed" fov="1500000">
                  <a:rot lat="21594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40" name="Can 439"/>
              <p:cNvSpPr/>
              <p:nvPr/>
            </p:nvSpPr>
            <p:spPr>
              <a:xfrm>
                <a:off x="5277679" y="4609840"/>
                <a:ext cx="422558" cy="110878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perspectiveRelaxed" fov="1500000">
                  <a:rot lat="21594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41" name="Can 440"/>
              <p:cNvSpPr/>
              <p:nvPr/>
            </p:nvSpPr>
            <p:spPr>
              <a:xfrm>
                <a:off x="5277679" y="4568802"/>
                <a:ext cx="422558" cy="110878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perspectiveRelaxed" fov="1500000">
                  <a:rot lat="21594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42" name="Can 441"/>
              <p:cNvSpPr/>
              <p:nvPr/>
            </p:nvSpPr>
            <p:spPr>
              <a:xfrm>
                <a:off x="5277572" y="4527765"/>
                <a:ext cx="422558" cy="110878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perspectiveRelaxed" fov="1500000">
                  <a:rot lat="21594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43" name="Can 442"/>
              <p:cNvSpPr/>
              <p:nvPr/>
            </p:nvSpPr>
            <p:spPr>
              <a:xfrm>
                <a:off x="5212431" y="4474143"/>
                <a:ext cx="552839" cy="110878"/>
              </a:xfrm>
              <a:prstGeom prst="can">
                <a:avLst>
                  <a:gd name="adj" fmla="val 50000"/>
                </a:avLst>
              </a:prstGeom>
              <a:solidFill>
                <a:schemeClr val="tx2"/>
              </a:solidFill>
              <a:ln w="9525">
                <a:solidFill>
                  <a:schemeClr val="tx2"/>
                </a:solidFill>
              </a:ln>
              <a:scene3d>
                <a:camera prst="perspectiveRelaxed" fov="1500000">
                  <a:rot lat="21594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425" name="Straight Connector 424"/>
            <p:cNvCxnSpPr/>
            <p:nvPr/>
          </p:nvCxnSpPr>
          <p:spPr>
            <a:xfrm flipV="1">
              <a:off x="5645816" y="4002795"/>
              <a:ext cx="396000" cy="1962"/>
            </a:xfrm>
            <a:prstGeom prst="line">
              <a:avLst/>
            </a:prstGeom>
            <a:noFill/>
            <a:ln w="28575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426" name="CustomShape 17 6"/>
            <p:cNvSpPr/>
            <p:nvPr/>
          </p:nvSpPr>
          <p:spPr>
            <a:xfrm>
              <a:off x="6133433" y="3011479"/>
              <a:ext cx="795000" cy="438053"/>
            </a:xfrm>
            <a:prstGeom prst="parallelogram">
              <a:avLst>
                <a:gd name="adj" fmla="val 25000"/>
              </a:avLst>
            </a:prstGeom>
            <a:solidFill>
              <a:srgbClr val="808080"/>
            </a:solidFill>
            <a:ln w="25560">
              <a:noFill/>
            </a:ln>
          </p:spPr>
        </p:sp>
        <p:sp>
          <p:nvSpPr>
            <p:cNvPr id="427" name="Rectangle 426"/>
            <p:cNvSpPr/>
            <p:nvPr/>
          </p:nvSpPr>
          <p:spPr>
            <a:xfrm>
              <a:off x="2774516" y="3314092"/>
              <a:ext cx="1876775" cy="91881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8" name="TextBox 427"/>
            <p:cNvSpPr txBox="1"/>
            <p:nvPr/>
          </p:nvSpPr>
          <p:spPr>
            <a:xfrm>
              <a:off x="2887805" y="3365744"/>
              <a:ext cx="1626959" cy="723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smtClean="0">
                  <a:latin typeface="Arial" panose="020B0604020202020204" pitchFamily="34" charset="0"/>
                  <a:cs typeface="Arial" panose="020B0604020202020204" pitchFamily="34" charset="0"/>
                </a:rPr>
                <a:t>Modulation, addition </a:t>
              </a:r>
            </a:p>
            <a:p>
              <a:pPr algn="ctr"/>
              <a:r>
                <a:rPr lang="en-US" sz="1500" smtClean="0">
                  <a:latin typeface="Arial" panose="020B0604020202020204" pitchFamily="34" charset="0"/>
                  <a:cs typeface="Arial" panose="020B0604020202020204" pitchFamily="34" charset="0"/>
                </a:rPr>
                <a:t>of reference signal, </a:t>
              </a:r>
            </a:p>
            <a:p>
              <a:pPr algn="ctr"/>
              <a:r>
                <a:rPr lang="en-US" sz="1500" smtClean="0">
                  <a:latin typeface="Arial" panose="020B0604020202020204" pitchFamily="34" charset="0"/>
                  <a:cs typeface="Arial" panose="020B0604020202020204" pitchFamily="34" charset="0"/>
                </a:rPr>
                <a:t>and attenuation to </a:t>
              </a:r>
            </a:p>
            <a:p>
              <a:pPr algn="ctr"/>
              <a:r>
                <a:rPr lang="en-US" sz="1500" smtClean="0">
                  <a:latin typeface="Arial" panose="020B0604020202020204" pitchFamily="34" charset="0"/>
                  <a:cs typeface="Arial" panose="020B0604020202020204" pitchFamily="34" charset="0"/>
                </a:rPr>
                <a:t>quantum level</a:t>
              </a:r>
              <a:endParaRPr lang="en-US" sz="15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9" name="CustomShape 18 10"/>
            <p:cNvSpPr/>
            <p:nvPr/>
          </p:nvSpPr>
          <p:spPr>
            <a:xfrm>
              <a:off x="6109290" y="3716928"/>
              <a:ext cx="1077155" cy="285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smtClean="0">
                  <a:solidFill>
                    <a:srgbClr val="000000"/>
                  </a:solidFill>
                  <a:latin typeface="Arial"/>
                </a:rPr>
                <a:t>qSig + ref Sig</a:t>
              </a:r>
              <a:endParaRPr kumimoji="0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30" name="Flowchart: Delay 429"/>
            <p:cNvSpPr/>
            <p:nvPr/>
          </p:nvSpPr>
          <p:spPr>
            <a:xfrm>
              <a:off x="7440916" y="3030240"/>
              <a:ext cx="1051413" cy="1131652"/>
            </a:xfrm>
            <a:prstGeom prst="flowChartDelay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1" name="CustomShape 18 11"/>
            <p:cNvSpPr/>
            <p:nvPr/>
          </p:nvSpPr>
          <p:spPr>
            <a:xfrm>
              <a:off x="7510416" y="3096317"/>
              <a:ext cx="733164" cy="1012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smtClean="0">
                  <a:solidFill>
                    <a:schemeClr val="bg1"/>
                  </a:solidFill>
                  <a:latin typeface="Arial"/>
                </a:rPr>
                <a:t>coherent</a:t>
              </a:r>
              <a:endParaRPr lang="en-US" sz="1400" kern="0" dirty="0" smtClean="0">
                <a:solidFill>
                  <a:schemeClr val="bg1"/>
                </a:solidFill>
                <a:latin typeface="Arial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>
                  <a:solidFill>
                    <a:schemeClr val="bg1"/>
                  </a:solidFill>
                  <a:latin typeface="Arial"/>
                </a:rPr>
                <a:t>d</a:t>
              </a:r>
              <a:r>
                <a:rPr lang="en-US" sz="1400" kern="0" smtClean="0">
                  <a:solidFill>
                    <a:schemeClr val="bg1"/>
                  </a:solidFill>
                  <a:latin typeface="Arial"/>
                </a:rPr>
                <a:t>etection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smtClean="0">
                  <a:solidFill>
                    <a:schemeClr val="bg1"/>
                  </a:solidFill>
                  <a:latin typeface="Arial"/>
                </a:rPr>
                <a:t>+ phase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smtClean="0">
                  <a:solidFill>
                    <a:schemeClr val="bg1"/>
                  </a:solidFill>
                  <a:latin typeface="Arial"/>
                </a:rPr>
                <a:t>reference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smtClean="0">
                  <a:solidFill>
                    <a:schemeClr val="bg1"/>
                  </a:solidFill>
                  <a:latin typeface="Arial"/>
                </a:rPr>
                <a:t>alignment</a:t>
              </a:r>
              <a:endParaRPr lang="en-US" sz="1400" kern="0" dirty="0" smtClean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432" name="CustomShape 35 2 1"/>
            <p:cNvSpPr/>
            <p:nvPr/>
          </p:nvSpPr>
          <p:spPr>
            <a:xfrm>
              <a:off x="5109432" y="3194857"/>
              <a:ext cx="868690" cy="5305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quantum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channel</a:t>
              </a:r>
            </a:p>
          </p:txBody>
        </p:sp>
        <p:sp>
          <p:nvSpPr>
            <p:cNvPr id="433" name="CustomShape 18 12"/>
            <p:cNvSpPr/>
            <p:nvPr/>
          </p:nvSpPr>
          <p:spPr>
            <a:xfrm>
              <a:off x="5987170" y="3051055"/>
              <a:ext cx="1063463" cy="3653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smtClean="0">
                  <a:solidFill>
                    <a:schemeClr val="bg1"/>
                  </a:solidFill>
                  <a:latin typeface="Arial"/>
                </a:rPr>
                <a:t>laser</a:t>
              </a:r>
              <a:endParaRPr kumimoji="0" sz="1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434" name="CustomShape 18 13"/>
            <p:cNvSpPr/>
            <p:nvPr/>
          </p:nvSpPr>
          <p:spPr>
            <a:xfrm>
              <a:off x="4027906" y="2829614"/>
              <a:ext cx="891944" cy="285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b="1" kern="0" dirty="0" smtClean="0">
                  <a:solidFill>
                    <a:srgbClr val="000000"/>
                  </a:solidFill>
                  <a:latin typeface="Arial"/>
                </a:rPr>
                <a:t>Alice</a:t>
              </a:r>
              <a:endParaRPr kumimoji="0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35" name="CustomShape 18 14"/>
            <p:cNvSpPr/>
            <p:nvPr/>
          </p:nvSpPr>
          <p:spPr>
            <a:xfrm>
              <a:off x="5853201" y="4065410"/>
              <a:ext cx="891944" cy="285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b="1" kern="0" dirty="0" smtClean="0">
                  <a:solidFill>
                    <a:srgbClr val="000000"/>
                  </a:solidFill>
                  <a:latin typeface="Arial"/>
                </a:rPr>
                <a:t>Bob</a:t>
              </a:r>
              <a:endParaRPr kumimoji="0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9315075" y="9443515"/>
            <a:ext cx="8561762" cy="2340000"/>
            <a:chOff x="9277530" y="11223198"/>
            <a:chExt cx="7023012" cy="1919446"/>
          </a:xfrm>
        </p:grpSpPr>
        <p:cxnSp>
          <p:nvCxnSpPr>
            <p:cNvPr id="179" name="Straight Connector 178"/>
            <p:cNvCxnSpPr/>
            <p:nvPr/>
          </p:nvCxnSpPr>
          <p:spPr>
            <a:xfrm>
              <a:off x="13629116" y="12251971"/>
              <a:ext cx="412050" cy="4333"/>
            </a:xfrm>
            <a:prstGeom prst="line">
              <a:avLst/>
            </a:prstGeom>
            <a:ln w="28575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V="1">
              <a:off x="12934994" y="12110336"/>
              <a:ext cx="576000" cy="498"/>
            </a:xfrm>
            <a:prstGeom prst="line">
              <a:avLst/>
            </a:prstGeom>
            <a:ln w="28575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11276036" y="12575983"/>
              <a:ext cx="1203751" cy="0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</a:ln>
            <a:effectLst/>
          </p:spPr>
        </p:cxnSp>
        <p:cxnSp>
          <p:nvCxnSpPr>
            <p:cNvPr id="184" name="Straight Connector 183"/>
            <p:cNvCxnSpPr/>
            <p:nvPr/>
          </p:nvCxnSpPr>
          <p:spPr>
            <a:xfrm>
              <a:off x="14465820" y="12656562"/>
              <a:ext cx="887622" cy="7970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</a:ln>
            <a:effectLst/>
          </p:spPr>
        </p:cxnSp>
        <p:sp>
          <p:nvSpPr>
            <p:cNvPr id="185" name="Trapezoid 184"/>
            <p:cNvSpPr/>
            <p:nvPr/>
          </p:nvSpPr>
          <p:spPr>
            <a:xfrm rot="16200000">
              <a:off x="13674410" y="11983071"/>
              <a:ext cx="1193737" cy="443709"/>
            </a:xfrm>
            <a:prstGeom prst="trapezoid">
              <a:avLst>
                <a:gd name="adj" fmla="val 45793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86" name="Trapezoid 185"/>
            <p:cNvSpPr/>
            <p:nvPr/>
          </p:nvSpPr>
          <p:spPr>
            <a:xfrm rot="5400000">
              <a:off x="12055250" y="11964861"/>
              <a:ext cx="1316252" cy="456031"/>
            </a:xfrm>
            <a:prstGeom prst="trapezoid">
              <a:avLst>
                <a:gd name="adj" fmla="val 45793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87" name="Flowchart: Delay 186"/>
            <p:cNvSpPr/>
            <p:nvPr/>
          </p:nvSpPr>
          <p:spPr>
            <a:xfrm>
              <a:off x="15353442" y="11635094"/>
              <a:ext cx="853693" cy="1131652"/>
            </a:xfrm>
            <a:prstGeom prst="flowChartDelay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8" name="Straight Connector 187"/>
            <p:cNvCxnSpPr/>
            <p:nvPr/>
          </p:nvCxnSpPr>
          <p:spPr>
            <a:xfrm flipV="1">
              <a:off x="10913754" y="11617585"/>
              <a:ext cx="1566033" cy="2765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</a:ln>
            <a:effectLst/>
          </p:spPr>
        </p:cxnSp>
        <p:cxnSp>
          <p:nvCxnSpPr>
            <p:cNvPr id="200" name="Straight Connector 199"/>
            <p:cNvCxnSpPr/>
            <p:nvPr/>
          </p:nvCxnSpPr>
          <p:spPr>
            <a:xfrm flipV="1">
              <a:off x="14490882" y="11702099"/>
              <a:ext cx="862560" cy="4271"/>
            </a:xfrm>
            <a:prstGeom prst="line">
              <a:avLst/>
            </a:prstGeom>
            <a:noFill/>
            <a:ln w="28575" cap="flat" cmpd="sng" algn="ctr">
              <a:solidFill>
                <a:srgbClr val="00B050"/>
              </a:solidFill>
              <a:prstDash val="solid"/>
            </a:ln>
            <a:effectLst/>
          </p:spPr>
        </p:cxnSp>
        <p:sp>
          <p:nvSpPr>
            <p:cNvPr id="201" name="CustomShape 18 15"/>
            <p:cNvSpPr/>
            <p:nvPr/>
          </p:nvSpPr>
          <p:spPr>
            <a:xfrm>
              <a:off x="11064118" y="11341441"/>
              <a:ext cx="1096457" cy="285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smtClean="0">
                  <a:solidFill>
                    <a:srgbClr val="000000"/>
                  </a:solidFill>
                  <a:latin typeface="Arial"/>
                </a:rPr>
                <a:t>local oscillator (LO)</a:t>
              </a:r>
              <a:endParaRPr kumimoji="0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03" name="CustomShape 18 16"/>
            <p:cNvSpPr/>
            <p:nvPr/>
          </p:nvSpPr>
          <p:spPr>
            <a:xfrm>
              <a:off x="11462166" y="12857536"/>
              <a:ext cx="1412821" cy="285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smtClean="0">
                  <a:solidFill>
                    <a:srgbClr val="000000"/>
                  </a:solidFill>
                  <a:latin typeface="Arial"/>
                </a:rPr>
                <a:t>quantum signal (qSig)</a:t>
              </a:r>
              <a:endParaRPr kumimoji="0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04" name="CustomShape 18 17"/>
            <p:cNvSpPr/>
            <p:nvPr/>
          </p:nvSpPr>
          <p:spPr>
            <a:xfrm rot="16200000">
              <a:off x="12340456" y="12038650"/>
              <a:ext cx="733164" cy="2374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 smtClean="0">
                  <a:solidFill>
                    <a:srgbClr val="000000"/>
                  </a:solidFill>
                  <a:latin typeface="Arial"/>
                </a:rPr>
                <a:t>MUX </a:t>
              </a:r>
              <a:endParaRPr kumimoji="0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06" name="CustomShape 18 18"/>
            <p:cNvSpPr/>
            <p:nvPr/>
          </p:nvSpPr>
          <p:spPr>
            <a:xfrm rot="16200000">
              <a:off x="14022567" y="12076983"/>
              <a:ext cx="423951" cy="2374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 smtClean="0">
                  <a:solidFill>
                    <a:srgbClr val="000000"/>
                  </a:solidFill>
                  <a:latin typeface="Arial"/>
                </a:rPr>
                <a:t>DEMUX </a:t>
              </a:r>
              <a:endParaRPr kumimoji="0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17" name="CustomShape 18 19"/>
            <p:cNvSpPr/>
            <p:nvPr/>
          </p:nvSpPr>
          <p:spPr>
            <a:xfrm>
              <a:off x="15364831" y="11946247"/>
              <a:ext cx="733164" cy="50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smtClean="0">
                  <a:solidFill>
                    <a:schemeClr val="bg1"/>
                  </a:solidFill>
                  <a:latin typeface="Arial"/>
                </a:rPr>
                <a:t>coherent</a:t>
              </a:r>
              <a:endParaRPr lang="en-US" sz="1400" kern="0" dirty="0" smtClean="0">
                <a:solidFill>
                  <a:schemeClr val="bg1"/>
                </a:solidFill>
                <a:latin typeface="Arial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dirty="0" smtClean="0">
                  <a:solidFill>
                    <a:schemeClr val="bg1"/>
                  </a:solidFill>
                  <a:latin typeface="Arial"/>
                </a:rPr>
                <a:t>detection </a:t>
              </a:r>
              <a:endParaRPr kumimoji="0" sz="1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9277530" y="11223198"/>
              <a:ext cx="3773400" cy="1906860"/>
            </a:xfrm>
            <a:prstGeom prst="rect">
              <a:avLst/>
            </a:prstGeom>
            <a:noFill/>
            <a:ln>
              <a:solidFill>
                <a:schemeClr val="tx1">
                  <a:alpha val="63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24" name="Rectangle 223"/>
            <p:cNvSpPr/>
            <p:nvPr/>
          </p:nvSpPr>
          <p:spPr>
            <a:xfrm>
              <a:off x="13954387" y="11223198"/>
              <a:ext cx="2346155" cy="1906860"/>
            </a:xfrm>
            <a:prstGeom prst="rect">
              <a:avLst/>
            </a:prstGeom>
            <a:noFill/>
            <a:ln>
              <a:solidFill>
                <a:schemeClr val="tx1">
                  <a:alpha val="63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25" name="CustomShape 18 20"/>
            <p:cNvSpPr/>
            <p:nvPr/>
          </p:nvSpPr>
          <p:spPr>
            <a:xfrm>
              <a:off x="13883088" y="11247164"/>
              <a:ext cx="891944" cy="285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b="1" kern="0" dirty="0" smtClean="0">
                  <a:solidFill>
                    <a:srgbClr val="000000"/>
                  </a:solidFill>
                  <a:latin typeface="Arial"/>
                </a:rPr>
                <a:t>Bob</a:t>
              </a:r>
              <a:endParaRPr kumimoji="0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26" name="CustomShape 18 21"/>
            <p:cNvSpPr/>
            <p:nvPr/>
          </p:nvSpPr>
          <p:spPr>
            <a:xfrm>
              <a:off x="9300092" y="12688996"/>
              <a:ext cx="891944" cy="285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b="1" kern="0" dirty="0" smtClean="0">
                  <a:solidFill>
                    <a:srgbClr val="000000"/>
                  </a:solidFill>
                  <a:latin typeface="Arial"/>
                </a:rPr>
                <a:t>Alice</a:t>
              </a:r>
              <a:endParaRPr kumimoji="0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227" name="Group 226"/>
            <p:cNvGrpSpPr/>
            <p:nvPr/>
          </p:nvGrpSpPr>
          <p:grpSpPr>
            <a:xfrm>
              <a:off x="10116010" y="11620414"/>
              <a:ext cx="799664" cy="971038"/>
              <a:chOff x="1858259" y="1041117"/>
              <a:chExt cx="1284923" cy="971038"/>
            </a:xfrm>
          </p:grpSpPr>
          <p:sp>
            <p:nvSpPr>
              <p:cNvPr id="264" name="CustomShape 6 8"/>
              <p:cNvSpPr/>
              <p:nvPr/>
            </p:nvSpPr>
            <p:spPr>
              <a:xfrm>
                <a:off x="2471370" y="1518438"/>
                <a:ext cx="641884" cy="472037"/>
              </a:xfrm>
              <a:prstGeom prst="curvedConnector3">
                <a:avLst>
                  <a:gd name="adj1" fmla="val 41619"/>
                </a:avLst>
              </a:prstGeom>
              <a:noFill/>
              <a:ln w="31680">
                <a:solidFill>
                  <a:schemeClr val="tx1"/>
                </a:solidFill>
                <a:round/>
              </a:ln>
            </p:spPr>
          </p:sp>
          <p:sp>
            <p:nvSpPr>
              <p:cNvPr id="265" name="CustomShape 6 9"/>
              <p:cNvSpPr/>
              <p:nvPr/>
            </p:nvSpPr>
            <p:spPr>
              <a:xfrm flipV="1">
                <a:off x="2467455" y="1041117"/>
                <a:ext cx="675727" cy="477321"/>
              </a:xfrm>
              <a:prstGeom prst="curvedConnector3">
                <a:avLst>
                  <a:gd name="adj1" fmla="val 42663"/>
                </a:avLst>
              </a:prstGeom>
              <a:noFill/>
              <a:ln w="31680">
                <a:solidFill>
                  <a:schemeClr val="tx1"/>
                </a:solidFill>
                <a:round/>
              </a:ln>
            </p:spPr>
          </p:sp>
          <p:sp>
            <p:nvSpPr>
              <p:cNvPr id="266" name="CustomShape 6 10"/>
              <p:cNvSpPr/>
              <p:nvPr/>
            </p:nvSpPr>
            <p:spPr>
              <a:xfrm flipH="1">
                <a:off x="1858259" y="1519878"/>
                <a:ext cx="615070" cy="492277"/>
              </a:xfrm>
              <a:prstGeom prst="curvedConnector3">
                <a:avLst>
                  <a:gd name="adj1" fmla="val 46034"/>
                </a:avLst>
              </a:prstGeom>
              <a:noFill/>
              <a:ln w="31680">
                <a:solidFill>
                  <a:schemeClr val="tx1"/>
                </a:solidFill>
                <a:round/>
              </a:ln>
            </p:spPr>
          </p:sp>
          <p:sp>
            <p:nvSpPr>
              <p:cNvPr id="267" name="CustomShape 5"/>
              <p:cNvSpPr/>
              <p:nvPr/>
            </p:nvSpPr>
            <p:spPr>
              <a:xfrm rot="10800000">
                <a:off x="1896012" y="1059102"/>
                <a:ext cx="577364" cy="460776"/>
              </a:xfrm>
              <a:prstGeom prst="curvedConnector3">
                <a:avLst>
                  <a:gd name="adj1" fmla="val 50000"/>
                </a:avLst>
              </a:prstGeom>
              <a:noFill/>
              <a:ln w="28575">
                <a:solidFill>
                  <a:schemeClr val="tx1"/>
                </a:solidFill>
                <a:round/>
              </a:ln>
            </p:spPr>
          </p:sp>
        </p:grpSp>
        <p:sp>
          <p:nvSpPr>
            <p:cNvPr id="228" name="CustomShape 18 22"/>
            <p:cNvSpPr/>
            <p:nvPr/>
          </p:nvSpPr>
          <p:spPr>
            <a:xfrm>
              <a:off x="14517637" y="11683296"/>
              <a:ext cx="891944" cy="285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smtClean="0">
                  <a:solidFill>
                    <a:srgbClr val="000000"/>
                  </a:solidFill>
                  <a:latin typeface="Arial"/>
                </a:rPr>
                <a:t>LO</a:t>
              </a:r>
              <a:endParaRPr kumimoji="0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229" name="Group 228"/>
            <p:cNvGrpSpPr/>
            <p:nvPr/>
          </p:nvGrpSpPr>
          <p:grpSpPr>
            <a:xfrm>
              <a:off x="9277530" y="11416067"/>
              <a:ext cx="1063463" cy="438053"/>
              <a:chOff x="1044047" y="828226"/>
              <a:chExt cx="1063463" cy="438053"/>
            </a:xfrm>
          </p:grpSpPr>
          <p:sp>
            <p:nvSpPr>
              <p:cNvPr id="262" name="CustomShape 17 7"/>
              <p:cNvSpPr/>
              <p:nvPr/>
            </p:nvSpPr>
            <p:spPr>
              <a:xfrm>
                <a:off x="1163553" y="828226"/>
                <a:ext cx="795000" cy="438053"/>
              </a:xfrm>
              <a:prstGeom prst="parallelogram">
                <a:avLst>
                  <a:gd name="adj" fmla="val 25000"/>
                </a:avLst>
              </a:prstGeom>
              <a:solidFill>
                <a:srgbClr val="808080"/>
              </a:solidFill>
              <a:ln w="25560">
                <a:noFill/>
              </a:ln>
            </p:spPr>
          </p:sp>
          <p:sp>
            <p:nvSpPr>
              <p:cNvPr id="263" name="CustomShape 18 23"/>
              <p:cNvSpPr/>
              <p:nvPr/>
            </p:nvSpPr>
            <p:spPr>
              <a:xfrm>
                <a:off x="1044047" y="888460"/>
                <a:ext cx="1063463" cy="365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5000" rIns="90000" bIns="4500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400" kern="0" smtClean="0">
                    <a:solidFill>
                      <a:schemeClr val="bg1"/>
                    </a:solidFill>
                    <a:latin typeface="Arial"/>
                  </a:rPr>
                  <a:t>laser</a:t>
                </a:r>
                <a:endParaRPr kumimoji="0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230" name="Group 229"/>
            <p:cNvGrpSpPr/>
            <p:nvPr/>
          </p:nvGrpSpPr>
          <p:grpSpPr>
            <a:xfrm>
              <a:off x="13348112" y="11981879"/>
              <a:ext cx="370267" cy="410646"/>
              <a:chOff x="5212431" y="4474143"/>
              <a:chExt cx="552946" cy="605570"/>
            </a:xfrm>
          </p:grpSpPr>
          <p:sp>
            <p:nvSpPr>
              <p:cNvPr id="248" name="Can 247"/>
              <p:cNvSpPr/>
              <p:nvPr/>
            </p:nvSpPr>
            <p:spPr>
              <a:xfrm>
                <a:off x="5212538" y="4968835"/>
                <a:ext cx="552839" cy="110878"/>
              </a:xfrm>
              <a:prstGeom prst="can">
                <a:avLst>
                  <a:gd name="adj" fmla="val 50000"/>
                </a:avLst>
              </a:prstGeom>
              <a:solidFill>
                <a:schemeClr val="tx2"/>
              </a:solidFill>
              <a:ln w="9525">
                <a:solidFill>
                  <a:schemeClr val="tx2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249" name="Group 248"/>
              <p:cNvGrpSpPr/>
              <p:nvPr/>
            </p:nvGrpSpPr>
            <p:grpSpPr>
              <a:xfrm>
                <a:off x="5277572" y="4732951"/>
                <a:ext cx="422665" cy="275027"/>
                <a:chOff x="1530028" y="4595042"/>
                <a:chExt cx="533535" cy="510684"/>
              </a:xfrm>
            </p:grpSpPr>
            <p:sp>
              <p:nvSpPr>
                <p:cNvPr id="257" name="Can 256"/>
                <p:cNvSpPr/>
                <p:nvPr/>
              </p:nvSpPr>
              <p:spPr>
                <a:xfrm>
                  <a:off x="1530163" y="4899842"/>
                  <a:ext cx="533400" cy="205884"/>
                </a:xfrm>
                <a:prstGeom prst="can">
                  <a:avLst>
                    <a:gd name="adj" fmla="val 50000"/>
                  </a:avLst>
                </a:prstGeom>
                <a:solidFill>
                  <a:schemeClr val="bg2"/>
                </a:solidFill>
                <a:ln w="9525">
                  <a:solidFill>
                    <a:srgbClr val="FF660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58" name="Can 257"/>
                <p:cNvSpPr/>
                <p:nvPr/>
              </p:nvSpPr>
              <p:spPr>
                <a:xfrm>
                  <a:off x="1530163" y="4823642"/>
                  <a:ext cx="533400" cy="205884"/>
                </a:xfrm>
                <a:prstGeom prst="can">
                  <a:avLst>
                    <a:gd name="adj" fmla="val 50000"/>
                  </a:avLst>
                </a:prstGeom>
                <a:solidFill>
                  <a:schemeClr val="bg2"/>
                </a:solidFill>
                <a:ln w="9525">
                  <a:solidFill>
                    <a:srgbClr val="FF660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59" name="Can 258"/>
                <p:cNvSpPr/>
                <p:nvPr/>
              </p:nvSpPr>
              <p:spPr>
                <a:xfrm>
                  <a:off x="1530163" y="4747442"/>
                  <a:ext cx="533400" cy="205884"/>
                </a:xfrm>
                <a:prstGeom prst="can">
                  <a:avLst>
                    <a:gd name="adj" fmla="val 50000"/>
                  </a:avLst>
                </a:prstGeom>
                <a:solidFill>
                  <a:schemeClr val="bg2"/>
                </a:solidFill>
                <a:ln w="9525">
                  <a:solidFill>
                    <a:srgbClr val="FF660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60" name="Can 259"/>
                <p:cNvSpPr/>
                <p:nvPr/>
              </p:nvSpPr>
              <p:spPr>
                <a:xfrm>
                  <a:off x="1530163" y="4671242"/>
                  <a:ext cx="533400" cy="205884"/>
                </a:xfrm>
                <a:prstGeom prst="can">
                  <a:avLst>
                    <a:gd name="adj" fmla="val 50000"/>
                  </a:avLst>
                </a:prstGeom>
                <a:solidFill>
                  <a:schemeClr val="bg2"/>
                </a:solidFill>
                <a:ln w="9525">
                  <a:solidFill>
                    <a:srgbClr val="FF660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61" name="Can 260"/>
                <p:cNvSpPr/>
                <p:nvPr/>
              </p:nvSpPr>
              <p:spPr>
                <a:xfrm>
                  <a:off x="1530028" y="4595042"/>
                  <a:ext cx="533400" cy="205884"/>
                </a:xfrm>
                <a:prstGeom prst="can">
                  <a:avLst>
                    <a:gd name="adj" fmla="val 50000"/>
                  </a:avLst>
                </a:prstGeom>
                <a:solidFill>
                  <a:schemeClr val="bg2"/>
                </a:solidFill>
                <a:ln w="9525">
                  <a:solidFill>
                    <a:srgbClr val="FF660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250" name="Can 249"/>
              <p:cNvSpPr/>
              <p:nvPr/>
            </p:nvSpPr>
            <p:spPr>
              <a:xfrm>
                <a:off x="5277679" y="4691914"/>
                <a:ext cx="422558" cy="110878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perspectiveRelaxed" fov="1500000">
                  <a:rot lat="21594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1" name="Can 250"/>
              <p:cNvSpPr/>
              <p:nvPr/>
            </p:nvSpPr>
            <p:spPr>
              <a:xfrm>
                <a:off x="5277679" y="4650877"/>
                <a:ext cx="422558" cy="110878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perspectiveRelaxed" fov="1500000">
                  <a:rot lat="21594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2" name="Can 251"/>
              <p:cNvSpPr/>
              <p:nvPr/>
            </p:nvSpPr>
            <p:spPr>
              <a:xfrm>
                <a:off x="5277679" y="4609840"/>
                <a:ext cx="422558" cy="110878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perspectiveRelaxed" fov="1500000">
                  <a:rot lat="21594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3" name="Can 252"/>
              <p:cNvSpPr/>
              <p:nvPr/>
            </p:nvSpPr>
            <p:spPr>
              <a:xfrm>
                <a:off x="5277679" y="4568802"/>
                <a:ext cx="422558" cy="110878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perspectiveRelaxed" fov="1500000">
                  <a:rot lat="21594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4" name="Can 253"/>
              <p:cNvSpPr/>
              <p:nvPr/>
            </p:nvSpPr>
            <p:spPr>
              <a:xfrm>
                <a:off x="5277572" y="4527765"/>
                <a:ext cx="422558" cy="110878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perspectiveRelaxed" fov="1500000">
                  <a:rot lat="21594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5" name="Can 254"/>
              <p:cNvSpPr/>
              <p:nvPr/>
            </p:nvSpPr>
            <p:spPr>
              <a:xfrm>
                <a:off x="5212431" y="4474143"/>
                <a:ext cx="552839" cy="110878"/>
              </a:xfrm>
              <a:prstGeom prst="can">
                <a:avLst>
                  <a:gd name="adj" fmla="val 50000"/>
                </a:avLst>
              </a:prstGeom>
              <a:solidFill>
                <a:schemeClr val="tx2"/>
              </a:solidFill>
              <a:ln w="9525">
                <a:solidFill>
                  <a:schemeClr val="tx2"/>
                </a:solidFill>
              </a:ln>
              <a:scene3d>
                <a:camera prst="perspectiveRelaxed" fov="1500000">
                  <a:rot lat="21594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233" name="Straight Arrow Connector 232"/>
            <p:cNvCxnSpPr/>
            <p:nvPr/>
          </p:nvCxnSpPr>
          <p:spPr>
            <a:xfrm flipV="1">
              <a:off x="12203938" y="12633302"/>
              <a:ext cx="166994" cy="2450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0" name="CustomShape 35 2 2"/>
            <p:cNvSpPr/>
            <p:nvPr/>
          </p:nvSpPr>
          <p:spPr>
            <a:xfrm>
              <a:off x="10667191" y="12114095"/>
              <a:ext cx="868690" cy="2580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41" name="CustomShape 35 2 3"/>
            <p:cNvSpPr/>
            <p:nvPr/>
          </p:nvSpPr>
          <p:spPr>
            <a:xfrm>
              <a:off x="13098672" y="12413682"/>
              <a:ext cx="868690" cy="5305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2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quantum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2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channel</a:t>
              </a:r>
            </a:p>
          </p:txBody>
        </p:sp>
        <p:sp>
          <p:nvSpPr>
            <p:cNvPr id="245" name="CustomShape 18 24"/>
            <p:cNvSpPr/>
            <p:nvPr/>
          </p:nvSpPr>
          <p:spPr>
            <a:xfrm>
              <a:off x="14701586" y="12381409"/>
              <a:ext cx="507402" cy="285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smtClean="0">
                  <a:solidFill>
                    <a:srgbClr val="000000"/>
                  </a:solidFill>
                  <a:latin typeface="Arial"/>
                </a:rPr>
                <a:t>qSig</a:t>
              </a:r>
              <a:endParaRPr kumimoji="0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46" name="Rectangle 245"/>
            <p:cNvSpPr/>
            <p:nvPr/>
          </p:nvSpPr>
          <p:spPr>
            <a:xfrm>
              <a:off x="10858115" y="12196056"/>
              <a:ext cx="1137008" cy="65658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TextBox 246"/>
            <p:cNvSpPr txBox="1"/>
            <p:nvPr/>
          </p:nvSpPr>
          <p:spPr>
            <a:xfrm>
              <a:off x="10857257" y="12204672"/>
              <a:ext cx="1137940" cy="605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smtClean="0">
                  <a:latin typeface="Arial" panose="020B0604020202020204" pitchFamily="34" charset="0"/>
                  <a:cs typeface="Arial" panose="020B0604020202020204" pitchFamily="34" charset="0"/>
                </a:rPr>
                <a:t>Modulation &amp;</a:t>
              </a:r>
            </a:p>
            <a:p>
              <a:pPr algn="ctr"/>
              <a:r>
                <a:rPr lang="en-US" sz="1400" smtClean="0">
                  <a:latin typeface="Arial" panose="020B0604020202020204" pitchFamily="34" charset="0"/>
                  <a:cs typeface="Arial" panose="020B0604020202020204" pitchFamily="34" charset="0"/>
                </a:rPr>
                <a:t>attenuation to </a:t>
              </a:r>
            </a:p>
            <a:p>
              <a:pPr algn="ctr"/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  <a:r>
                <a:rPr lang="en-US" sz="1400" smtClean="0">
                  <a:latin typeface="Arial" panose="020B0604020202020204" pitchFamily="34" charset="0"/>
                  <a:cs typeface="Arial" panose="020B0604020202020204" pitchFamily="34" charset="0"/>
                </a:rPr>
                <a:t>uantum level</a:t>
              </a:r>
              <a:endParaRPr 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50" name="TextBox 449"/>
          <p:cNvSpPr txBox="1"/>
          <p:nvPr/>
        </p:nvSpPr>
        <p:spPr>
          <a:xfrm>
            <a:off x="19548000" y="13346020"/>
            <a:ext cx="9013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/>
              <a:t>Expression </a:t>
            </a:r>
            <a:r>
              <a:rPr lang="en-US" sz="2400"/>
              <a:t>for output current of balanced heterdoyne receiver:</a:t>
            </a:r>
            <a:endParaRPr lang="en-US" sz="2400" dirty="0" smtClean="0"/>
          </a:p>
        </p:txBody>
      </p:sp>
      <p:grpSp>
        <p:nvGrpSpPr>
          <p:cNvPr id="513" name="Group 512"/>
          <p:cNvGrpSpPr/>
          <p:nvPr/>
        </p:nvGrpSpPr>
        <p:grpSpPr>
          <a:xfrm>
            <a:off x="9271137" y="13472319"/>
            <a:ext cx="4262300" cy="2199740"/>
            <a:chOff x="3761144" y="2660915"/>
            <a:chExt cx="4262300" cy="2199740"/>
          </a:xfrm>
        </p:grpSpPr>
        <p:cxnSp>
          <p:nvCxnSpPr>
            <p:cNvPr id="514" name="Straight Connector 513"/>
            <p:cNvCxnSpPr/>
            <p:nvPr/>
          </p:nvCxnSpPr>
          <p:spPr>
            <a:xfrm>
              <a:off x="3918358" y="3210203"/>
              <a:ext cx="60065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514"/>
            <p:cNvCxnSpPr/>
            <p:nvPr/>
          </p:nvCxnSpPr>
          <p:spPr>
            <a:xfrm>
              <a:off x="3918358" y="3963197"/>
              <a:ext cx="60065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6" name="Right Bracket 515"/>
            <p:cNvSpPr/>
            <p:nvPr/>
          </p:nvSpPr>
          <p:spPr>
            <a:xfrm>
              <a:off x="6115149" y="2784269"/>
              <a:ext cx="169626" cy="734849"/>
            </a:xfrm>
            <a:prstGeom prst="rightBracket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7" name="Oval 516"/>
            <p:cNvSpPr/>
            <p:nvPr/>
          </p:nvSpPr>
          <p:spPr>
            <a:xfrm>
              <a:off x="6176305" y="3069336"/>
              <a:ext cx="238027" cy="22381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8" name="Minus 517"/>
            <p:cNvSpPr/>
            <p:nvPr/>
          </p:nvSpPr>
          <p:spPr>
            <a:xfrm>
              <a:off x="6218842" y="3142177"/>
              <a:ext cx="153866" cy="79048"/>
            </a:xfrm>
            <a:prstGeom prst="mathMinu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19" name="Group 518"/>
            <p:cNvGrpSpPr/>
            <p:nvPr/>
          </p:nvGrpSpPr>
          <p:grpSpPr>
            <a:xfrm>
              <a:off x="4718967" y="2778563"/>
              <a:ext cx="1184844" cy="1965400"/>
              <a:chOff x="5256307" y="2778563"/>
              <a:chExt cx="647503" cy="1965400"/>
            </a:xfrm>
          </p:grpSpPr>
          <p:grpSp>
            <p:nvGrpSpPr>
              <p:cNvPr id="553" name="Group 552"/>
              <p:cNvGrpSpPr/>
              <p:nvPr/>
            </p:nvGrpSpPr>
            <p:grpSpPr>
              <a:xfrm>
                <a:off x="5256307" y="2778563"/>
                <a:ext cx="644675" cy="738410"/>
                <a:chOff x="5522862" y="2857986"/>
                <a:chExt cx="1069975" cy="1225550"/>
              </a:xfrm>
            </p:grpSpPr>
            <p:cxnSp>
              <p:nvCxnSpPr>
                <p:cNvPr id="557" name="AutoShape 12 3"/>
                <p:cNvCxnSpPr>
                  <a:cxnSpLocks noChangeShapeType="1"/>
                </p:cNvCxnSpPr>
                <p:nvPr/>
              </p:nvCxnSpPr>
              <p:spPr bwMode="auto">
                <a:xfrm flipV="1">
                  <a:off x="5522862" y="2857986"/>
                  <a:ext cx="1069975" cy="611188"/>
                </a:xfrm>
                <a:prstGeom prst="curvedConnector3">
                  <a:avLst>
                    <a:gd name="adj1" fmla="val 65833"/>
                  </a:avLst>
                </a:prstGeom>
                <a:noFill/>
                <a:ln w="3175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58" name="AutoShape 16 3"/>
                <p:cNvCxnSpPr>
                  <a:cxnSpLocks noChangeShapeType="1"/>
                </p:cNvCxnSpPr>
                <p:nvPr/>
              </p:nvCxnSpPr>
              <p:spPr bwMode="auto">
                <a:xfrm>
                  <a:off x="5522862" y="3448536"/>
                  <a:ext cx="1069975" cy="635000"/>
                </a:xfrm>
                <a:prstGeom prst="curvedConnector3">
                  <a:avLst>
                    <a:gd name="adj1" fmla="val 69167"/>
                  </a:avLst>
                </a:prstGeom>
                <a:noFill/>
                <a:ln w="3175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554" name="Group 553"/>
              <p:cNvGrpSpPr/>
              <p:nvPr/>
            </p:nvGrpSpPr>
            <p:grpSpPr>
              <a:xfrm>
                <a:off x="5259135" y="4005553"/>
                <a:ext cx="644675" cy="738410"/>
                <a:chOff x="5522862" y="2857986"/>
                <a:chExt cx="1069975" cy="1225550"/>
              </a:xfrm>
            </p:grpSpPr>
            <p:cxnSp>
              <p:nvCxnSpPr>
                <p:cNvPr id="555" name="AutoShape 12 5"/>
                <p:cNvCxnSpPr>
                  <a:cxnSpLocks noChangeShapeType="1"/>
                </p:cNvCxnSpPr>
                <p:nvPr/>
              </p:nvCxnSpPr>
              <p:spPr bwMode="auto">
                <a:xfrm flipV="1">
                  <a:off x="5522862" y="2857986"/>
                  <a:ext cx="1069975" cy="611188"/>
                </a:xfrm>
                <a:prstGeom prst="curvedConnector3">
                  <a:avLst>
                    <a:gd name="adj1" fmla="val 65833"/>
                  </a:avLst>
                </a:prstGeom>
                <a:noFill/>
                <a:ln w="3175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56" name="AutoShape 16 5"/>
                <p:cNvCxnSpPr>
                  <a:cxnSpLocks noChangeShapeType="1"/>
                </p:cNvCxnSpPr>
                <p:nvPr/>
              </p:nvCxnSpPr>
              <p:spPr bwMode="auto">
                <a:xfrm>
                  <a:off x="5522862" y="3448536"/>
                  <a:ext cx="1069975" cy="635000"/>
                </a:xfrm>
                <a:prstGeom prst="curvedConnector3">
                  <a:avLst>
                    <a:gd name="adj1" fmla="val 69167"/>
                  </a:avLst>
                </a:prstGeom>
                <a:noFill/>
                <a:ln w="3175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520" name="AutoShape 25 3"/>
            <p:cNvSpPr>
              <a:spLocks noChangeArrowheads="1"/>
            </p:cNvSpPr>
            <p:nvPr/>
          </p:nvSpPr>
          <p:spPr bwMode="auto">
            <a:xfrm>
              <a:off x="5860768" y="4623445"/>
              <a:ext cx="258252" cy="237210"/>
            </a:xfrm>
            <a:prstGeom prst="flowChartDelay">
              <a:avLst/>
            </a:prstGeom>
            <a:solidFill>
              <a:schemeClr val="bg2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521" name="AutoShape 26 3"/>
            <p:cNvSpPr>
              <a:spLocks noChangeArrowheads="1"/>
            </p:cNvSpPr>
            <p:nvPr/>
          </p:nvSpPr>
          <p:spPr bwMode="auto">
            <a:xfrm>
              <a:off x="5860768" y="3887905"/>
              <a:ext cx="258252" cy="236253"/>
            </a:xfrm>
            <a:prstGeom prst="flowChartDelay">
              <a:avLst/>
            </a:prstGeom>
            <a:solidFill>
              <a:schemeClr val="bg2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GB" dirty="0"/>
            </a:p>
          </p:txBody>
        </p:sp>
        <p:grpSp>
          <p:nvGrpSpPr>
            <p:cNvPr id="522" name="Group 521"/>
            <p:cNvGrpSpPr/>
            <p:nvPr/>
          </p:nvGrpSpPr>
          <p:grpSpPr>
            <a:xfrm>
              <a:off x="5878365" y="3894257"/>
              <a:ext cx="96166" cy="225887"/>
              <a:chOff x="10799919" y="2730734"/>
              <a:chExt cx="180000" cy="422808"/>
            </a:xfrm>
          </p:grpSpPr>
          <p:sp>
            <p:nvSpPr>
              <p:cNvPr id="550" name="Isosceles Triangle 549"/>
              <p:cNvSpPr/>
              <p:nvPr/>
            </p:nvSpPr>
            <p:spPr>
              <a:xfrm>
                <a:off x="10813708" y="2859773"/>
                <a:ext cx="152421" cy="179922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51" name="Straight Connector 550"/>
              <p:cNvCxnSpPr/>
              <p:nvPr/>
            </p:nvCxnSpPr>
            <p:spPr>
              <a:xfrm>
                <a:off x="10799919" y="2862056"/>
                <a:ext cx="18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2" name="Straight Connector 551"/>
              <p:cNvCxnSpPr/>
              <p:nvPr/>
            </p:nvCxnSpPr>
            <p:spPr>
              <a:xfrm rot="5400000">
                <a:off x="10678515" y="2940175"/>
                <a:ext cx="422808" cy="392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3" name="Group 522"/>
            <p:cNvGrpSpPr/>
            <p:nvPr/>
          </p:nvGrpSpPr>
          <p:grpSpPr>
            <a:xfrm>
              <a:off x="5875965" y="4629107"/>
              <a:ext cx="96166" cy="225887"/>
              <a:chOff x="10799919" y="2730734"/>
              <a:chExt cx="180000" cy="422808"/>
            </a:xfrm>
          </p:grpSpPr>
          <p:sp>
            <p:nvSpPr>
              <p:cNvPr id="547" name="Isosceles Triangle 546"/>
              <p:cNvSpPr/>
              <p:nvPr/>
            </p:nvSpPr>
            <p:spPr>
              <a:xfrm>
                <a:off x="10813708" y="2859773"/>
                <a:ext cx="152421" cy="179922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48" name="Straight Connector 547"/>
              <p:cNvCxnSpPr/>
              <p:nvPr/>
            </p:nvCxnSpPr>
            <p:spPr>
              <a:xfrm>
                <a:off x="10799919" y="2862056"/>
                <a:ext cx="18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" name="Straight Connector 548"/>
              <p:cNvCxnSpPr/>
              <p:nvPr/>
            </p:nvCxnSpPr>
            <p:spPr>
              <a:xfrm rot="5400000">
                <a:off x="10678515" y="2940175"/>
                <a:ext cx="422808" cy="392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4" name="Right Bracket 523"/>
            <p:cNvSpPr/>
            <p:nvPr/>
          </p:nvSpPr>
          <p:spPr>
            <a:xfrm>
              <a:off x="6117977" y="4011259"/>
              <a:ext cx="169626" cy="734849"/>
            </a:xfrm>
            <a:prstGeom prst="rightBracket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5" name="Oval 524"/>
            <p:cNvSpPr/>
            <p:nvPr/>
          </p:nvSpPr>
          <p:spPr>
            <a:xfrm>
              <a:off x="6179133" y="4296326"/>
              <a:ext cx="238027" cy="22381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6" name="Minus 525"/>
            <p:cNvSpPr/>
            <p:nvPr/>
          </p:nvSpPr>
          <p:spPr>
            <a:xfrm>
              <a:off x="6221670" y="4369167"/>
              <a:ext cx="153866" cy="79048"/>
            </a:xfrm>
            <a:prstGeom prst="mathMinu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7" name="CustomShape 2 1 2"/>
            <p:cNvSpPr/>
            <p:nvPr/>
          </p:nvSpPr>
          <p:spPr>
            <a:xfrm>
              <a:off x="3810105" y="2832331"/>
              <a:ext cx="489569" cy="3297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>
                <a:lnSpc>
                  <a:spcPct val="100000"/>
                </a:lnSpc>
              </a:pPr>
              <a:r>
                <a:rPr lang="en-US" sz="1800" smtClean="0">
                  <a:solidFill>
                    <a:srgbClr val="000000"/>
                  </a:solidFill>
                  <a:latin typeface="Arial"/>
                </a:rPr>
                <a:t>LO</a:t>
              </a:r>
              <a:endParaRPr sz="1800" dirty="0"/>
            </a:p>
          </p:txBody>
        </p:sp>
        <p:sp>
          <p:nvSpPr>
            <p:cNvPr id="528" name="CustomShape 2 1 3"/>
            <p:cNvSpPr/>
            <p:nvPr/>
          </p:nvSpPr>
          <p:spPr>
            <a:xfrm>
              <a:off x="3761144" y="3564496"/>
              <a:ext cx="489569" cy="3297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>
                <a:lnSpc>
                  <a:spcPct val="100000"/>
                </a:lnSpc>
              </a:pPr>
              <a:r>
                <a:rPr lang="en-US" sz="1800" smtClean="0">
                  <a:solidFill>
                    <a:srgbClr val="000000"/>
                  </a:solidFill>
                  <a:latin typeface="Arial"/>
                </a:rPr>
                <a:t>Sig</a:t>
              </a:r>
              <a:endParaRPr sz="1800" dirty="0"/>
            </a:p>
          </p:txBody>
        </p:sp>
        <p:sp>
          <p:nvSpPr>
            <p:cNvPr id="529" name="Rectangle 528"/>
            <p:cNvSpPr/>
            <p:nvPr/>
          </p:nvSpPr>
          <p:spPr>
            <a:xfrm>
              <a:off x="4525043" y="2736206"/>
              <a:ext cx="1116383" cy="2057965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0" name="Group 529"/>
            <p:cNvGrpSpPr/>
            <p:nvPr/>
          </p:nvGrpSpPr>
          <p:grpSpPr>
            <a:xfrm>
              <a:off x="5857940" y="2660915"/>
              <a:ext cx="258252" cy="236253"/>
              <a:chOff x="5857940" y="2660915"/>
              <a:chExt cx="258252" cy="236253"/>
            </a:xfrm>
          </p:grpSpPr>
          <p:sp>
            <p:nvSpPr>
              <p:cNvPr id="542" name="AutoShape 26 2"/>
              <p:cNvSpPr>
                <a:spLocks noChangeArrowheads="1"/>
              </p:cNvSpPr>
              <p:nvPr/>
            </p:nvSpPr>
            <p:spPr bwMode="auto">
              <a:xfrm>
                <a:off x="5857940" y="2660915"/>
                <a:ext cx="258252" cy="236253"/>
              </a:xfrm>
              <a:prstGeom prst="flowChartDelay">
                <a:avLst/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anchor="ctr"/>
              <a:lstStyle/>
              <a:p>
                <a:endParaRPr lang="en-GB" dirty="0"/>
              </a:p>
            </p:txBody>
          </p:sp>
          <p:grpSp>
            <p:nvGrpSpPr>
              <p:cNvPr id="543" name="Group 542"/>
              <p:cNvGrpSpPr/>
              <p:nvPr/>
            </p:nvGrpSpPr>
            <p:grpSpPr>
              <a:xfrm>
                <a:off x="5875537" y="2667267"/>
                <a:ext cx="96166" cy="225887"/>
                <a:chOff x="10799919" y="2730734"/>
                <a:chExt cx="180000" cy="422808"/>
              </a:xfrm>
            </p:grpSpPr>
            <p:sp>
              <p:nvSpPr>
                <p:cNvPr id="544" name="Isosceles Triangle 543"/>
                <p:cNvSpPr/>
                <p:nvPr/>
              </p:nvSpPr>
              <p:spPr>
                <a:xfrm>
                  <a:off x="10813708" y="2859773"/>
                  <a:ext cx="152421" cy="179922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45" name="Straight Connector 544"/>
                <p:cNvCxnSpPr/>
                <p:nvPr/>
              </p:nvCxnSpPr>
              <p:spPr>
                <a:xfrm>
                  <a:off x="10799919" y="2862056"/>
                  <a:ext cx="180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6" name="Straight Connector 545"/>
                <p:cNvCxnSpPr/>
                <p:nvPr/>
              </p:nvCxnSpPr>
              <p:spPr>
                <a:xfrm rot="5400000">
                  <a:off x="10678515" y="2940175"/>
                  <a:ext cx="422808" cy="392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31" name="Group 530"/>
            <p:cNvGrpSpPr/>
            <p:nvPr/>
          </p:nvGrpSpPr>
          <p:grpSpPr>
            <a:xfrm>
              <a:off x="5857940" y="3396455"/>
              <a:ext cx="258252" cy="237210"/>
              <a:chOff x="5857940" y="3396455"/>
              <a:chExt cx="258252" cy="237210"/>
            </a:xfrm>
          </p:grpSpPr>
          <p:sp>
            <p:nvSpPr>
              <p:cNvPr id="537" name="AutoShape 25 2"/>
              <p:cNvSpPr>
                <a:spLocks noChangeArrowheads="1"/>
              </p:cNvSpPr>
              <p:nvPr/>
            </p:nvSpPr>
            <p:spPr bwMode="auto">
              <a:xfrm>
                <a:off x="5857940" y="3396455"/>
                <a:ext cx="258252" cy="237210"/>
              </a:xfrm>
              <a:prstGeom prst="flowChartDelay">
                <a:avLst/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anchor="ctr"/>
              <a:lstStyle/>
              <a:p>
                <a:endParaRPr lang="en-GB" dirty="0"/>
              </a:p>
            </p:txBody>
          </p:sp>
          <p:grpSp>
            <p:nvGrpSpPr>
              <p:cNvPr id="538" name="Group 537"/>
              <p:cNvGrpSpPr/>
              <p:nvPr/>
            </p:nvGrpSpPr>
            <p:grpSpPr>
              <a:xfrm>
                <a:off x="5873137" y="3402117"/>
                <a:ext cx="96166" cy="225887"/>
                <a:chOff x="10799919" y="2730734"/>
                <a:chExt cx="180000" cy="422808"/>
              </a:xfrm>
            </p:grpSpPr>
            <p:sp>
              <p:nvSpPr>
                <p:cNvPr id="539" name="Isosceles Triangle 538"/>
                <p:cNvSpPr/>
                <p:nvPr/>
              </p:nvSpPr>
              <p:spPr>
                <a:xfrm>
                  <a:off x="10813708" y="2859773"/>
                  <a:ext cx="152421" cy="179922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40" name="Straight Connector 539"/>
                <p:cNvCxnSpPr/>
                <p:nvPr/>
              </p:nvCxnSpPr>
              <p:spPr>
                <a:xfrm>
                  <a:off x="10799919" y="2862056"/>
                  <a:ext cx="180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" name="Straight Connector 540"/>
                <p:cNvCxnSpPr/>
                <p:nvPr/>
              </p:nvCxnSpPr>
              <p:spPr>
                <a:xfrm rot="5400000">
                  <a:off x="10678515" y="2940175"/>
                  <a:ext cx="422808" cy="392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32" name="CustomShape 2 1 2"/>
            <p:cNvSpPr/>
            <p:nvPr/>
          </p:nvSpPr>
          <p:spPr>
            <a:xfrm>
              <a:off x="4642529" y="3227169"/>
              <a:ext cx="897918" cy="10614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>
                <a:lnSpc>
                  <a:spcPct val="100000"/>
                </a:lnSpc>
              </a:pPr>
              <a:r>
                <a:rPr lang="en-US" sz="1800" smtClean="0">
                  <a:solidFill>
                    <a:schemeClr val="bg1"/>
                  </a:solidFill>
                  <a:latin typeface="Arial"/>
                </a:rPr>
                <a:t>90 deg</a:t>
              </a:r>
            </a:p>
            <a:p>
              <a:pPr>
                <a:lnSpc>
                  <a:spcPct val="100000"/>
                </a:lnSpc>
              </a:pPr>
              <a:r>
                <a:rPr lang="en-US" sz="1800" smtClean="0">
                  <a:solidFill>
                    <a:schemeClr val="bg1"/>
                  </a:solidFill>
                  <a:latin typeface="Arial"/>
                </a:rPr>
                <a:t>optical</a:t>
              </a:r>
            </a:p>
            <a:p>
              <a:pPr>
                <a:lnSpc>
                  <a:spcPct val="100000"/>
                </a:lnSpc>
              </a:pPr>
              <a:r>
                <a:rPr lang="en-US" sz="1800" smtClean="0">
                  <a:solidFill>
                    <a:schemeClr val="bg1"/>
                  </a:solidFill>
                  <a:latin typeface="Arial"/>
                </a:rPr>
                <a:t>hybrid</a:t>
              </a:r>
              <a:endParaRPr sz="1800" dirty="0">
                <a:solidFill>
                  <a:schemeClr val="bg1"/>
                </a:solidFill>
              </a:endParaRPr>
            </a:p>
          </p:txBody>
        </p:sp>
        <p:sp>
          <p:nvSpPr>
            <p:cNvPr id="533" name="Rectangle 532"/>
            <p:cNvSpPr/>
            <p:nvPr/>
          </p:nvSpPr>
          <p:spPr>
            <a:xfrm>
              <a:off x="6660767" y="2714021"/>
              <a:ext cx="1362677" cy="205796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4" name="CustomShape 2 1 2"/>
            <p:cNvSpPr/>
            <p:nvPr/>
          </p:nvSpPr>
          <p:spPr>
            <a:xfrm>
              <a:off x="6700434" y="3042005"/>
              <a:ext cx="1241358" cy="130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>
                <a:lnSpc>
                  <a:spcPct val="100000"/>
                </a:lnSpc>
              </a:pPr>
              <a:r>
                <a:rPr lang="en-US" sz="1800" smtClean="0">
                  <a:solidFill>
                    <a:schemeClr val="bg1"/>
                  </a:solidFill>
                  <a:latin typeface="Arial"/>
                </a:rPr>
                <a:t>Relatively </a:t>
              </a:r>
            </a:p>
            <a:p>
              <a:pPr>
                <a:lnSpc>
                  <a:spcPct val="100000"/>
                </a:lnSpc>
              </a:pPr>
              <a:r>
                <a:rPr lang="en-US" sz="1800" smtClean="0">
                  <a:solidFill>
                    <a:schemeClr val="bg1"/>
                  </a:solidFill>
                  <a:latin typeface="Arial"/>
                </a:rPr>
                <a:t>simple</a:t>
              </a:r>
            </a:p>
            <a:p>
              <a:pPr>
                <a:lnSpc>
                  <a:spcPct val="100000"/>
                </a:lnSpc>
              </a:pPr>
              <a:r>
                <a:rPr lang="en-US" sz="1800" smtClean="0">
                  <a:solidFill>
                    <a:schemeClr val="bg1"/>
                  </a:solidFill>
                  <a:latin typeface="Arial"/>
                </a:rPr>
                <a:t>analog </a:t>
              </a:r>
            </a:p>
            <a:p>
              <a:pPr>
                <a:lnSpc>
                  <a:spcPct val="100000"/>
                </a:lnSpc>
              </a:pPr>
              <a:r>
                <a:rPr lang="en-US" sz="1800" smtClean="0">
                  <a:solidFill>
                    <a:schemeClr val="bg1"/>
                  </a:solidFill>
                  <a:latin typeface="Arial"/>
                </a:rPr>
                <a:t>e</a:t>
              </a:r>
              <a:r>
                <a:rPr lang="en-US" sz="1800" smtClean="0">
                  <a:solidFill>
                    <a:schemeClr val="bg1"/>
                  </a:solidFill>
                  <a:latin typeface="Arial"/>
                </a:rPr>
                <a:t>lectronics</a:t>
              </a:r>
            </a:p>
            <a:p>
              <a:pPr>
                <a:lnSpc>
                  <a:spcPct val="100000"/>
                </a:lnSpc>
              </a:pPr>
              <a:r>
                <a:rPr lang="en-US" sz="1800">
                  <a:solidFill>
                    <a:schemeClr val="bg1"/>
                  </a:solidFill>
                  <a:latin typeface="Arial"/>
                </a:rPr>
                <a:t>p</a:t>
              </a:r>
              <a:r>
                <a:rPr lang="en-US" sz="1800" smtClean="0">
                  <a:solidFill>
                    <a:schemeClr val="bg1"/>
                  </a:solidFill>
                  <a:latin typeface="Arial"/>
                </a:rPr>
                <a:t>rocessing</a:t>
              </a:r>
              <a:endParaRPr sz="1800" dirty="0">
                <a:solidFill>
                  <a:schemeClr val="bg1"/>
                </a:solidFill>
              </a:endParaRPr>
            </a:p>
          </p:txBody>
        </p:sp>
        <p:sp>
          <p:nvSpPr>
            <p:cNvPr id="535" name="Right Arrow 534"/>
            <p:cNvSpPr/>
            <p:nvPr/>
          </p:nvSpPr>
          <p:spPr>
            <a:xfrm flipV="1">
              <a:off x="6412375" y="3151693"/>
              <a:ext cx="240539" cy="5463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6" name="Right Arrow 535"/>
            <p:cNvSpPr/>
            <p:nvPr/>
          </p:nvSpPr>
          <p:spPr>
            <a:xfrm flipV="1">
              <a:off x="6410940" y="4378683"/>
              <a:ext cx="240539" cy="5463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14566565" y="13700919"/>
            <a:ext cx="4377072" cy="1858149"/>
            <a:chOff x="14033165" y="14278428"/>
            <a:chExt cx="4377072" cy="1858149"/>
          </a:xfrm>
        </p:grpSpPr>
        <p:grpSp>
          <p:nvGrpSpPr>
            <p:cNvPr id="47" name="Group 46"/>
            <p:cNvGrpSpPr/>
            <p:nvPr/>
          </p:nvGrpSpPr>
          <p:grpSpPr>
            <a:xfrm>
              <a:off x="16639140" y="14310519"/>
              <a:ext cx="1771097" cy="1826058"/>
              <a:chOff x="16933401" y="15137906"/>
              <a:chExt cx="1771097" cy="1826058"/>
            </a:xfrm>
          </p:grpSpPr>
          <p:sp>
            <p:nvSpPr>
              <p:cNvPr id="580" name="Rectangle 579"/>
              <p:cNvSpPr/>
              <p:nvPr/>
            </p:nvSpPr>
            <p:spPr>
              <a:xfrm>
                <a:off x="16933401" y="15137906"/>
                <a:ext cx="1771097" cy="1826058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1" name="CustomShape 2 1 2"/>
              <p:cNvSpPr/>
              <p:nvPr/>
            </p:nvSpPr>
            <p:spPr>
              <a:xfrm>
                <a:off x="16957066" y="15386931"/>
                <a:ext cx="1638439" cy="1503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5000" rIns="90000" bIns="45000"/>
              <a:lstStyle/>
              <a:p>
                <a:pPr>
                  <a:lnSpc>
                    <a:spcPct val="100000"/>
                  </a:lnSpc>
                </a:pPr>
                <a:r>
                  <a:rPr lang="en-US" sz="1800" smtClean="0">
                    <a:solidFill>
                      <a:schemeClr val="bg1"/>
                    </a:solidFill>
                    <a:latin typeface="Arial"/>
                  </a:rPr>
                  <a:t>Rather complex</a:t>
                </a:r>
                <a:endParaRPr lang="en-US" sz="1800" smtClean="0">
                  <a:solidFill>
                    <a:schemeClr val="bg1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1800" smtClean="0">
                    <a:solidFill>
                      <a:schemeClr val="bg1"/>
                    </a:solidFill>
                    <a:latin typeface="Arial"/>
                  </a:rPr>
                  <a:t>digital + analog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800" smtClean="0">
                    <a:solidFill>
                      <a:schemeClr val="bg1"/>
                    </a:solidFill>
                    <a:latin typeface="Arial"/>
                  </a:rPr>
                  <a:t>e</a:t>
                </a:r>
                <a:r>
                  <a:rPr lang="en-US" sz="1800" smtClean="0">
                    <a:solidFill>
                      <a:schemeClr val="bg1"/>
                    </a:solidFill>
                    <a:latin typeface="Arial"/>
                  </a:rPr>
                  <a:t>lectronics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800" smtClean="0">
                    <a:solidFill>
                      <a:schemeClr val="bg1"/>
                    </a:solidFill>
                    <a:latin typeface="Arial"/>
                  </a:rPr>
                  <a:t>processing</a:t>
                </a: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14033165" y="14278428"/>
              <a:ext cx="2562529" cy="1745973"/>
              <a:chOff x="14298715" y="13577035"/>
              <a:chExt cx="2562529" cy="1745973"/>
            </a:xfrm>
          </p:grpSpPr>
          <p:sp>
            <p:nvSpPr>
              <p:cNvPr id="563" name="Right Bracket 562"/>
              <p:cNvSpPr/>
              <p:nvPr/>
            </p:nvSpPr>
            <p:spPr>
              <a:xfrm>
                <a:off x="16380795" y="13688918"/>
                <a:ext cx="106976" cy="1543464"/>
              </a:xfrm>
              <a:prstGeom prst="rightBracke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4" name="Oval 563"/>
              <p:cNvSpPr/>
              <p:nvPr/>
            </p:nvSpPr>
            <p:spPr>
              <a:xfrm>
                <a:off x="16384635" y="14261943"/>
                <a:ext cx="238027" cy="22381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5" name="Minus 564"/>
              <p:cNvSpPr/>
              <p:nvPr/>
            </p:nvSpPr>
            <p:spPr>
              <a:xfrm>
                <a:off x="16427172" y="14334784"/>
                <a:ext cx="153866" cy="79048"/>
              </a:xfrm>
              <a:prstGeom prst="mathMinus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4" name="CustomShape 2 1 2"/>
              <p:cNvSpPr/>
              <p:nvPr/>
            </p:nvSpPr>
            <p:spPr>
              <a:xfrm>
                <a:off x="14339268" y="13651637"/>
                <a:ext cx="489569" cy="3297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5000" rIns="90000" bIns="45000"/>
              <a:lstStyle/>
              <a:p>
                <a:pPr>
                  <a:lnSpc>
                    <a:spcPct val="100000"/>
                  </a:lnSpc>
                </a:pPr>
                <a:r>
                  <a:rPr lang="en-US" sz="1800" smtClean="0">
                    <a:solidFill>
                      <a:srgbClr val="000000"/>
                    </a:solidFill>
                    <a:latin typeface="Arial"/>
                  </a:rPr>
                  <a:t>LO</a:t>
                </a:r>
                <a:endParaRPr sz="1800" dirty="0"/>
              </a:p>
            </p:txBody>
          </p:sp>
          <p:sp>
            <p:nvSpPr>
              <p:cNvPr id="575" name="CustomShape 2 1 3"/>
              <p:cNvSpPr/>
              <p:nvPr/>
            </p:nvSpPr>
            <p:spPr>
              <a:xfrm>
                <a:off x="14298715" y="14859203"/>
                <a:ext cx="489569" cy="3297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5000" rIns="90000" bIns="45000"/>
              <a:lstStyle/>
              <a:p>
                <a:pPr>
                  <a:lnSpc>
                    <a:spcPct val="100000"/>
                  </a:lnSpc>
                </a:pPr>
                <a:r>
                  <a:rPr lang="en-US" sz="1800" smtClean="0">
                    <a:solidFill>
                      <a:srgbClr val="000000"/>
                    </a:solidFill>
                    <a:latin typeface="Arial"/>
                  </a:rPr>
                  <a:t>Sig</a:t>
                </a:r>
                <a:endParaRPr sz="1800" dirty="0"/>
              </a:p>
            </p:txBody>
          </p:sp>
          <p:grpSp>
            <p:nvGrpSpPr>
              <p:cNvPr id="577" name="Group 576"/>
              <p:cNvGrpSpPr/>
              <p:nvPr/>
            </p:nvGrpSpPr>
            <p:grpSpPr>
              <a:xfrm>
                <a:off x="16105680" y="15086755"/>
                <a:ext cx="258252" cy="236253"/>
                <a:chOff x="5857940" y="2660915"/>
                <a:chExt cx="258252" cy="236253"/>
              </a:xfrm>
            </p:grpSpPr>
            <p:sp>
              <p:nvSpPr>
                <p:cNvPr id="589" name="AutoShape 26 2"/>
                <p:cNvSpPr>
                  <a:spLocks noChangeArrowheads="1"/>
                </p:cNvSpPr>
                <p:nvPr/>
              </p:nvSpPr>
              <p:spPr bwMode="auto">
                <a:xfrm>
                  <a:off x="5857940" y="2660915"/>
                  <a:ext cx="258252" cy="236253"/>
                </a:xfrm>
                <a:prstGeom prst="flowChartDelay">
                  <a:avLst/>
                </a:prstGeom>
                <a:solidFill>
                  <a:schemeClr val="bg2">
                    <a:lumMod val="9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/>
              </p:spPr>
              <p:txBody>
                <a:bodyPr wrap="none" anchor="ctr"/>
                <a:lstStyle/>
                <a:p>
                  <a:endParaRPr lang="en-GB" dirty="0"/>
                </a:p>
              </p:txBody>
            </p:sp>
            <p:grpSp>
              <p:nvGrpSpPr>
                <p:cNvPr id="590" name="Group 589"/>
                <p:cNvGrpSpPr/>
                <p:nvPr/>
              </p:nvGrpSpPr>
              <p:grpSpPr>
                <a:xfrm>
                  <a:off x="5875537" y="2667267"/>
                  <a:ext cx="96166" cy="225887"/>
                  <a:chOff x="10799919" y="2730734"/>
                  <a:chExt cx="180000" cy="422808"/>
                </a:xfrm>
              </p:grpSpPr>
              <p:sp>
                <p:nvSpPr>
                  <p:cNvPr id="591" name="Isosceles Triangle 590"/>
                  <p:cNvSpPr/>
                  <p:nvPr/>
                </p:nvSpPr>
                <p:spPr>
                  <a:xfrm>
                    <a:off x="10813708" y="2859773"/>
                    <a:ext cx="152421" cy="179922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592" name="Straight Connector 591"/>
                  <p:cNvCxnSpPr/>
                  <p:nvPr/>
                </p:nvCxnSpPr>
                <p:spPr>
                  <a:xfrm>
                    <a:off x="10799919" y="2862056"/>
                    <a:ext cx="18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3" name="Straight Connector 592"/>
                  <p:cNvCxnSpPr/>
                  <p:nvPr/>
                </p:nvCxnSpPr>
                <p:spPr>
                  <a:xfrm rot="5400000">
                    <a:off x="10678515" y="2940175"/>
                    <a:ext cx="422808" cy="392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578" name="Group 577"/>
              <p:cNvGrpSpPr/>
              <p:nvPr/>
            </p:nvGrpSpPr>
            <p:grpSpPr>
              <a:xfrm>
                <a:off x="16106209" y="13577035"/>
                <a:ext cx="258252" cy="237210"/>
                <a:chOff x="5857940" y="3396455"/>
                <a:chExt cx="258252" cy="237210"/>
              </a:xfrm>
            </p:grpSpPr>
            <p:sp>
              <p:nvSpPr>
                <p:cNvPr id="584" name="AutoShape 25 2"/>
                <p:cNvSpPr>
                  <a:spLocks noChangeArrowheads="1"/>
                </p:cNvSpPr>
                <p:nvPr/>
              </p:nvSpPr>
              <p:spPr bwMode="auto">
                <a:xfrm>
                  <a:off x="5857940" y="3396455"/>
                  <a:ext cx="258252" cy="237210"/>
                </a:xfrm>
                <a:prstGeom prst="flowChartDelay">
                  <a:avLst/>
                </a:prstGeom>
                <a:solidFill>
                  <a:schemeClr val="bg2">
                    <a:lumMod val="9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/>
              </p:spPr>
              <p:txBody>
                <a:bodyPr wrap="none" anchor="ctr"/>
                <a:lstStyle/>
                <a:p>
                  <a:endParaRPr lang="en-GB" dirty="0"/>
                </a:p>
              </p:txBody>
            </p:sp>
            <p:grpSp>
              <p:nvGrpSpPr>
                <p:cNvPr id="585" name="Group 584"/>
                <p:cNvGrpSpPr/>
                <p:nvPr/>
              </p:nvGrpSpPr>
              <p:grpSpPr>
                <a:xfrm>
                  <a:off x="5873137" y="3402117"/>
                  <a:ext cx="96166" cy="225887"/>
                  <a:chOff x="10799919" y="2730734"/>
                  <a:chExt cx="180000" cy="422808"/>
                </a:xfrm>
              </p:grpSpPr>
              <p:sp>
                <p:nvSpPr>
                  <p:cNvPr id="586" name="Isosceles Triangle 585"/>
                  <p:cNvSpPr/>
                  <p:nvPr/>
                </p:nvSpPr>
                <p:spPr>
                  <a:xfrm>
                    <a:off x="10813708" y="2859773"/>
                    <a:ext cx="152421" cy="179922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587" name="Straight Connector 586"/>
                  <p:cNvCxnSpPr/>
                  <p:nvPr/>
                </p:nvCxnSpPr>
                <p:spPr>
                  <a:xfrm>
                    <a:off x="10799919" y="2862056"/>
                    <a:ext cx="18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8" name="Straight Connector 587"/>
                  <p:cNvCxnSpPr/>
                  <p:nvPr/>
                </p:nvCxnSpPr>
                <p:spPr>
                  <a:xfrm rot="5400000">
                    <a:off x="10678515" y="2940175"/>
                    <a:ext cx="422808" cy="392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582" name="Right Arrow 581"/>
              <p:cNvSpPr/>
              <p:nvPr/>
            </p:nvSpPr>
            <p:spPr>
              <a:xfrm flipV="1">
                <a:off x="16620705" y="14344300"/>
                <a:ext cx="240539" cy="5463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06" name="Group 605"/>
              <p:cNvGrpSpPr/>
              <p:nvPr/>
            </p:nvGrpSpPr>
            <p:grpSpPr>
              <a:xfrm>
                <a:off x="15502920" y="13690862"/>
                <a:ext cx="602760" cy="1522566"/>
                <a:chOff x="5522862" y="2857986"/>
                <a:chExt cx="1069975" cy="1225550"/>
              </a:xfrm>
            </p:grpSpPr>
            <p:cxnSp>
              <p:nvCxnSpPr>
                <p:cNvPr id="607" name="AutoShape 12 3"/>
                <p:cNvCxnSpPr>
                  <a:cxnSpLocks noChangeShapeType="1"/>
                </p:cNvCxnSpPr>
                <p:nvPr/>
              </p:nvCxnSpPr>
              <p:spPr bwMode="auto">
                <a:xfrm flipV="1">
                  <a:off x="5522862" y="2857986"/>
                  <a:ext cx="1069975" cy="611188"/>
                </a:xfrm>
                <a:prstGeom prst="curvedConnector3">
                  <a:avLst>
                    <a:gd name="adj1" fmla="val 65833"/>
                  </a:avLst>
                </a:prstGeom>
                <a:noFill/>
                <a:ln w="3175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608" name="AutoShape 16 3"/>
                <p:cNvCxnSpPr>
                  <a:cxnSpLocks noChangeShapeType="1"/>
                </p:cNvCxnSpPr>
                <p:nvPr/>
              </p:nvCxnSpPr>
              <p:spPr bwMode="auto">
                <a:xfrm>
                  <a:off x="5522862" y="3448536"/>
                  <a:ext cx="1069975" cy="635000"/>
                </a:xfrm>
                <a:prstGeom prst="curvedConnector3">
                  <a:avLst>
                    <a:gd name="adj1" fmla="val 69167"/>
                  </a:avLst>
                </a:prstGeom>
                <a:noFill/>
                <a:ln w="3175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609" name="Group 608"/>
              <p:cNvGrpSpPr/>
              <p:nvPr/>
            </p:nvGrpSpPr>
            <p:grpSpPr>
              <a:xfrm>
                <a:off x="14735150" y="13690800"/>
                <a:ext cx="892356" cy="1522566"/>
                <a:chOff x="5522862" y="2857986"/>
                <a:chExt cx="1069975" cy="1225550"/>
              </a:xfrm>
              <a:scene3d>
                <a:camera prst="orthographicFront">
                  <a:rot lat="0" lon="10800000" rev="0"/>
                </a:camera>
                <a:lightRig rig="threePt" dir="t"/>
              </a:scene3d>
            </p:grpSpPr>
            <p:cxnSp>
              <p:nvCxnSpPr>
                <p:cNvPr id="610" name="AutoShape 12 3"/>
                <p:cNvCxnSpPr>
                  <a:cxnSpLocks noChangeShapeType="1"/>
                </p:cNvCxnSpPr>
                <p:nvPr/>
              </p:nvCxnSpPr>
              <p:spPr bwMode="auto">
                <a:xfrm flipV="1">
                  <a:off x="5522862" y="2857986"/>
                  <a:ext cx="1069975" cy="611188"/>
                </a:xfrm>
                <a:prstGeom prst="curvedConnector3">
                  <a:avLst>
                    <a:gd name="adj1" fmla="val 65833"/>
                  </a:avLst>
                </a:prstGeom>
                <a:noFill/>
                <a:ln w="3175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611" name="AutoShape 16 3"/>
                <p:cNvCxnSpPr>
                  <a:cxnSpLocks noChangeShapeType="1"/>
                </p:cNvCxnSpPr>
                <p:nvPr/>
              </p:nvCxnSpPr>
              <p:spPr bwMode="auto">
                <a:xfrm>
                  <a:off x="5522862" y="3448536"/>
                  <a:ext cx="1069975" cy="635000"/>
                </a:xfrm>
                <a:prstGeom prst="curvedConnector3">
                  <a:avLst>
                    <a:gd name="adj1" fmla="val 69167"/>
                  </a:avLst>
                </a:prstGeom>
                <a:noFill/>
                <a:ln w="3175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41" name="Rectangle 40"/>
              <p:cNvSpPr/>
              <p:nvPr/>
            </p:nvSpPr>
            <p:spPr>
              <a:xfrm>
                <a:off x="15308267" y="14371617"/>
                <a:ext cx="426417" cy="12979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612" name="TextBox 611"/>
          <p:cNvSpPr txBox="1"/>
          <p:nvPr/>
        </p:nvSpPr>
        <p:spPr>
          <a:xfrm>
            <a:off x="8812056" y="15834519"/>
            <a:ext cx="55595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400" smtClean="0">
                <a:solidFill>
                  <a:srgbClr val="00B050"/>
                </a:solidFill>
              </a:rPr>
              <a:t>Info of signal directly in baseband therefore s</a:t>
            </a:r>
            <a:r>
              <a:rPr lang="en-US" sz="2400" smtClean="0">
                <a:solidFill>
                  <a:srgbClr val="00B050"/>
                </a:solidFill>
              </a:rPr>
              <a:t>imple electronics.</a:t>
            </a:r>
            <a:endParaRPr lang="en-US" sz="2400" dirty="0" smtClean="0">
              <a:solidFill>
                <a:srgbClr val="00B050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400" smtClean="0">
                <a:solidFill>
                  <a:srgbClr val="FF0000"/>
                </a:solidFill>
              </a:rPr>
              <a:t>Expensive (1 hybrid + 1 extra detector).</a:t>
            </a:r>
          </a:p>
          <a:p>
            <a:pPr marL="342900" indent="-342900">
              <a:buFontTx/>
              <a:buChar char="-"/>
            </a:pPr>
            <a:r>
              <a:rPr lang="en-US" sz="2400" smtClean="0">
                <a:solidFill>
                  <a:srgbClr val="FF0000"/>
                </a:solidFill>
              </a:rPr>
              <a:t>Not so suitable when LO and qSig frequencies are detuned (</a:t>
            </a:r>
            <a:r>
              <a:rPr lang="el-GR" sz="2400" smtClean="0">
                <a:solidFill>
                  <a:srgbClr val="FF0000"/>
                </a:solidFill>
              </a:rPr>
              <a:t>Ω</a:t>
            </a:r>
            <a:r>
              <a:rPr lang="el-GR" sz="2400" baseline="-250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4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≠ 0).</a:t>
            </a:r>
            <a:endParaRPr lang="en-US" sz="2400" dirty="0" smtClean="0">
              <a:solidFill>
                <a:srgbClr val="FF0000"/>
              </a:solidFill>
            </a:endParaRPr>
          </a:p>
        </p:txBody>
      </p:sp>
      <p:sp>
        <p:nvSpPr>
          <p:cNvPr id="613" name="TextBox 612"/>
          <p:cNvSpPr txBox="1"/>
          <p:nvPr/>
        </p:nvSpPr>
        <p:spPr>
          <a:xfrm>
            <a:off x="14198631" y="15796461"/>
            <a:ext cx="48212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400" smtClean="0">
                <a:solidFill>
                  <a:srgbClr val="FF0000"/>
                </a:solidFill>
              </a:rPr>
              <a:t>Complex electronics requiring downconversion etc.</a:t>
            </a:r>
            <a:endParaRPr lang="en-US" sz="2400" dirty="0" smtClean="0">
              <a:solidFill>
                <a:srgbClr val="FF0000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400" smtClean="0">
                <a:solidFill>
                  <a:srgbClr val="00B050"/>
                </a:solidFill>
              </a:rPr>
              <a:t>Less sensitive to deviations of parameters, such as splitting ratio. </a:t>
            </a:r>
          </a:p>
          <a:p>
            <a:pPr marL="342900" indent="-342900">
              <a:buFontTx/>
              <a:buChar char="-"/>
            </a:pPr>
            <a:r>
              <a:rPr lang="en-US" sz="2400" smtClean="0">
                <a:solidFill>
                  <a:srgbClr val="00B050"/>
                </a:solidFill>
              </a:rPr>
              <a:t>Classically well-studied problem.</a:t>
            </a:r>
            <a:endParaRPr lang="en-US" sz="2400" dirty="0" smtClean="0">
              <a:solidFill>
                <a:srgbClr val="00B050"/>
              </a:solidFill>
            </a:endParaRPr>
          </a:p>
        </p:txBody>
      </p:sp>
      <p:sp>
        <p:nvSpPr>
          <p:cNvPr id="615" name="CustomShape 18 2 2"/>
          <p:cNvSpPr/>
          <p:nvPr/>
        </p:nvSpPr>
        <p:spPr>
          <a:xfrm rot="16200000">
            <a:off x="7457188" y="14138369"/>
            <a:ext cx="3000309" cy="449011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i="1" kern="0" smtClean="0">
                <a:solidFill>
                  <a:srgbClr val="000000"/>
                </a:solidFill>
                <a:latin typeface="Arial"/>
              </a:rPr>
              <a:t>Dual homodyne setup</a:t>
            </a:r>
            <a:endParaRPr kumimoji="0" lang="en-US" sz="2000" b="0" i="1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616" name="CustomShape 18 2 2"/>
          <p:cNvSpPr/>
          <p:nvPr/>
        </p:nvSpPr>
        <p:spPr>
          <a:xfrm rot="16200000">
            <a:off x="12791189" y="13833569"/>
            <a:ext cx="3000309" cy="449011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i="1" kern="0" smtClean="0">
                <a:solidFill>
                  <a:srgbClr val="000000"/>
                </a:solidFill>
                <a:latin typeface="Arial"/>
              </a:rPr>
              <a:t>Heterodyne setup</a:t>
            </a:r>
            <a:endParaRPr kumimoji="0" lang="en-US" sz="2000" b="0" i="1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5220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3426.478"/>
  <p:tag name="LATEXADDIN" val="\documentclass{article}&#10;\usepackage{amsmath}&#10;\pagestyle{empty}&#10;\begin{document}&#10;&#10;\begin{equation*}&#10;I(t) \propto \cos \left[\alpha V_{AM}(t) + \varphi(t) \right] \cos \left[\Omega_{\Delta}(t) t + \beta V_{PM}(t) + \theta(t) \right], \text{with}&#10;\end{equation*}&#10;&#10;\end{document}"/>
  <p:tag name="IGUANATEXSIZE" val="20"/>
  <p:tag name="IGUANATEXCURSOR" val="243"/>
  <p:tag name="TRANSPARENCY" val="True"/>
  <p:tag name="FILENAME" val=""/>
  <p:tag name="LATEXENGINEID" val="1"/>
  <p:tag name="TEMPFOLDER" val=".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5.406"/>
  <p:tag name="ORIGINALWIDTH" val="3154.94"/>
  <p:tag name="LATEXADDIN" val="\documentclass{article}&#10;\usepackage{amsmath}&#10;\pagestyle{empty}&#10;\begin{document}&#10;&#10;\begin{itemize} &#10;\item $V_{AM/PM}(t)$ is the amplitude/phase modulation voltage, &#10;\item $\Omega_{\Delta}(t)$ is the detuning between LO and $Sig$,&#10;\item $\varphi(t)$ represents the DC bias on the AM, &#10;\item $\theta(t)$ captures the overall phase noise,&#10;\item $\alpha$ and $\beta$ are scaling constants. &#10;\end{itemize} %enumerate&#10;&#10;\end{document}"/>
  <p:tag name="IGUANATEXSIZE" val="20"/>
  <p:tag name="IGUANATEXCURSOR" val="80"/>
  <p:tag name="TRANSPARENCY" val="True"/>
  <p:tag name="FILENAME" val=""/>
  <p:tag name="LATEXENGINEID" val="1"/>
  <p:tag name="TEMPFOLDER" val=".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2863.9"/>
  <p:tag name="LATEXADDIN" val="\documentclass{article}&#10;\usepackage{amsmath}&#10;\pagestyle{empty}&#10;\begin{document}&#10;&#10;\begin{equation*}&#10;I(t) \propto \left(1 + \alpha V_{AM}(t) \right) \left( \cos \left[\Omega_{\Delta} t \right] - \beta V_{PM}(t) \sin \left[\Omega_{\Delta} t \right] \right) &#10;\end{equation*}&#10;&#10;\end{document}"/>
  <p:tag name="IGUANATEXSIZE" val="20"/>
  <p:tag name="IGUANATEXCURSOR" val="209"/>
  <p:tag name="TRANSPARENCY" val="True"/>
  <p:tag name="FILENAME" val=""/>
  <p:tag name="LATEXENGINEID" val="1"/>
  <p:tag name="TEMPFOLDER" val=".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3459</TotalTime>
  <Words>855</Words>
  <Application>Microsoft Office PowerPoint</Application>
  <PresentationFormat>Custom</PresentationFormat>
  <Paragraphs>158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Georgia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Sepehr Ahmadi</dc:creator>
  <cp:lastModifiedBy>Nitin Jain</cp:lastModifiedBy>
  <cp:revision>264</cp:revision>
  <cp:lastPrinted>2015-06-04T15:11:14Z</cp:lastPrinted>
  <dcterms:created xsi:type="dcterms:W3CDTF">2006-08-16T00:00:00Z</dcterms:created>
  <dcterms:modified xsi:type="dcterms:W3CDTF">2017-09-15T13:25:33Z</dcterms:modified>
</cp:coreProperties>
</file>