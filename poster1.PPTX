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30267275" cy="42794238"/>
  <p:notesSz cx="7010400" cy="9296400"/>
  <p:defaultTextStyle>
    <a:defPPr>
      <a:defRPr lang="en-US"/>
    </a:defPPr>
    <a:lvl1pPr marL="0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2363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64726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47088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29454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11817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494180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576543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658905" algn="l" defTabSz="4164726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479">
          <p15:clr>
            <a:srgbClr val="A4A3A4"/>
          </p15:clr>
        </p15:guide>
        <p15:guide id="2" pos="953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602" autoAdjust="0"/>
    <p:restoredTop sz="94660"/>
  </p:normalViewPr>
  <p:slideViewPr>
    <p:cSldViewPr>
      <p:cViewPr>
        <p:scale>
          <a:sx n="50" d="100"/>
          <a:sy n="50" d="100"/>
        </p:scale>
        <p:origin x="2730" y="-4800"/>
      </p:cViewPr>
      <p:guideLst>
        <p:guide orient="horz" pos="13479"/>
        <p:guide pos="9533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046" y="13293959"/>
            <a:ext cx="25727184" cy="9173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0091" y="24250070"/>
            <a:ext cx="21187093" cy="1093630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082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165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2478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330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4130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495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457829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66609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3429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0762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905" y="27499265"/>
            <a:ext cx="25727184" cy="8499411"/>
          </a:xfrm>
        </p:spPr>
        <p:txBody>
          <a:bodyPr anchor="t"/>
          <a:lstStyle>
            <a:lvl1pPr algn="l">
              <a:defRPr sz="18200" b="1" cap="all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905" y="18138032"/>
            <a:ext cx="25727184" cy="9361235"/>
          </a:xfrm>
        </p:spPr>
        <p:txBody>
          <a:bodyPr anchor="b"/>
          <a:lstStyle>
            <a:lvl1pPr marL="0" indent="0">
              <a:buNone/>
              <a:defRPr sz="9200">
                <a:solidFill>
                  <a:schemeClr val="tx1">
                    <a:tint val="75000"/>
                  </a:schemeClr>
                </a:solidFill>
              </a:defRPr>
            </a:lvl1pPr>
            <a:lvl2pPr marL="2082613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4165227" indent="0">
              <a:buNone/>
              <a:defRPr sz="7200">
                <a:solidFill>
                  <a:schemeClr val="tx1">
                    <a:tint val="75000"/>
                  </a:schemeClr>
                </a:solidFill>
              </a:defRPr>
            </a:lvl3pPr>
            <a:lvl4pPr marL="6247839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4pPr>
            <a:lvl5pPr marL="8330453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5pPr>
            <a:lvl6pPr marL="10413066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6pPr>
            <a:lvl7pPr marL="12495680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7pPr>
            <a:lvl8pPr marL="14578292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8pPr>
            <a:lvl9pPr marL="16660906" indent="0">
              <a:buNone/>
              <a:defRPr sz="65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35849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3363" y="9985326"/>
            <a:ext cx="13368046" cy="28242218"/>
          </a:xfrm>
        </p:spPr>
        <p:txBody>
          <a:bodyPr/>
          <a:lstStyle>
            <a:lvl1pPr>
              <a:defRPr sz="12700"/>
            </a:lvl1pPr>
            <a:lvl2pPr>
              <a:defRPr sz="11000"/>
            </a:lvl2pPr>
            <a:lvl3pPr>
              <a:defRPr sz="92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85866" y="9985326"/>
            <a:ext cx="13368046" cy="28242218"/>
          </a:xfrm>
        </p:spPr>
        <p:txBody>
          <a:bodyPr/>
          <a:lstStyle>
            <a:lvl1pPr>
              <a:defRPr sz="12700"/>
            </a:lvl1pPr>
            <a:lvl2pPr>
              <a:defRPr sz="11000"/>
            </a:lvl2pPr>
            <a:lvl3pPr>
              <a:defRPr sz="92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1864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369" y="9579181"/>
            <a:ext cx="13373303" cy="3992146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2613" indent="0">
              <a:buNone/>
              <a:defRPr sz="9200" b="1"/>
            </a:lvl2pPr>
            <a:lvl3pPr marL="4165227" indent="0">
              <a:buNone/>
              <a:defRPr sz="8200" b="1"/>
            </a:lvl3pPr>
            <a:lvl4pPr marL="6247839" indent="0">
              <a:buNone/>
              <a:defRPr sz="7200" b="1"/>
            </a:lvl4pPr>
            <a:lvl5pPr marL="8330453" indent="0">
              <a:buNone/>
              <a:defRPr sz="7200" b="1"/>
            </a:lvl5pPr>
            <a:lvl6pPr marL="10413066" indent="0">
              <a:buNone/>
              <a:defRPr sz="7200" b="1"/>
            </a:lvl6pPr>
            <a:lvl7pPr marL="12495680" indent="0">
              <a:buNone/>
              <a:defRPr sz="7200" b="1"/>
            </a:lvl7pPr>
            <a:lvl8pPr marL="14578292" indent="0">
              <a:buNone/>
              <a:defRPr sz="7200" b="1"/>
            </a:lvl8pPr>
            <a:lvl9pPr marL="16660906" indent="0">
              <a:buNone/>
              <a:defRPr sz="7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3369" y="13571328"/>
            <a:ext cx="13373303" cy="24656218"/>
          </a:xfrm>
        </p:spPr>
        <p:txBody>
          <a:bodyPr/>
          <a:lstStyle>
            <a:lvl1pPr>
              <a:defRPr sz="11000"/>
            </a:lvl1pPr>
            <a:lvl2pPr>
              <a:defRPr sz="9200"/>
            </a:lvl2pPr>
            <a:lvl3pPr>
              <a:defRPr sz="820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5359" y="9579181"/>
            <a:ext cx="13378556" cy="3992146"/>
          </a:xfrm>
        </p:spPr>
        <p:txBody>
          <a:bodyPr anchor="b"/>
          <a:lstStyle>
            <a:lvl1pPr marL="0" indent="0">
              <a:buNone/>
              <a:defRPr sz="11000" b="1"/>
            </a:lvl1pPr>
            <a:lvl2pPr marL="2082613" indent="0">
              <a:buNone/>
              <a:defRPr sz="9200" b="1"/>
            </a:lvl2pPr>
            <a:lvl3pPr marL="4165227" indent="0">
              <a:buNone/>
              <a:defRPr sz="8200" b="1"/>
            </a:lvl3pPr>
            <a:lvl4pPr marL="6247839" indent="0">
              <a:buNone/>
              <a:defRPr sz="7200" b="1"/>
            </a:lvl4pPr>
            <a:lvl5pPr marL="8330453" indent="0">
              <a:buNone/>
              <a:defRPr sz="7200" b="1"/>
            </a:lvl5pPr>
            <a:lvl6pPr marL="10413066" indent="0">
              <a:buNone/>
              <a:defRPr sz="7200" b="1"/>
            </a:lvl6pPr>
            <a:lvl7pPr marL="12495680" indent="0">
              <a:buNone/>
              <a:defRPr sz="7200" b="1"/>
            </a:lvl7pPr>
            <a:lvl8pPr marL="14578292" indent="0">
              <a:buNone/>
              <a:defRPr sz="7200" b="1"/>
            </a:lvl8pPr>
            <a:lvl9pPr marL="16660906" indent="0">
              <a:buNone/>
              <a:defRPr sz="72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5359" y="13571328"/>
            <a:ext cx="13378556" cy="24656218"/>
          </a:xfrm>
        </p:spPr>
        <p:txBody>
          <a:bodyPr/>
          <a:lstStyle>
            <a:lvl1pPr>
              <a:defRPr sz="11000"/>
            </a:lvl1pPr>
            <a:lvl2pPr>
              <a:defRPr sz="9200"/>
            </a:lvl2pPr>
            <a:lvl3pPr>
              <a:defRPr sz="8200"/>
            </a:lvl3pPr>
            <a:lvl4pPr>
              <a:defRPr sz="7200"/>
            </a:lvl4pPr>
            <a:lvl5pPr>
              <a:defRPr sz="7200"/>
            </a:lvl5pPr>
            <a:lvl6pPr>
              <a:defRPr sz="7200"/>
            </a:lvl6pPr>
            <a:lvl7pPr>
              <a:defRPr sz="7200"/>
            </a:lvl7pPr>
            <a:lvl8pPr>
              <a:defRPr sz="7200"/>
            </a:lvl8pPr>
            <a:lvl9pPr>
              <a:defRPr sz="7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5383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8549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8605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368" y="1703844"/>
            <a:ext cx="9957725" cy="7251246"/>
          </a:xfrm>
        </p:spPr>
        <p:txBody>
          <a:bodyPr anchor="b"/>
          <a:lstStyle>
            <a:lvl1pPr algn="l">
              <a:defRPr sz="9200" b="1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3664" y="1703851"/>
            <a:ext cx="16920248" cy="36523698"/>
          </a:xfrm>
        </p:spPr>
        <p:txBody>
          <a:bodyPr/>
          <a:lstStyle>
            <a:lvl1pPr>
              <a:defRPr sz="14700"/>
            </a:lvl1pPr>
            <a:lvl2pPr>
              <a:defRPr sz="12700"/>
            </a:lvl2pPr>
            <a:lvl3pPr>
              <a:defRPr sz="11000"/>
            </a:lvl3pPr>
            <a:lvl4pPr>
              <a:defRPr sz="9200"/>
            </a:lvl4pPr>
            <a:lvl5pPr>
              <a:defRPr sz="9200"/>
            </a:lvl5pPr>
            <a:lvl6pPr>
              <a:defRPr sz="9200"/>
            </a:lvl6pPr>
            <a:lvl7pPr>
              <a:defRPr sz="9200"/>
            </a:lvl7pPr>
            <a:lvl8pPr>
              <a:defRPr sz="9200"/>
            </a:lvl8pPr>
            <a:lvl9pPr>
              <a:defRPr sz="92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3368" y="8955095"/>
            <a:ext cx="9957725" cy="29272450"/>
          </a:xfrm>
        </p:spPr>
        <p:txBody>
          <a:bodyPr/>
          <a:lstStyle>
            <a:lvl1pPr marL="0" indent="0">
              <a:buNone/>
              <a:defRPr sz="6500"/>
            </a:lvl1pPr>
            <a:lvl2pPr marL="2082613" indent="0">
              <a:buNone/>
              <a:defRPr sz="5500"/>
            </a:lvl2pPr>
            <a:lvl3pPr marL="4165227" indent="0">
              <a:buNone/>
              <a:defRPr sz="4500"/>
            </a:lvl3pPr>
            <a:lvl4pPr marL="6247839" indent="0">
              <a:buNone/>
              <a:defRPr sz="4200"/>
            </a:lvl4pPr>
            <a:lvl5pPr marL="8330453" indent="0">
              <a:buNone/>
              <a:defRPr sz="4200"/>
            </a:lvl5pPr>
            <a:lvl6pPr marL="10413066" indent="0">
              <a:buNone/>
              <a:defRPr sz="4200"/>
            </a:lvl6pPr>
            <a:lvl7pPr marL="12495680" indent="0">
              <a:buNone/>
              <a:defRPr sz="4200"/>
            </a:lvl7pPr>
            <a:lvl8pPr marL="14578292" indent="0">
              <a:buNone/>
              <a:defRPr sz="4200"/>
            </a:lvl8pPr>
            <a:lvl9pPr marL="16660906" indent="0">
              <a:buNone/>
              <a:defRPr sz="4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325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2597" y="29955972"/>
            <a:ext cx="18160365" cy="3536471"/>
          </a:xfrm>
        </p:spPr>
        <p:txBody>
          <a:bodyPr anchor="b"/>
          <a:lstStyle>
            <a:lvl1pPr algn="l">
              <a:defRPr sz="9200" b="1"/>
            </a:lvl1pPr>
          </a:lstStyle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2597" y="3823745"/>
            <a:ext cx="18160365" cy="25676543"/>
          </a:xfrm>
        </p:spPr>
        <p:txBody>
          <a:bodyPr/>
          <a:lstStyle>
            <a:lvl1pPr marL="0" indent="0">
              <a:buNone/>
              <a:defRPr sz="14700"/>
            </a:lvl1pPr>
            <a:lvl2pPr marL="2082613" indent="0">
              <a:buNone/>
              <a:defRPr sz="12700"/>
            </a:lvl2pPr>
            <a:lvl3pPr marL="4165227" indent="0">
              <a:buNone/>
              <a:defRPr sz="11000"/>
            </a:lvl3pPr>
            <a:lvl4pPr marL="6247839" indent="0">
              <a:buNone/>
              <a:defRPr sz="9200"/>
            </a:lvl4pPr>
            <a:lvl5pPr marL="8330453" indent="0">
              <a:buNone/>
              <a:defRPr sz="9200"/>
            </a:lvl5pPr>
            <a:lvl6pPr marL="10413066" indent="0">
              <a:buNone/>
              <a:defRPr sz="9200"/>
            </a:lvl6pPr>
            <a:lvl7pPr marL="12495680" indent="0">
              <a:buNone/>
              <a:defRPr sz="9200"/>
            </a:lvl7pPr>
            <a:lvl8pPr marL="14578292" indent="0">
              <a:buNone/>
              <a:defRPr sz="9200"/>
            </a:lvl8pPr>
            <a:lvl9pPr marL="16660906" indent="0">
              <a:buNone/>
              <a:defRPr sz="9200"/>
            </a:lvl9pPr>
          </a:lstStyle>
          <a:p>
            <a:endParaRPr lang="da-DK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2597" y="33492444"/>
            <a:ext cx="18160365" cy="5022375"/>
          </a:xfrm>
        </p:spPr>
        <p:txBody>
          <a:bodyPr/>
          <a:lstStyle>
            <a:lvl1pPr marL="0" indent="0">
              <a:buNone/>
              <a:defRPr sz="6500"/>
            </a:lvl1pPr>
            <a:lvl2pPr marL="2082613" indent="0">
              <a:buNone/>
              <a:defRPr sz="5500"/>
            </a:lvl2pPr>
            <a:lvl3pPr marL="4165227" indent="0">
              <a:buNone/>
              <a:defRPr sz="4500"/>
            </a:lvl3pPr>
            <a:lvl4pPr marL="6247839" indent="0">
              <a:buNone/>
              <a:defRPr sz="4200"/>
            </a:lvl4pPr>
            <a:lvl5pPr marL="8330453" indent="0">
              <a:buNone/>
              <a:defRPr sz="4200"/>
            </a:lvl5pPr>
            <a:lvl6pPr marL="10413066" indent="0">
              <a:buNone/>
              <a:defRPr sz="4200"/>
            </a:lvl6pPr>
            <a:lvl7pPr marL="12495680" indent="0">
              <a:buNone/>
              <a:defRPr sz="4200"/>
            </a:lvl7pPr>
            <a:lvl8pPr marL="14578292" indent="0">
              <a:buNone/>
              <a:defRPr sz="4200"/>
            </a:lvl8pPr>
            <a:lvl9pPr marL="16660906" indent="0">
              <a:buNone/>
              <a:defRPr sz="42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1186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616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43774" y="1713761"/>
            <a:ext cx="6810137" cy="3651378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3364" y="1713761"/>
            <a:ext cx="19925956" cy="3651378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0727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3365" y="1713754"/>
            <a:ext cx="27240547" cy="7132373"/>
          </a:xfrm>
          <a:prstGeom prst="rect">
            <a:avLst/>
          </a:prstGeom>
        </p:spPr>
        <p:txBody>
          <a:bodyPr vert="horz" lIns="416523" tIns="208262" rIns="416523" bIns="208262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da-DK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365" y="9985326"/>
            <a:ext cx="27240547" cy="28242218"/>
          </a:xfrm>
          <a:prstGeom prst="rect">
            <a:avLst/>
          </a:prstGeom>
        </p:spPr>
        <p:txBody>
          <a:bodyPr vert="horz" lIns="416523" tIns="208262" rIns="416523" bIns="208262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da-DK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3363" y="39663929"/>
            <a:ext cx="7062365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l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9/15/2017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1319" y="39663929"/>
            <a:ext cx="9584637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ct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1547" y="39663929"/>
            <a:ext cx="7062365" cy="2278399"/>
          </a:xfrm>
          <a:prstGeom prst="rect">
            <a:avLst/>
          </a:prstGeom>
        </p:spPr>
        <p:txBody>
          <a:bodyPr vert="horz" lIns="416523" tIns="208262" rIns="416523" bIns="208262" rtlCol="0" anchor="ctr"/>
          <a:lstStyle>
            <a:lvl1pPr algn="r">
              <a:defRPr sz="5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1178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165227" rtl="0" eaLnBrk="1" latinLnBrk="0" hangingPunct="1">
        <a:spcBef>
          <a:spcPct val="0"/>
        </a:spcBef>
        <a:buNone/>
        <a:defRPr sz="20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1959" indent="-1561959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700" kern="1200">
          <a:solidFill>
            <a:schemeClr val="tx1"/>
          </a:solidFill>
          <a:latin typeface="+mn-lt"/>
          <a:ea typeface="+mn-ea"/>
          <a:cs typeface="+mn-cs"/>
        </a:defRPr>
      </a:lvl1pPr>
      <a:lvl2pPr marL="3384247" indent="-1301633" algn="l" defTabSz="4165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12700" kern="1200">
          <a:solidFill>
            <a:schemeClr val="tx1"/>
          </a:solidFill>
          <a:latin typeface="+mn-lt"/>
          <a:ea typeface="+mn-ea"/>
          <a:cs typeface="+mn-cs"/>
        </a:defRPr>
      </a:lvl2pPr>
      <a:lvl3pPr marL="5206533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000" kern="1200">
          <a:solidFill>
            <a:schemeClr val="tx1"/>
          </a:solidFill>
          <a:latin typeface="+mn-lt"/>
          <a:ea typeface="+mn-ea"/>
          <a:cs typeface="+mn-cs"/>
        </a:defRPr>
      </a:lvl3pPr>
      <a:lvl4pPr marL="7289147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–"/>
        <a:defRPr sz="9200" kern="1200">
          <a:solidFill>
            <a:schemeClr val="tx1"/>
          </a:solidFill>
          <a:latin typeface="+mn-lt"/>
          <a:ea typeface="+mn-ea"/>
          <a:cs typeface="+mn-cs"/>
        </a:defRPr>
      </a:lvl4pPr>
      <a:lvl5pPr marL="9371759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»"/>
        <a:defRPr sz="9200" kern="1200">
          <a:solidFill>
            <a:schemeClr val="tx1"/>
          </a:solidFill>
          <a:latin typeface="+mn-lt"/>
          <a:ea typeface="+mn-ea"/>
          <a:cs typeface="+mn-cs"/>
        </a:defRPr>
      </a:lvl5pPr>
      <a:lvl6pPr marL="11454373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6pPr>
      <a:lvl7pPr marL="13536986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7pPr>
      <a:lvl8pPr marL="15619600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8pPr>
      <a:lvl9pPr marL="17702212" indent="-1041306" algn="l" defTabSz="4165227" rtl="0" eaLnBrk="1" latinLnBrk="0" hangingPunct="1">
        <a:spcBef>
          <a:spcPct val="20000"/>
        </a:spcBef>
        <a:buFont typeface="Arial" panose="020B0604020202020204" pitchFamily="34" charset="0"/>
        <a:buChar char="•"/>
        <a:defRPr sz="9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1pPr>
      <a:lvl2pPr marL="2082613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2pPr>
      <a:lvl3pPr marL="4165227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247839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4pPr>
      <a:lvl5pPr marL="8330453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5pPr>
      <a:lvl6pPr marL="10413066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6pPr>
      <a:lvl7pPr marL="12495680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7pPr>
      <a:lvl8pPr marL="14578292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8pPr>
      <a:lvl9pPr marL="16660906" algn="l" defTabSz="4165227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26" Type="http://schemas.openxmlformats.org/officeDocument/2006/relationships/image" Target="../media/image22.png"/><Relationship Id="rId3" Type="http://schemas.openxmlformats.org/officeDocument/2006/relationships/tags" Target="../tags/tag3.xml"/><Relationship Id="rId21" Type="http://schemas.openxmlformats.org/officeDocument/2006/relationships/image" Target="../media/image17.png"/><Relationship Id="rId7" Type="http://schemas.openxmlformats.org/officeDocument/2006/relationships/image" Target="../media/image3.png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5" Type="http://schemas.openxmlformats.org/officeDocument/2006/relationships/image" Target="../media/image21.png"/><Relationship Id="rId2" Type="http://schemas.openxmlformats.org/officeDocument/2006/relationships/tags" Target="../tags/tag2.xml"/><Relationship Id="rId16" Type="http://schemas.openxmlformats.org/officeDocument/2006/relationships/image" Target="../media/image12.png"/><Relationship Id="rId20" Type="http://schemas.openxmlformats.org/officeDocument/2006/relationships/image" Target="../media/image16.png"/><Relationship Id="rId29" Type="http://schemas.openxmlformats.org/officeDocument/2006/relationships/image" Target="../media/image25.PNG"/><Relationship Id="rId1" Type="http://schemas.openxmlformats.org/officeDocument/2006/relationships/tags" Target="../tags/tag1.xml"/><Relationship Id="rId6" Type="http://schemas.openxmlformats.org/officeDocument/2006/relationships/image" Target="../media/image2.gif"/><Relationship Id="rId11" Type="http://schemas.openxmlformats.org/officeDocument/2006/relationships/image" Target="../media/image7.png"/><Relationship Id="rId24" Type="http://schemas.openxmlformats.org/officeDocument/2006/relationships/image" Target="../media/image20.png"/><Relationship Id="rId5" Type="http://schemas.openxmlformats.org/officeDocument/2006/relationships/image" Target="../media/image1.jpg"/><Relationship Id="rId15" Type="http://schemas.openxmlformats.org/officeDocument/2006/relationships/image" Target="../media/image11.png"/><Relationship Id="rId23" Type="http://schemas.openxmlformats.org/officeDocument/2006/relationships/image" Target="../media/image19.png"/><Relationship Id="rId28" Type="http://schemas.openxmlformats.org/officeDocument/2006/relationships/image" Target="../media/image24.png"/><Relationship Id="rId10" Type="http://schemas.openxmlformats.org/officeDocument/2006/relationships/image" Target="../media/image6.png"/><Relationship Id="rId19" Type="http://schemas.openxmlformats.org/officeDocument/2006/relationships/image" Target="../media/image15.png"/><Relationship Id="rId4" Type="http://schemas.openxmlformats.org/officeDocument/2006/relationships/slideLayout" Target="../slideLayouts/slideLayout1.xml"/><Relationship Id="rId9" Type="http://schemas.openxmlformats.org/officeDocument/2006/relationships/image" Target="../media/image5.png"/><Relationship Id="rId14" Type="http://schemas.openxmlformats.org/officeDocument/2006/relationships/image" Target="../media/image10.png"/><Relationship Id="rId22" Type="http://schemas.openxmlformats.org/officeDocument/2006/relationships/image" Target="../media/image18.png"/><Relationship Id="rId27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AutoShape 13 1"/>
          <p:cNvSpPr>
            <a:spLocks noChangeArrowheads="1"/>
          </p:cNvSpPr>
          <p:nvPr/>
        </p:nvSpPr>
        <p:spPr bwMode="auto">
          <a:xfrm>
            <a:off x="506006" y="35197052"/>
            <a:ext cx="16749705" cy="5237319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11" name="AutoShape 13 2"/>
          <p:cNvSpPr>
            <a:spLocks noChangeArrowheads="1"/>
          </p:cNvSpPr>
          <p:nvPr/>
        </p:nvSpPr>
        <p:spPr bwMode="auto">
          <a:xfrm>
            <a:off x="447602" y="29270339"/>
            <a:ext cx="29160648" cy="5611116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18" name="AutoShape 13 3"/>
          <p:cNvSpPr>
            <a:spLocks noChangeArrowheads="1"/>
          </p:cNvSpPr>
          <p:nvPr/>
        </p:nvSpPr>
        <p:spPr bwMode="auto">
          <a:xfrm>
            <a:off x="447602" y="18363561"/>
            <a:ext cx="29160648" cy="10544704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3" name="AutoShape 13 4"/>
          <p:cNvSpPr>
            <a:spLocks noChangeArrowheads="1"/>
          </p:cNvSpPr>
          <p:nvPr/>
        </p:nvSpPr>
        <p:spPr bwMode="auto">
          <a:xfrm>
            <a:off x="540000" y="517005"/>
            <a:ext cx="29196000" cy="6721058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pic>
        <p:nvPicPr>
          <p:cNvPr id="1026" name="Picture 2" descr="C:\Users\sepah\Desktop\DTU-logo.gif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2476" y="1066662"/>
            <a:ext cx="2419803" cy="3526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2725468" y="1066662"/>
            <a:ext cx="23303811" cy="1792265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pPr algn="ctr"/>
            <a:r>
              <a:rPr lang="en-US" sz="5400" dirty="0" smtClean="0">
                <a:latin typeface="Georgia" panose="02040502050405020303" pitchFamily="18" charset="0"/>
                <a:cs typeface="Arial" panose="020B0604020202020204" pitchFamily="34" charset="0"/>
              </a:rPr>
              <a:t>Investigating feasibility of broadband continuous variable quantum key distribution in telecom fibers with local </a:t>
            </a:r>
            <a:r>
              <a:rPr lang="en-US" sz="5400" dirty="0" err="1" smtClean="0">
                <a:latin typeface="Georgia" panose="02040502050405020303" pitchFamily="18" charset="0"/>
                <a:cs typeface="Arial" panose="020B0604020202020204" pitchFamily="34" charset="0"/>
              </a:rPr>
              <a:t>local</a:t>
            </a:r>
            <a:r>
              <a:rPr lang="en-US" sz="5400" dirty="0" smtClean="0">
                <a:latin typeface="Georgia" panose="02040502050405020303" pitchFamily="18" charset="0"/>
                <a:cs typeface="Arial" panose="020B0604020202020204" pitchFamily="34" charset="0"/>
              </a:rPr>
              <a:t> oscillator</a:t>
            </a:r>
            <a:endParaRPr lang="en-US" sz="5400" dirty="0">
              <a:latin typeface="Georgia" panose="02040502050405020303" pitchFamily="18" charset="0"/>
              <a:cs typeface="Arial" panose="020B0604020202020204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37237" y="3097345"/>
            <a:ext cx="19948410" cy="1361378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pPr algn="ctr"/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N. Jain,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C.S</a:t>
            </a:r>
            <a:r>
              <a:rPr lang="en-US" sz="4000" smtClean="0">
                <a:latin typeface="Arial" panose="020B0604020202020204" pitchFamily="34" charset="0"/>
                <a:cs typeface="Arial" panose="020B0604020202020204" pitchFamily="34" charset="0"/>
              </a:rPr>
              <a:t>. Jacobsen,</a:t>
            </a:r>
            <a:r>
              <a:rPr lang="en-US" sz="4000" baseline="3000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u="sng" dirty="0" smtClean="0">
                <a:latin typeface="Arial" panose="020B0604020202020204" pitchFamily="34" charset="0"/>
                <a:cs typeface="Arial" panose="020B0604020202020204" pitchFamily="34" charset="0"/>
              </a:rPr>
              <a:t>D. Solar Nikolic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Kordts,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Lupo,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Grigoryan,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 Pedersen,</a:t>
            </a:r>
            <a:r>
              <a:rPr lang="en-US" sz="4000" baseline="30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S. Pirandola,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2,4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T. Gehring,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U.L. Andersen</a:t>
            </a:r>
            <a:r>
              <a:rPr lang="en-US" sz="4000" baseline="30000" dirty="0" smtClean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US" sz="4000" baseline="30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AutoShape 13 5"/>
          <p:cNvSpPr>
            <a:spLocks noChangeArrowheads="1"/>
          </p:cNvSpPr>
          <p:nvPr/>
        </p:nvSpPr>
        <p:spPr bwMode="auto">
          <a:xfrm>
            <a:off x="539999" y="7920000"/>
            <a:ext cx="7380000" cy="9928301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0000" y="8280000"/>
            <a:ext cx="699790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40199" y="18634819"/>
            <a:ext cx="1341648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Current setup and component characterization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21822" y="29425822"/>
            <a:ext cx="14078129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Preliminary results (back to back configuration)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226343" y="4709319"/>
            <a:ext cx="17203694" cy="22929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1</a:t>
            </a:r>
            <a:r>
              <a:rPr lang="en-US" sz="3200" smtClean="0">
                <a:solidFill>
                  <a:prstClr val="black"/>
                </a:solidFill>
              </a:rPr>
              <a:t>Department </a:t>
            </a:r>
            <a:r>
              <a:rPr lang="en-US" sz="3200" dirty="0">
                <a:solidFill>
                  <a:prstClr val="black"/>
                </a:solidFill>
              </a:rPr>
              <a:t>of Physics</a:t>
            </a:r>
            <a:r>
              <a:rPr lang="en-US" sz="3200">
                <a:solidFill>
                  <a:prstClr val="black"/>
                </a:solidFill>
              </a:rPr>
              <a:t>, </a:t>
            </a:r>
            <a:r>
              <a:rPr lang="en-US" sz="3200" smtClean="0">
                <a:solidFill>
                  <a:prstClr val="black"/>
                </a:solidFill>
              </a:rPr>
              <a:t>Fysikvej 309, Technical University of Denmark, </a:t>
            </a:r>
            <a:r>
              <a:rPr lang="en-US" sz="3200" dirty="0">
                <a:solidFill>
                  <a:prstClr val="black"/>
                </a:solidFill>
              </a:rPr>
              <a:t>2800 </a:t>
            </a:r>
            <a:r>
              <a:rPr lang="en-US" sz="3200" dirty="0" err="1">
                <a:solidFill>
                  <a:prstClr val="black"/>
                </a:solidFill>
              </a:rPr>
              <a:t>Kongens</a:t>
            </a:r>
            <a:r>
              <a:rPr lang="en-US" sz="3200" dirty="0">
                <a:solidFill>
                  <a:prstClr val="black"/>
                </a:solidFill>
              </a:rPr>
              <a:t> </a:t>
            </a:r>
            <a:r>
              <a:rPr lang="en-US" sz="3200" dirty="0" err="1">
                <a:solidFill>
                  <a:prstClr val="black"/>
                </a:solidFill>
              </a:rPr>
              <a:t>Lyngby</a:t>
            </a:r>
            <a:r>
              <a:rPr lang="en-US" sz="3200">
                <a:solidFill>
                  <a:prstClr val="black"/>
                </a:solidFill>
              </a:rPr>
              <a:t>, </a:t>
            </a:r>
            <a:r>
              <a:rPr lang="en-US" sz="3200" smtClean="0">
                <a:solidFill>
                  <a:prstClr val="black"/>
                </a:solidFill>
              </a:rPr>
              <a:t>Denmark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2</a:t>
            </a:r>
            <a:r>
              <a:rPr lang="en-US" sz="3200" smtClean="0">
                <a:solidFill>
                  <a:prstClr val="black"/>
                </a:solidFill>
              </a:rPr>
              <a:t>York </a:t>
            </a:r>
            <a:r>
              <a:rPr lang="en-US" sz="3200" dirty="0" smtClean="0">
                <a:solidFill>
                  <a:prstClr val="black"/>
                </a:solidFill>
              </a:rPr>
              <a:t>Centre for Quantum Technologies (YCQT), University of York, York YO10 5GH</a:t>
            </a:r>
            <a:r>
              <a:rPr lang="en-US" sz="3200" smtClean="0">
                <a:solidFill>
                  <a:prstClr val="black"/>
                </a:solidFill>
              </a:rPr>
              <a:t>, </a:t>
            </a:r>
            <a:r>
              <a:rPr lang="en-US" sz="3200">
                <a:solidFill>
                  <a:prstClr val="black"/>
                </a:solidFill>
              </a:rPr>
              <a:t>United Kingdom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3</a:t>
            </a:r>
            <a:r>
              <a:rPr lang="en-US" sz="3200" smtClean="0">
                <a:solidFill>
                  <a:prstClr val="black"/>
                </a:solidFill>
              </a:rPr>
              <a:t>Cryptomathic </a:t>
            </a:r>
            <a:r>
              <a:rPr lang="en-US" sz="3200" dirty="0" smtClean="0">
                <a:solidFill>
                  <a:prstClr val="black"/>
                </a:solidFill>
              </a:rPr>
              <a:t>A/S, </a:t>
            </a:r>
            <a:r>
              <a:rPr lang="en-US" sz="3200" dirty="0" err="1" smtClean="0">
                <a:solidFill>
                  <a:prstClr val="black"/>
                </a:solidFill>
              </a:rPr>
              <a:t>Jaegergardsgale</a:t>
            </a:r>
            <a:r>
              <a:rPr lang="en-US" sz="3200" dirty="0" smtClean="0">
                <a:solidFill>
                  <a:prstClr val="black"/>
                </a:solidFill>
              </a:rPr>
              <a:t> 118, 8000 Aarhus</a:t>
            </a:r>
            <a:r>
              <a:rPr lang="en-US" sz="3200" smtClean="0">
                <a:solidFill>
                  <a:prstClr val="black"/>
                </a:solidFill>
              </a:rPr>
              <a:t>, Denmark</a:t>
            </a:r>
          </a:p>
          <a:p>
            <a:pPr lvl="0" algn="just" defTabSz="4165227">
              <a:spcBef>
                <a:spcPts val="600"/>
              </a:spcBef>
            </a:pPr>
            <a:r>
              <a:rPr lang="en-US" sz="3200" baseline="30000" smtClean="0">
                <a:solidFill>
                  <a:prstClr val="black"/>
                </a:solidFill>
              </a:rPr>
              <a:t>4</a:t>
            </a:r>
            <a:r>
              <a:rPr lang="en-US" sz="3200" smtClean="0">
                <a:solidFill>
                  <a:prstClr val="black"/>
                </a:solidFill>
              </a:rPr>
              <a:t>Department of Computer </a:t>
            </a:r>
            <a:r>
              <a:rPr lang="en-US" sz="3200" dirty="0" smtClean="0">
                <a:solidFill>
                  <a:prstClr val="black"/>
                </a:solidFill>
              </a:rPr>
              <a:t>Science, University of York, York YO10 5GH, United Kingdom</a:t>
            </a:r>
            <a:endParaRPr lang="en-US" sz="4800" dirty="0"/>
          </a:p>
        </p:txBody>
      </p:sp>
      <p:sp>
        <p:nvSpPr>
          <p:cNvPr id="42" name="AutoShape 13 6"/>
          <p:cNvSpPr>
            <a:spLocks noChangeArrowheads="1"/>
          </p:cNvSpPr>
          <p:nvPr/>
        </p:nvSpPr>
        <p:spPr bwMode="auto">
          <a:xfrm>
            <a:off x="473730" y="40844040"/>
            <a:ext cx="29262270" cy="1653375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58788" y="40854131"/>
            <a:ext cx="2808782" cy="70788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US" sz="4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8163837" y="21854319"/>
            <a:ext cx="609600" cy="6096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17287884" y="29711622"/>
            <a:ext cx="990600" cy="8801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565133" y="41667237"/>
            <a:ext cx="76699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[1]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000" y="9180000"/>
            <a:ext cx="6929152" cy="8279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The use of continuous variable (CV) quantum information carriers, instead of qubits, constitutes a powerful alternative for practical quantum key distribution (QKD) systems. In contrast to qubit-based approaches, CV-QKD implementations rely on standard telecommunication technology (in particular, coherent detection techniques), and thus have the potential to reach </a:t>
            </a:r>
            <a:r>
              <a:rPr lang="en-US" sz="2800" dirty="0" err="1"/>
              <a:t>Gbit</a:t>
            </a:r>
            <a:r>
              <a:rPr lang="en-US" sz="2800" dirty="0"/>
              <a:t> key rates while staying cost-effective</a:t>
            </a:r>
            <a:r>
              <a:rPr lang="en-US" sz="2800"/>
              <a:t>. </a:t>
            </a:r>
            <a:endParaRPr lang="en-US" sz="2800" smtClean="0"/>
          </a:p>
          <a:p>
            <a:r>
              <a:rPr lang="en-US" sz="2800" smtClean="0"/>
              <a:t>One </a:t>
            </a:r>
            <a:r>
              <a:rPr lang="en-US" sz="2800" dirty="0"/>
              <a:t>way to achieve this is by encoding quantum states in optical sidebands (at sender Alice) and measuring them with a wideband detector (at receiver </a:t>
            </a:r>
            <a:r>
              <a:rPr lang="en-US" sz="2800"/>
              <a:t>Bob</a:t>
            </a:r>
            <a:r>
              <a:rPr lang="en-US" sz="2800" smtClean="0"/>
              <a:t>). Here</a:t>
            </a:r>
            <a:r>
              <a:rPr lang="en-US" sz="2800" dirty="0"/>
              <a:t>, we present the progress in realization of such a CV-QKD scheme using coherent states with Gaussian modulation, and the various challenges in adapting the security proof to real-world scenarios.</a:t>
            </a:r>
          </a:p>
        </p:txBody>
      </p:sp>
      <p:sp>
        <p:nvSpPr>
          <p:cNvPr id="43" name="AutoShape 13 7"/>
          <p:cNvSpPr>
            <a:spLocks noChangeArrowheads="1"/>
          </p:cNvSpPr>
          <p:nvPr/>
        </p:nvSpPr>
        <p:spPr bwMode="auto">
          <a:xfrm>
            <a:off x="8460000" y="7920000"/>
            <a:ext cx="21276000" cy="10018472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885236" y="8280000"/>
            <a:ext cx="20723013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Design dilemmas: transmitted </a:t>
            </a:r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LO </a:t>
            </a:r>
            <a:r>
              <a:rPr lang="en-US" sz="4800" i="1" dirty="0" smtClean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local LO &amp; homodyne </a:t>
            </a:r>
            <a:r>
              <a:rPr lang="en-US" sz="4800" i="1" smtClean="0">
                <a:latin typeface="Arial" panose="020B0604020202020204" pitchFamily="34" charset="0"/>
                <a:cs typeface="Arial" panose="020B0604020202020204" pitchFamily="34" charset="0"/>
              </a:rPr>
              <a:t>vs</a:t>
            </a:r>
            <a:r>
              <a:rPr lang="en-US" sz="4800" smtClean="0">
                <a:latin typeface="Arial" panose="020B0604020202020204" pitchFamily="34" charset="0"/>
                <a:cs typeface="Arial" panose="020B0604020202020204" pitchFamily="34" charset="0"/>
              </a:rPr>
              <a:t>. heterodyne 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8885237" y="9252000"/>
            <a:ext cx="1025615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CV-QKD systems employ receivers performing phase-sensitive detection using a local oscillator (LO) whose phase drift w.r.t. the sent quantum signal (</a:t>
            </a:r>
            <a:r>
              <a:rPr lang="en-US" sz="2800" i="1" dirty="0" err="1" smtClean="0"/>
              <a:t>qSig</a:t>
            </a:r>
            <a:r>
              <a:rPr lang="en-US" sz="2800" dirty="0" smtClean="0"/>
              <a:t>) must be precisely controlled/estimated. Until recently, all known CV-QKD implementations used the transmitted LO (TLO) design. A novel local LO (LLO) design obviates some limitations of the TLO design but brings in some new challenges. </a:t>
            </a:r>
            <a:endParaRPr lang="en-US" sz="2800" dirty="0"/>
          </a:p>
        </p:txBody>
      </p:sp>
      <p:sp>
        <p:nvSpPr>
          <p:cNvPr id="56" name="TextBox 55"/>
          <p:cNvSpPr txBox="1"/>
          <p:nvPr/>
        </p:nvSpPr>
        <p:spPr>
          <a:xfrm>
            <a:off x="15212751" y="14974258"/>
            <a:ext cx="446222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00B050"/>
                </a:solidFill>
              </a:rPr>
              <a:t>Stable relative phase between </a:t>
            </a:r>
            <a:r>
              <a:rPr lang="en-US" sz="2000" i="1" dirty="0" err="1" smtClean="0">
                <a:solidFill>
                  <a:srgbClr val="00B050"/>
                </a:solidFill>
              </a:rPr>
              <a:t>qSig</a:t>
            </a:r>
            <a:r>
              <a:rPr lang="en-US" sz="2000" dirty="0" smtClean="0">
                <a:solidFill>
                  <a:srgbClr val="00B050"/>
                </a:solidFill>
              </a:rPr>
              <a:t> and LO at the receiver </a:t>
            </a:r>
          </a:p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FF0000"/>
                </a:solidFill>
              </a:rPr>
              <a:t>Vulnerable to LO intensity/wavelength manipulation </a:t>
            </a:r>
            <a:r>
              <a:rPr lang="en-US" sz="2000" dirty="0">
                <a:solidFill>
                  <a:srgbClr val="FF0000"/>
                </a:solidFill>
              </a:rPr>
              <a:t>on quantum </a:t>
            </a:r>
            <a:r>
              <a:rPr lang="en-US" sz="2000" dirty="0" smtClean="0">
                <a:solidFill>
                  <a:srgbClr val="FF0000"/>
                </a:solidFill>
              </a:rPr>
              <a:t>channel</a:t>
            </a:r>
          </a:p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FF0000"/>
                </a:solidFill>
              </a:rPr>
              <a:t>LO intensity limitation at receiver due to propagation losses and non-linear effects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5212751" y="12469387"/>
            <a:ext cx="463075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FF0000"/>
                </a:solidFill>
              </a:rPr>
              <a:t>Difficulty in estimating relative phase between </a:t>
            </a:r>
            <a:r>
              <a:rPr lang="en-US" sz="2000" i="1" dirty="0" err="1" smtClean="0">
                <a:solidFill>
                  <a:srgbClr val="FF0000"/>
                </a:solidFill>
              </a:rPr>
              <a:t>qSig</a:t>
            </a:r>
            <a:r>
              <a:rPr lang="en-US" sz="2000" dirty="0" smtClean="0">
                <a:solidFill>
                  <a:srgbClr val="FF0000"/>
                </a:solidFill>
              </a:rPr>
              <a:t> and LO; complicated phase correction using reference signals need to be employed</a:t>
            </a:r>
          </a:p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00B050"/>
                </a:solidFill>
              </a:rPr>
              <a:t>LO can be fully trusted, security loopholes closed</a:t>
            </a:r>
          </a:p>
          <a:p>
            <a:pPr marL="342900" indent="-342900">
              <a:buFontTx/>
              <a:buChar char="-"/>
            </a:pPr>
            <a:r>
              <a:rPr lang="en-US" sz="2000" dirty="0" smtClean="0">
                <a:solidFill>
                  <a:srgbClr val="00B050"/>
                </a:solidFill>
              </a:rPr>
              <a:t>No limitation on the local LO intensity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9691262" y="9252000"/>
            <a:ext cx="9539375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smtClean="0"/>
              <a:t>Balanced detection involves interfering the sent signal with the LO on a 50/50 splitter. Depending on the frequency detuning </a:t>
            </a:r>
            <a:r>
              <a:rPr lang="el-GR" sz="2800" smtClean="0"/>
              <a:t>Ω</a:t>
            </a:r>
            <a:r>
              <a:rPr lang="el-GR" sz="2800" baseline="-25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Δ</a:t>
            </a:r>
            <a:r>
              <a:rPr lang="en-US" sz="2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/>
              <a:t>between the signal and LO, one performs homodyne </a:t>
            </a:r>
            <a:r>
              <a:rPr lang="en-US" sz="2800" smtClean="0"/>
              <a:t>(</a:t>
            </a:r>
            <a:r>
              <a:rPr lang="el-GR" sz="280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el-GR" sz="2800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Δ </a:t>
            </a:r>
            <a:r>
              <a:rPr lang="en-US" sz="2800" baseline="-25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= 0</a:t>
            </a:r>
            <a:r>
              <a:rPr lang="en-US" sz="2800" smtClean="0"/>
              <a:t>) or </a:t>
            </a:r>
            <a:r>
              <a:rPr lang="en-US" sz="2800"/>
              <a:t>heterodyne detection (</a:t>
            </a:r>
            <a:r>
              <a:rPr lang="el-GR" sz="2800"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lang="el-GR" sz="2800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Δ </a:t>
            </a:r>
            <a:r>
              <a:rPr lang="en-US" sz="2800" baseline="-25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≠ 0</a:t>
            </a:r>
            <a:r>
              <a:rPr lang="en-US" sz="2800" smtClean="0"/>
              <a:t>). Heterodyning allows recovering the full info about </a:t>
            </a:r>
            <a:r>
              <a:rPr lang="en-US" sz="2800" i="1" smtClean="0"/>
              <a:t>Sig</a:t>
            </a:r>
            <a:r>
              <a:rPr lang="en-US" sz="2800" smtClean="0"/>
              <a:t> but with a 3dB penalty. </a:t>
            </a:r>
          </a:p>
          <a:p>
            <a:r>
              <a:rPr lang="en-US" sz="2800" smtClean="0"/>
              <a:t>A general expression for the output </a:t>
            </a:r>
            <a:r>
              <a:rPr lang="en-US" sz="2800" dirty="0" smtClean="0"/>
              <a:t>current </a:t>
            </a:r>
            <a:r>
              <a:rPr lang="en-US" sz="2800" smtClean="0"/>
              <a:t>of balanced receiver: </a:t>
            </a:r>
            <a:endParaRPr lang="en-US" sz="2800" dirty="0" smtClean="0"/>
          </a:p>
        </p:txBody>
      </p:sp>
      <p:cxnSp>
        <p:nvCxnSpPr>
          <p:cNvPr id="191" name="Straight Connector 190"/>
          <p:cNvCxnSpPr/>
          <p:nvPr/>
        </p:nvCxnSpPr>
        <p:spPr>
          <a:xfrm flipV="1">
            <a:off x="3367570" y="20926540"/>
            <a:ext cx="274320" cy="2577"/>
          </a:xfrm>
          <a:prstGeom prst="line">
            <a:avLst/>
          </a:prstGeom>
          <a:ln w="28575">
            <a:solidFill>
              <a:srgbClr val="0070C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/>
          <p:cNvCxnSpPr/>
          <p:nvPr/>
        </p:nvCxnSpPr>
        <p:spPr>
          <a:xfrm>
            <a:off x="2725468" y="20930149"/>
            <a:ext cx="11019307" cy="11549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CustomShape 17 1"/>
          <p:cNvSpPr/>
          <p:nvPr/>
        </p:nvSpPr>
        <p:spPr>
          <a:xfrm>
            <a:off x="2435298" y="20446915"/>
            <a:ext cx="2008576" cy="967282"/>
          </a:xfrm>
          <a:prstGeom prst="parallelogram">
            <a:avLst>
              <a:gd name="adj" fmla="val 25000"/>
            </a:avLst>
          </a:prstGeom>
          <a:solidFill>
            <a:srgbClr val="808080"/>
          </a:solidFill>
          <a:ln w="25560">
            <a:noFill/>
          </a:ln>
        </p:spPr>
      </p:sp>
      <p:sp>
        <p:nvSpPr>
          <p:cNvPr id="205" name="Hexagon 204"/>
          <p:cNvSpPr/>
          <p:nvPr/>
        </p:nvSpPr>
        <p:spPr>
          <a:xfrm>
            <a:off x="9807296" y="20439851"/>
            <a:ext cx="1770568" cy="982636"/>
          </a:xfrm>
          <a:prstGeom prst="hexagon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7" name="Hexagon 206"/>
          <p:cNvSpPr/>
          <p:nvPr/>
        </p:nvSpPr>
        <p:spPr>
          <a:xfrm>
            <a:off x="7606356" y="20446916"/>
            <a:ext cx="1956418" cy="1009094"/>
          </a:xfrm>
          <a:prstGeom prst="hexagon">
            <a:avLst/>
          </a:prstGeom>
          <a:solidFill>
            <a:srgbClr val="BF9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CustomShape 2 2"/>
          <p:cNvSpPr/>
          <p:nvPr/>
        </p:nvSpPr>
        <p:spPr>
          <a:xfrm>
            <a:off x="7728008" y="20425580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Intensity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modulator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(IM)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12" name="CustomShape 2 3"/>
          <p:cNvSpPr/>
          <p:nvPr/>
        </p:nvSpPr>
        <p:spPr>
          <a:xfrm>
            <a:off x="2930049" y="20563129"/>
            <a:ext cx="1126099" cy="66136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Signal </a:t>
            </a:r>
          </a:p>
          <a:p>
            <a:pPr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laser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18" name="CustomShape 34 1"/>
          <p:cNvSpPr/>
          <p:nvPr/>
        </p:nvSpPr>
        <p:spPr>
          <a:xfrm>
            <a:off x="11938335" y="20431903"/>
            <a:ext cx="1731616" cy="1007912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cxnSp>
        <p:nvCxnSpPr>
          <p:cNvPr id="234" name="Straight Connector 233"/>
          <p:cNvCxnSpPr/>
          <p:nvPr/>
        </p:nvCxnSpPr>
        <p:spPr>
          <a:xfrm flipV="1">
            <a:off x="13692988" y="20942150"/>
            <a:ext cx="2595549" cy="4171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sp>
        <p:nvSpPr>
          <p:cNvPr id="235" name="CustomShape 5 1"/>
          <p:cNvSpPr/>
          <p:nvPr/>
        </p:nvSpPr>
        <p:spPr>
          <a:xfrm rot="10800000">
            <a:off x="20322448" y="19861933"/>
            <a:ext cx="1423908" cy="685362"/>
          </a:xfrm>
          <a:prstGeom prst="curvedConnector3">
            <a:avLst>
              <a:gd name="adj1" fmla="val 44326"/>
            </a:avLst>
          </a:prstGeom>
          <a:noFill/>
          <a:ln w="28575">
            <a:solidFill>
              <a:srgbClr val="0070C0"/>
            </a:solidFill>
            <a:round/>
          </a:ln>
        </p:spPr>
      </p:sp>
      <p:sp>
        <p:nvSpPr>
          <p:cNvPr id="236" name="CustomShape 6 1"/>
          <p:cNvSpPr/>
          <p:nvPr/>
        </p:nvSpPr>
        <p:spPr>
          <a:xfrm flipV="1">
            <a:off x="20322451" y="20552322"/>
            <a:ext cx="1423906" cy="855862"/>
          </a:xfrm>
          <a:prstGeom prst="curvedConnector3">
            <a:avLst>
              <a:gd name="adj1" fmla="val 54996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38" name="CustomShape 17 2"/>
          <p:cNvSpPr/>
          <p:nvPr/>
        </p:nvSpPr>
        <p:spPr>
          <a:xfrm>
            <a:off x="19141742" y="19511805"/>
            <a:ext cx="1288645" cy="687139"/>
          </a:xfrm>
          <a:prstGeom prst="parallelogram">
            <a:avLst>
              <a:gd name="adj" fmla="val 25000"/>
            </a:avLst>
          </a:prstGeom>
          <a:solidFill>
            <a:srgbClr val="808080"/>
          </a:solidFill>
          <a:ln w="25560">
            <a:noFill/>
          </a:ln>
        </p:spPr>
      </p:sp>
      <p:sp>
        <p:nvSpPr>
          <p:cNvPr id="239" name="CustomShape 18 2"/>
          <p:cNvSpPr/>
          <p:nvPr/>
        </p:nvSpPr>
        <p:spPr>
          <a:xfrm>
            <a:off x="19333807" y="19493665"/>
            <a:ext cx="1110090" cy="70432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/>
              </a:rPr>
              <a:t>LLO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kern="0" smtClean="0">
                <a:solidFill>
                  <a:schemeClr val="bg1"/>
                </a:solidFill>
                <a:latin typeface="Arial"/>
              </a:rPr>
              <a:t>laser</a:t>
            </a:r>
            <a:endParaRPr kumimoji="0" sz="2000" b="0" i="0" u="none" strike="noStrike" kern="0" cap="none" spc="0" normalizeH="0" baseline="0" noProof="0" dirty="0" smtClean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56" name="Rectangle 255"/>
          <p:cNvSpPr/>
          <p:nvPr/>
        </p:nvSpPr>
        <p:spPr>
          <a:xfrm>
            <a:off x="22473426" y="20169578"/>
            <a:ext cx="1652249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heterodyne detection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el-GR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kumimoji="0" lang="en-US" sz="1800" b="0" i="0" u="none" strike="noStrike" kern="0" cap="none" spc="0" normalizeH="0" baseline="-2500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≠ 0)</a:t>
            </a:r>
            <a:endParaRPr kumimoji="0" lang="en-US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79" name="Straight Connector 278"/>
          <p:cNvCxnSpPr/>
          <p:nvPr/>
        </p:nvCxnSpPr>
        <p:spPr>
          <a:xfrm flipV="1">
            <a:off x="14156876" y="20942654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sp>
        <p:nvSpPr>
          <p:cNvPr id="286" name="CustomShape 6 2"/>
          <p:cNvSpPr/>
          <p:nvPr/>
        </p:nvSpPr>
        <p:spPr>
          <a:xfrm flipH="1">
            <a:off x="21735125" y="19869328"/>
            <a:ext cx="1505532" cy="677967"/>
          </a:xfrm>
          <a:prstGeom prst="curvedConnector3">
            <a:avLst>
              <a:gd name="adj1" fmla="val 55788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87" name="CustomShape 6 3"/>
          <p:cNvSpPr/>
          <p:nvPr/>
        </p:nvSpPr>
        <p:spPr>
          <a:xfrm>
            <a:off x="21735125" y="20552323"/>
            <a:ext cx="1537902" cy="853388"/>
          </a:xfrm>
          <a:prstGeom prst="curvedConnector3">
            <a:avLst>
              <a:gd name="adj1" fmla="val 41619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288" name="Flowchart: Delay 287"/>
          <p:cNvSpPr/>
          <p:nvPr/>
        </p:nvSpPr>
        <p:spPr>
          <a:xfrm>
            <a:off x="23244700" y="19555316"/>
            <a:ext cx="724619" cy="620643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9" name="Flowchart: Delay 288"/>
          <p:cNvSpPr/>
          <p:nvPr/>
        </p:nvSpPr>
        <p:spPr>
          <a:xfrm>
            <a:off x="23270643" y="21074269"/>
            <a:ext cx="698676" cy="607511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CustomShape 5 2"/>
          <p:cNvSpPr/>
          <p:nvPr/>
        </p:nvSpPr>
        <p:spPr>
          <a:xfrm rot="10800000">
            <a:off x="23964860" y="19869864"/>
            <a:ext cx="647740" cy="620315"/>
          </a:xfrm>
          <a:prstGeom prst="curved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round/>
          </a:ln>
        </p:spPr>
      </p:sp>
      <p:sp>
        <p:nvSpPr>
          <p:cNvPr id="292" name="CustomShape 6 4"/>
          <p:cNvSpPr/>
          <p:nvPr/>
        </p:nvSpPr>
        <p:spPr>
          <a:xfrm flipV="1">
            <a:off x="23964859" y="20646836"/>
            <a:ext cx="642470" cy="741880"/>
          </a:xfrm>
          <a:prstGeom prst="curvedConnector3">
            <a:avLst>
              <a:gd name="adj1" fmla="val 50990"/>
            </a:avLst>
          </a:prstGeom>
          <a:noFill/>
          <a:ln w="31680">
            <a:solidFill>
              <a:schemeClr val="tx1"/>
            </a:solidFill>
            <a:round/>
          </a:ln>
        </p:spPr>
      </p:sp>
      <p:sp>
        <p:nvSpPr>
          <p:cNvPr id="293" name="CustomShape 34 3"/>
          <p:cNvSpPr/>
          <p:nvPr/>
        </p:nvSpPr>
        <p:spPr>
          <a:xfrm>
            <a:off x="24592074" y="20337733"/>
            <a:ext cx="460128" cy="438643"/>
          </a:xfrm>
          <a:prstGeom prst="roundRect">
            <a:avLst>
              <a:gd name="adj" fmla="val 16667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295" name="CustomShape 35 3"/>
          <p:cNvSpPr/>
          <p:nvPr/>
        </p:nvSpPr>
        <p:spPr>
          <a:xfrm>
            <a:off x="24683104" y="20303423"/>
            <a:ext cx="225125" cy="34898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2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-</a:t>
            </a:r>
            <a:endParaRPr kumimoji="0" sz="2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305" name="Picture 304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86852" y="22218729"/>
            <a:ext cx="5798795" cy="3028243"/>
          </a:xfrm>
          <a:prstGeom prst="rect">
            <a:avLst/>
          </a:prstGeom>
        </p:spPr>
      </p:pic>
      <p:sp>
        <p:nvSpPr>
          <p:cNvPr id="315" name="TextBox 314"/>
          <p:cNvSpPr txBox="1"/>
          <p:nvPr/>
        </p:nvSpPr>
        <p:spPr>
          <a:xfrm>
            <a:off x="731297" y="30705038"/>
            <a:ext cx="4700081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Data processing performed offline in MATLAB with digital PLL for recovering the modulated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Double sideband is created by employing amplitude and phase modulators</a:t>
            </a:r>
            <a:endParaRPr lang="en-US" sz="2800" dirty="0"/>
          </a:p>
        </p:txBody>
      </p:sp>
      <p:sp>
        <p:nvSpPr>
          <p:cNvPr id="316" name="TextBox 315"/>
          <p:cNvSpPr txBox="1"/>
          <p:nvPr/>
        </p:nvSpPr>
        <p:spPr>
          <a:xfrm>
            <a:off x="724035" y="36080841"/>
            <a:ext cx="766555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Using single-sideband modulation for spectral efficiency and avoiding security loopholes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</a:t>
            </a:r>
            <a:r>
              <a:rPr lang="en-US" sz="2800" dirty="0" smtClean="0"/>
              <a:t>ilot signals for clock recovery, multiplexed in frequency with the quantum signal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Carrier synchronization on receiver side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Replacing AWG and oscilloscope with FPGA DAC/ADC for online signal generation and recovery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Using beat signal for dynamic polarization control</a:t>
            </a:r>
          </a:p>
          <a:p>
            <a:pPr marL="457200" indent="-457200">
              <a:buFontTx/>
              <a:buChar char="-"/>
            </a:pPr>
            <a:endParaRPr lang="en-US" sz="2800" dirty="0" smtClean="0"/>
          </a:p>
        </p:txBody>
      </p:sp>
      <p:sp>
        <p:nvSpPr>
          <p:cNvPr id="318" name="TextBox 317"/>
          <p:cNvSpPr txBox="1"/>
          <p:nvPr/>
        </p:nvSpPr>
        <p:spPr>
          <a:xfrm>
            <a:off x="731297" y="35288827"/>
            <a:ext cx="4211671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Planned setup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9" name="AutoShape 13 8"/>
          <p:cNvSpPr>
            <a:spLocks noChangeArrowheads="1"/>
          </p:cNvSpPr>
          <p:nvPr/>
        </p:nvSpPr>
        <p:spPr bwMode="auto">
          <a:xfrm>
            <a:off x="17626481" y="35118235"/>
            <a:ext cx="11981769" cy="5316135"/>
          </a:xfrm>
          <a:prstGeom prst="roundRect">
            <a:avLst>
              <a:gd name="adj" fmla="val 10870"/>
            </a:avLst>
          </a:prstGeom>
          <a:ln w="76200">
            <a:headEnd/>
            <a:tailEnd/>
          </a:ln>
          <a:extLst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102784" tIns="51392" rIns="102784" bIns="51392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ctr" rtl="0" fontAlgn="base">
              <a:spcBef>
                <a:spcPct val="0"/>
              </a:spcBef>
              <a:spcAft>
                <a:spcPct val="0"/>
              </a:spcAft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6900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eaLnBrk="1" hangingPunct="1"/>
            <a:endParaRPr lang="en-US" altLang="en-US" dirty="0">
              <a:solidFill>
                <a:schemeClr val="bg1"/>
              </a:solidFill>
            </a:endParaRPr>
          </a:p>
        </p:txBody>
      </p:sp>
      <p:sp>
        <p:nvSpPr>
          <p:cNvPr id="320" name="TextBox 319"/>
          <p:cNvSpPr txBox="1"/>
          <p:nvPr/>
        </p:nvSpPr>
        <p:spPr>
          <a:xfrm>
            <a:off x="17847643" y="35171087"/>
            <a:ext cx="5014190" cy="868936"/>
          </a:xfrm>
          <a:prstGeom prst="rect">
            <a:avLst/>
          </a:prstGeom>
          <a:noFill/>
        </p:spPr>
        <p:txBody>
          <a:bodyPr wrap="square" lIns="129013" tIns="64506" rIns="129013" bIns="64506" rtlCol="0">
            <a:spAutoFit/>
          </a:bodyPr>
          <a:lstStyle/>
          <a:p>
            <a:r>
              <a:rPr lang="en-US" sz="4800" dirty="0" smtClean="0">
                <a:latin typeface="Arial" panose="020B0604020202020204" pitchFamily="34" charset="0"/>
                <a:cs typeface="Arial" panose="020B0604020202020204" pitchFamily="34" charset="0"/>
              </a:rPr>
              <a:t>Security analysis</a:t>
            </a:r>
            <a:endParaRPr lang="en-US" sz="4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366" name="Group 365"/>
          <p:cNvGrpSpPr/>
          <p:nvPr/>
        </p:nvGrpSpPr>
        <p:grpSpPr>
          <a:xfrm>
            <a:off x="15987244" y="35448886"/>
            <a:ext cx="1059281" cy="504318"/>
            <a:chOff x="1348146" y="3581156"/>
            <a:chExt cx="1995722" cy="999649"/>
          </a:xfrm>
        </p:grpSpPr>
        <p:cxnSp>
          <p:nvCxnSpPr>
            <p:cNvPr id="367" name="Straight Connector 366"/>
            <p:cNvCxnSpPr/>
            <p:nvPr/>
          </p:nvCxnSpPr>
          <p:spPr>
            <a:xfrm flipV="1">
              <a:off x="1348146" y="4228641"/>
              <a:ext cx="609057" cy="2577"/>
            </a:xfrm>
            <a:prstGeom prst="line">
              <a:avLst/>
            </a:prstGeom>
            <a:noFill/>
            <a:ln w="28575" cap="flat" cmpd="sng" algn="ctr">
              <a:solidFill>
                <a:srgbClr val="0070C0"/>
              </a:solidFill>
              <a:prstDash val="solid"/>
              <a:miter lim="800000"/>
            </a:ln>
            <a:effectLst/>
          </p:spPr>
        </p:cxnSp>
        <p:cxnSp>
          <p:nvCxnSpPr>
            <p:cNvPr id="368" name="Straight Connector 367"/>
            <p:cNvCxnSpPr/>
            <p:nvPr/>
          </p:nvCxnSpPr>
          <p:spPr>
            <a:xfrm flipV="1">
              <a:off x="1348146" y="4578228"/>
              <a:ext cx="609057" cy="2577"/>
            </a:xfrm>
            <a:prstGeom prst="line">
              <a:avLst/>
            </a:prstGeom>
            <a:noFill/>
            <a:ln w="28575" cap="flat" cmpd="sng" algn="ctr">
              <a:solidFill>
                <a:srgbClr val="FF6600"/>
              </a:solidFill>
              <a:prstDash val="solid"/>
              <a:miter lim="800000"/>
            </a:ln>
            <a:effectLst/>
          </p:spPr>
        </p:cxnSp>
        <p:sp>
          <p:nvSpPr>
            <p:cNvPr id="369" name="CustomShape 2 6"/>
            <p:cNvSpPr/>
            <p:nvPr/>
          </p:nvSpPr>
          <p:spPr>
            <a:xfrm>
              <a:off x="2170188" y="3581156"/>
              <a:ext cx="1173680" cy="8362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PMF</a:t>
              </a: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endParaRPr>
            </a:p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dirty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SMF</a:t>
              </a:r>
              <a:endParaRPr kumimoji="0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cxnSp>
        <p:nvCxnSpPr>
          <p:cNvPr id="370" name="Straight Connector 369"/>
          <p:cNvCxnSpPr/>
          <p:nvPr/>
        </p:nvCxnSpPr>
        <p:spPr>
          <a:xfrm>
            <a:off x="13332066" y="36611965"/>
            <a:ext cx="2322176" cy="6524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cxnSp>
        <p:nvCxnSpPr>
          <p:cNvPr id="371" name="Straight Connector 370"/>
          <p:cNvCxnSpPr/>
          <p:nvPr/>
        </p:nvCxnSpPr>
        <p:spPr>
          <a:xfrm flipV="1">
            <a:off x="9827600" y="36619791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372" name="Straight Connector 371"/>
          <p:cNvCxnSpPr/>
          <p:nvPr/>
        </p:nvCxnSpPr>
        <p:spPr>
          <a:xfrm flipV="1">
            <a:off x="9142223" y="36614697"/>
            <a:ext cx="4212000" cy="6869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sp>
        <p:nvSpPr>
          <p:cNvPr id="374" name="Hexagon 373"/>
          <p:cNvSpPr/>
          <p:nvPr/>
        </p:nvSpPr>
        <p:spPr>
          <a:xfrm>
            <a:off x="10602322" y="36340748"/>
            <a:ext cx="1273597" cy="534307"/>
          </a:xfrm>
          <a:prstGeom prst="hexagon">
            <a:avLst/>
          </a:prstGeom>
          <a:solidFill>
            <a:srgbClr val="BF9000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5" name="CustomShape 2 7"/>
          <p:cNvSpPr/>
          <p:nvPr/>
        </p:nvSpPr>
        <p:spPr>
          <a:xfrm>
            <a:off x="10744315" y="36378274"/>
            <a:ext cx="937726" cy="40851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 err="1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IQmod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378" name="Rectangle 377"/>
          <p:cNvSpPr/>
          <p:nvPr/>
        </p:nvSpPr>
        <p:spPr>
          <a:xfrm>
            <a:off x="10700518" y="35418544"/>
            <a:ext cx="1073016" cy="647661"/>
          </a:xfrm>
          <a:prstGeom prst="rect">
            <a:avLst/>
          </a:prstGeom>
          <a:solidFill>
            <a:srgbClr val="ED7D31">
              <a:lumMod val="60000"/>
              <a:lumOff val="40000"/>
            </a:srgbClr>
          </a:solidFill>
          <a:ln w="12700" cap="flat" cmpd="sng" algn="ctr">
            <a:solidFill>
              <a:srgbClr val="5B9BD5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9" name="CustomShape 18 5"/>
          <p:cNvSpPr/>
          <p:nvPr/>
        </p:nvSpPr>
        <p:spPr>
          <a:xfrm>
            <a:off x="10707118" y="35416251"/>
            <a:ext cx="1034638" cy="56836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FPGA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(RF mod)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cxnSp>
        <p:nvCxnSpPr>
          <p:cNvPr id="380" name="Straight Arrow Connector 379"/>
          <p:cNvCxnSpPr/>
          <p:nvPr/>
        </p:nvCxnSpPr>
        <p:spPr>
          <a:xfrm>
            <a:off x="11230442" y="36066384"/>
            <a:ext cx="6584" cy="275794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1" name="CustomShape 34 4"/>
          <p:cNvSpPr/>
          <p:nvPr/>
        </p:nvSpPr>
        <p:spPr>
          <a:xfrm>
            <a:off x="12325982" y="36437316"/>
            <a:ext cx="661798" cy="330351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sp>
        <p:nvSpPr>
          <p:cNvPr id="382" name="CustomShape 35 4"/>
          <p:cNvSpPr/>
          <p:nvPr/>
        </p:nvSpPr>
        <p:spPr>
          <a:xfrm>
            <a:off x="12288371" y="36437692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VATT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383" name="Group 382"/>
          <p:cNvGrpSpPr/>
          <p:nvPr/>
        </p:nvGrpSpPr>
        <p:grpSpPr>
          <a:xfrm>
            <a:off x="8832545" y="35430604"/>
            <a:ext cx="1605272" cy="685782"/>
            <a:chOff x="137734" y="3578280"/>
            <a:chExt cx="1728930" cy="850303"/>
          </a:xfrm>
        </p:grpSpPr>
        <p:sp>
          <p:nvSpPr>
            <p:cNvPr id="384" name="Oval 383"/>
            <p:cNvSpPr/>
            <p:nvPr/>
          </p:nvSpPr>
          <p:spPr>
            <a:xfrm>
              <a:off x="371578" y="3578280"/>
              <a:ext cx="1261241" cy="780192"/>
            </a:xfrm>
            <a:prstGeom prst="ellipse">
              <a:avLst/>
            </a:prstGeom>
            <a:solidFill>
              <a:srgbClr val="F4B183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385" name="CustomShape 18 6"/>
            <p:cNvSpPr/>
            <p:nvPr/>
          </p:nvSpPr>
          <p:spPr>
            <a:xfrm>
              <a:off x="137734" y="3740333"/>
              <a:ext cx="1728930" cy="68825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2000" b="0" i="0" u="none" strike="noStrike" kern="0" cap="none" spc="0" normalizeH="0" baseline="0" noProof="0" smtClean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</a:rPr>
                <a:t>QRNG</a:t>
              </a:r>
              <a:endParaRPr kumimoji="0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endParaRPr>
            </a:p>
          </p:txBody>
        </p:sp>
      </p:grpSp>
      <p:cxnSp>
        <p:nvCxnSpPr>
          <p:cNvPr id="386" name="Straight Arrow Connector 385"/>
          <p:cNvCxnSpPr/>
          <p:nvPr/>
        </p:nvCxnSpPr>
        <p:spPr>
          <a:xfrm flipV="1">
            <a:off x="10225929" y="35741651"/>
            <a:ext cx="471924" cy="723"/>
          </a:xfrm>
          <a:prstGeom prst="straightConnector1">
            <a:avLst/>
          </a:prstGeom>
          <a:noFill/>
          <a:ln w="38100" cap="flat" cmpd="sng" algn="ctr">
            <a:solidFill>
              <a:sysClr val="windowText" lastClr="000000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7" name="Oval 386"/>
          <p:cNvSpPr/>
          <p:nvPr/>
        </p:nvSpPr>
        <p:spPr>
          <a:xfrm>
            <a:off x="14196804" y="36285263"/>
            <a:ext cx="372781" cy="333155"/>
          </a:xfrm>
          <a:prstGeom prst="ellips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smtClean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90" name="Straight Connector 389"/>
          <p:cNvCxnSpPr/>
          <p:nvPr/>
        </p:nvCxnSpPr>
        <p:spPr>
          <a:xfrm>
            <a:off x="11284596" y="39680299"/>
            <a:ext cx="1609764" cy="2425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cxnSp>
        <p:nvCxnSpPr>
          <p:cNvPr id="391" name="Straight Connector 390"/>
          <p:cNvCxnSpPr/>
          <p:nvPr/>
        </p:nvCxnSpPr>
        <p:spPr>
          <a:xfrm flipV="1">
            <a:off x="8406470" y="38122089"/>
            <a:ext cx="4402810" cy="2142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grpSp>
        <p:nvGrpSpPr>
          <p:cNvPr id="392" name="Group 391"/>
          <p:cNvGrpSpPr/>
          <p:nvPr/>
        </p:nvGrpSpPr>
        <p:grpSpPr>
          <a:xfrm>
            <a:off x="12784870" y="38119225"/>
            <a:ext cx="965030" cy="1569643"/>
            <a:chOff x="7321991" y="4382428"/>
            <a:chExt cx="1352355" cy="1569643"/>
          </a:xfrm>
        </p:grpSpPr>
        <p:sp>
          <p:nvSpPr>
            <p:cNvPr id="393" name="CustomShape 5 3"/>
            <p:cNvSpPr/>
            <p:nvPr/>
          </p:nvSpPr>
          <p:spPr>
            <a:xfrm rot="10800000">
              <a:off x="7321991" y="4382428"/>
              <a:ext cx="1341741" cy="863243"/>
            </a:xfrm>
            <a:prstGeom prst="curvedConnector3">
              <a:avLst>
                <a:gd name="adj1" fmla="val 50000"/>
              </a:avLst>
            </a:prstGeom>
            <a:noFill/>
            <a:ln w="28575">
              <a:solidFill>
                <a:srgbClr val="0070C0"/>
              </a:solidFill>
              <a:round/>
            </a:ln>
          </p:spPr>
        </p:sp>
        <p:sp>
          <p:nvSpPr>
            <p:cNvPr id="394" name="CustomShape 6 5"/>
            <p:cNvSpPr/>
            <p:nvPr/>
          </p:nvSpPr>
          <p:spPr>
            <a:xfrm flipV="1">
              <a:off x="7321992" y="5256714"/>
              <a:ext cx="1352354" cy="695357"/>
            </a:xfrm>
            <a:prstGeom prst="curvedConnector3">
              <a:avLst>
                <a:gd name="adj1" fmla="val 65833"/>
              </a:avLst>
            </a:prstGeom>
            <a:noFill/>
            <a:ln w="31680">
              <a:solidFill>
                <a:srgbClr val="0070C0"/>
              </a:solidFill>
              <a:round/>
            </a:ln>
          </p:spPr>
        </p:sp>
      </p:grpSp>
      <p:sp>
        <p:nvSpPr>
          <p:cNvPr id="396" name="CustomShape 17 4"/>
          <p:cNvSpPr/>
          <p:nvPr/>
        </p:nvSpPr>
        <p:spPr>
          <a:xfrm>
            <a:off x="10517479" y="39494671"/>
            <a:ext cx="977230" cy="420675"/>
          </a:xfrm>
          <a:prstGeom prst="parallelogram">
            <a:avLst>
              <a:gd name="adj" fmla="val 25000"/>
            </a:avLst>
          </a:prstGeom>
          <a:solidFill>
            <a:srgbClr val="E7E6E6">
              <a:lumMod val="75000"/>
            </a:srgbClr>
          </a:solidFill>
          <a:ln w="25560">
            <a:noFill/>
          </a:ln>
        </p:spPr>
      </p:sp>
      <p:sp>
        <p:nvSpPr>
          <p:cNvPr id="398" name="CustomShape 35 5"/>
          <p:cNvSpPr/>
          <p:nvPr/>
        </p:nvSpPr>
        <p:spPr>
          <a:xfrm>
            <a:off x="10668651" y="38374364"/>
            <a:ext cx="2268901" cy="69504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dynamic polarization </a:t>
            </a:r>
            <a:endParaRPr kumimoji="0" lang="da-DK" sz="18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8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controller</a:t>
            </a:r>
            <a:endParaRPr kumimoji="0" sz="1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400" name="Group 399"/>
          <p:cNvGrpSpPr/>
          <p:nvPr/>
        </p:nvGrpSpPr>
        <p:grpSpPr>
          <a:xfrm>
            <a:off x="11215357" y="37909381"/>
            <a:ext cx="752587" cy="436480"/>
            <a:chOff x="6072867" y="1992156"/>
            <a:chExt cx="752587" cy="436480"/>
          </a:xfrm>
        </p:grpSpPr>
        <p:sp>
          <p:nvSpPr>
            <p:cNvPr id="401" name="Rounded Rectangle 400"/>
            <p:cNvSpPr/>
            <p:nvPr/>
          </p:nvSpPr>
          <p:spPr>
            <a:xfrm>
              <a:off x="6072867" y="1992156"/>
              <a:ext cx="752587" cy="436480"/>
            </a:xfrm>
            <a:prstGeom prst="roundRect">
              <a:avLst/>
            </a:pr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a-DK" sz="1800" b="0" i="0" u="none" strike="noStrike" kern="0" cap="none" spc="0" normalizeH="0" baseline="0" noProof="0" dirty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pic>
          <p:nvPicPr>
            <p:cNvPr id="402" name="Picture 40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75836" y="2016951"/>
              <a:ext cx="369882" cy="393370"/>
            </a:xfrm>
            <a:prstGeom prst="rect">
              <a:avLst/>
            </a:prstGeom>
          </p:spPr>
        </p:pic>
      </p:grpSp>
      <p:cxnSp>
        <p:nvCxnSpPr>
          <p:cNvPr id="403" name="Straight Connector 402"/>
          <p:cNvCxnSpPr/>
          <p:nvPr/>
        </p:nvCxnSpPr>
        <p:spPr>
          <a:xfrm flipV="1">
            <a:off x="11911023" y="39675217"/>
            <a:ext cx="274320" cy="2577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sp>
        <p:nvSpPr>
          <p:cNvPr id="404" name="Oval 403"/>
          <p:cNvSpPr/>
          <p:nvPr/>
        </p:nvSpPr>
        <p:spPr>
          <a:xfrm>
            <a:off x="9688718" y="37787502"/>
            <a:ext cx="372781" cy="333155"/>
          </a:xfrm>
          <a:prstGeom prst="ellips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smtClean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½</a:t>
            </a:r>
          </a:p>
        </p:txBody>
      </p:sp>
      <p:sp>
        <p:nvSpPr>
          <p:cNvPr id="405" name="CustomShape 18 7"/>
          <p:cNvSpPr/>
          <p:nvPr/>
        </p:nvSpPr>
        <p:spPr>
          <a:xfrm>
            <a:off x="10542618" y="39541819"/>
            <a:ext cx="938823" cy="326378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LLO laser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08" name="CustomShape 49 2"/>
          <p:cNvSpPr/>
          <p:nvPr/>
        </p:nvSpPr>
        <p:spPr>
          <a:xfrm rot="10800000" flipV="1">
            <a:off x="11613218" y="37633807"/>
            <a:ext cx="3902139" cy="282054"/>
          </a:xfrm>
          <a:prstGeom prst="bentConnector2">
            <a:avLst/>
          </a:prstGeom>
          <a:noFill/>
          <a:ln w="38160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11" name="Rectangle 410"/>
          <p:cNvSpPr/>
          <p:nvPr/>
        </p:nvSpPr>
        <p:spPr>
          <a:xfrm>
            <a:off x="14846125" y="37241316"/>
            <a:ext cx="1982906" cy="84721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3" name="CustomShape 18 9"/>
          <p:cNvSpPr/>
          <p:nvPr/>
        </p:nvSpPr>
        <p:spPr>
          <a:xfrm>
            <a:off x="15021115" y="37250659"/>
            <a:ext cx="1728930" cy="87492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ADC, clock recovery, 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demodulation,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reconstruction etc.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416" name="CustomShape 49 3"/>
          <p:cNvSpPr/>
          <p:nvPr/>
        </p:nvSpPr>
        <p:spPr>
          <a:xfrm rot="10800000" flipH="1">
            <a:off x="16097088" y="38114826"/>
            <a:ext cx="370876" cy="901612"/>
          </a:xfrm>
          <a:prstGeom prst="bentConnector2">
            <a:avLst/>
          </a:prstGeom>
          <a:noFill/>
          <a:ln w="57150">
            <a:solidFill>
              <a:srgbClr val="000000"/>
            </a:solidFill>
            <a:round/>
            <a:tailEnd type="triangle" w="med" len="med"/>
          </a:ln>
        </p:spPr>
      </p:sp>
      <p:sp>
        <p:nvSpPr>
          <p:cNvPr id="417" name="Rectangle 416"/>
          <p:cNvSpPr/>
          <p:nvPr/>
        </p:nvSpPr>
        <p:spPr>
          <a:xfrm>
            <a:off x="14268147" y="38578724"/>
            <a:ext cx="1652249" cy="104644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heterodyne detection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kumimoji="0" lang="el-GR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ω</a:t>
            </a:r>
            <a:r>
              <a:rPr kumimoji="0" lang="en-US" sz="1400" b="0" i="0" u="none" strike="noStrike" kern="0" cap="none" spc="0" normalizeH="0" baseline="-2500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kumimoji="0" lang="en-US" sz="1400" b="0" i="0" u="none" strike="noStrike" kern="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≠ 0)</a:t>
            </a:r>
            <a:endParaRPr kumimoji="0" lang="en-US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8" name="CustomShape 6 6"/>
          <p:cNvSpPr/>
          <p:nvPr/>
        </p:nvSpPr>
        <p:spPr>
          <a:xfrm flipH="1">
            <a:off x="13725644" y="38421205"/>
            <a:ext cx="1184152" cy="562967"/>
          </a:xfrm>
          <a:prstGeom prst="curvedConnector3">
            <a:avLst>
              <a:gd name="adj1" fmla="val 55788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419" name="CustomShape 6 7"/>
          <p:cNvSpPr/>
          <p:nvPr/>
        </p:nvSpPr>
        <p:spPr>
          <a:xfrm>
            <a:off x="13753067" y="38993515"/>
            <a:ext cx="1156729" cy="496002"/>
          </a:xfrm>
          <a:prstGeom prst="curvedConnector3">
            <a:avLst>
              <a:gd name="adj1" fmla="val 41619"/>
            </a:avLst>
          </a:prstGeom>
          <a:noFill/>
          <a:ln w="31680">
            <a:solidFill>
              <a:srgbClr val="0070C0"/>
            </a:solidFill>
            <a:round/>
          </a:ln>
        </p:spPr>
      </p:sp>
      <p:sp>
        <p:nvSpPr>
          <p:cNvPr id="420" name="Flowchart: Delay 419"/>
          <p:cNvSpPr/>
          <p:nvPr/>
        </p:nvSpPr>
        <p:spPr>
          <a:xfrm>
            <a:off x="14909796" y="38228278"/>
            <a:ext cx="390698" cy="407324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1" name="CustomShape 5 4"/>
          <p:cNvSpPr/>
          <p:nvPr/>
        </p:nvSpPr>
        <p:spPr>
          <a:xfrm rot="10800000">
            <a:off x="15300494" y="38433396"/>
            <a:ext cx="508985" cy="583040"/>
          </a:xfrm>
          <a:prstGeom prst="curvedConnector3">
            <a:avLst>
              <a:gd name="adj1" fmla="val 50000"/>
            </a:avLst>
          </a:prstGeom>
          <a:noFill/>
          <a:ln w="28575">
            <a:solidFill>
              <a:schemeClr val="tx1"/>
            </a:solidFill>
            <a:round/>
          </a:ln>
        </p:spPr>
      </p:sp>
      <p:sp>
        <p:nvSpPr>
          <p:cNvPr id="422" name="CustomShape 34 6"/>
          <p:cNvSpPr/>
          <p:nvPr/>
        </p:nvSpPr>
        <p:spPr>
          <a:xfrm>
            <a:off x="15809480" y="38828215"/>
            <a:ext cx="338809" cy="330591"/>
          </a:xfrm>
          <a:prstGeom prst="roundRect">
            <a:avLst>
              <a:gd name="adj" fmla="val 16667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sp>
      <p:sp>
        <p:nvSpPr>
          <p:cNvPr id="423" name="TextBox 422"/>
          <p:cNvSpPr txBox="1"/>
          <p:nvPr/>
        </p:nvSpPr>
        <p:spPr>
          <a:xfrm>
            <a:off x="11493423" y="40708319"/>
            <a:ext cx="11374977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1600" dirty="0" smtClean="0"/>
              <a:t>A </a:t>
            </a:r>
            <a:r>
              <a:rPr lang="en-US" sz="1600" dirty="0" err="1" smtClean="0"/>
              <a:t>composable</a:t>
            </a:r>
            <a:r>
              <a:rPr lang="en-US" sz="1600" dirty="0" smtClean="0"/>
              <a:t> security proof for the most general attacks in Gaussian CV-QKD systems is still an open problem</a:t>
            </a:r>
          </a:p>
          <a:p>
            <a:pPr marL="457200" indent="-457200">
              <a:buFontTx/>
              <a:buChar char="-"/>
            </a:pPr>
            <a:r>
              <a:rPr lang="en-US" sz="1600" dirty="0" smtClean="0"/>
              <a:t>It is proved that the system is secure against collective attacks for continuous Gaussian modulation of coherent states; this is very important result since general coherent attacks will be possible only with very advanced quantum adversary in, what is believed, not so near future</a:t>
            </a:r>
          </a:p>
          <a:p>
            <a:pPr marL="457200" indent="-457200">
              <a:buFontTx/>
              <a:buChar char="-"/>
            </a:pPr>
            <a:r>
              <a:rPr lang="en-US" sz="1600" dirty="0" smtClean="0"/>
              <a:t>The main focus of our theoretical research is estimating final key length taking into account finite block length and inevitable discretization of Gaussian modulation</a:t>
            </a:r>
          </a:p>
          <a:p>
            <a:pPr marL="457200" indent="-457200">
              <a:buFontTx/>
              <a:buChar char="-"/>
            </a:pPr>
            <a:r>
              <a:rPr lang="en-US" sz="1600" dirty="0" smtClean="0"/>
              <a:t>Current security proof provides an expression for secret key length:</a:t>
            </a:r>
          </a:p>
          <a:p>
            <a:pPr marL="457200" indent="-457200">
              <a:buFontTx/>
              <a:buChar char="-"/>
            </a:pPr>
            <a:r>
              <a:rPr lang="en-US" sz="1600" dirty="0" smtClean="0"/>
              <a:t>EQUATION FROM COSMO</a:t>
            </a:r>
          </a:p>
          <a:p>
            <a:pPr marL="457200" indent="-457200">
              <a:buFontTx/>
              <a:buChar char="-"/>
            </a:pPr>
            <a:endParaRPr lang="en-US" sz="2000" dirty="0"/>
          </a:p>
        </p:txBody>
      </p:sp>
      <p:grpSp>
        <p:nvGrpSpPr>
          <p:cNvPr id="22" name="Group 21"/>
          <p:cNvGrpSpPr/>
          <p:nvPr/>
        </p:nvGrpSpPr>
        <p:grpSpPr>
          <a:xfrm>
            <a:off x="20322453" y="12129443"/>
            <a:ext cx="8215167" cy="3552676"/>
            <a:chOff x="20322453" y="12129443"/>
            <a:chExt cx="8215167" cy="3552676"/>
          </a:xfrm>
        </p:grpSpPr>
        <p:pic>
          <p:nvPicPr>
            <p:cNvPr id="9" name="Picture 8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22453" y="12129443"/>
              <a:ext cx="8215167" cy="324000"/>
            </a:xfrm>
            <a:prstGeom prst="rect">
              <a:avLst/>
            </a:prstGeom>
          </p:spPr>
        </p:pic>
        <p:pic>
          <p:nvPicPr>
            <p:cNvPr id="17" name="Picture 16"/>
            <p:cNvPicPr>
              <a:picLocks noChangeAspect="1"/>
            </p:cNvPicPr>
            <p:nvPr>
              <p:custDataLst>
                <p:tags r:id="rId3"/>
              </p:custDataLst>
            </p:nvPr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322453" y="12694119"/>
              <a:ext cx="6953281" cy="2988000"/>
            </a:xfrm>
            <a:prstGeom prst="rect">
              <a:avLst/>
            </a:prstGeom>
          </p:spPr>
        </p:pic>
      </p:grpSp>
      <p:sp>
        <p:nvSpPr>
          <p:cNvPr id="19" name="Rectangle 18"/>
          <p:cNvSpPr/>
          <p:nvPr/>
        </p:nvSpPr>
        <p:spPr>
          <a:xfrm>
            <a:off x="8885236" y="12100718"/>
            <a:ext cx="6305414" cy="5430717"/>
          </a:xfrm>
          <a:prstGeom prst="rect">
            <a:avLst/>
          </a:prstGeom>
          <a:noFill/>
          <a:ln w="28575"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5" name="TextBox 174"/>
          <p:cNvSpPr txBox="1"/>
          <p:nvPr/>
        </p:nvSpPr>
        <p:spPr>
          <a:xfrm>
            <a:off x="19786065" y="15871223"/>
            <a:ext cx="95393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smtClean="0"/>
              <a:t>Assuming small modulation depths, quadrature DC bias on AM, and negligible phase noise and drifts in the setup: </a:t>
            </a:r>
            <a:endParaRPr lang="en-US" sz="2800" dirty="0" smtClean="0"/>
          </a:p>
        </p:txBody>
      </p:sp>
      <p:pic>
        <p:nvPicPr>
          <p:cNvPr id="30" name="Picture 29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2453" y="17053720"/>
            <a:ext cx="7452011" cy="324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86920" y="12893230"/>
            <a:ext cx="6250465" cy="151884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994243" y="15223906"/>
            <a:ext cx="6101815" cy="1315985"/>
          </a:xfrm>
          <a:prstGeom prst="rect">
            <a:avLst/>
          </a:prstGeom>
        </p:spPr>
      </p:pic>
      <p:sp>
        <p:nvSpPr>
          <p:cNvPr id="165" name="CustomShape 18 2"/>
          <p:cNvSpPr/>
          <p:nvPr/>
        </p:nvSpPr>
        <p:spPr>
          <a:xfrm>
            <a:off x="10969905" y="12435001"/>
            <a:ext cx="2275843" cy="449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kern="0" dirty="0" smtClean="0">
                <a:solidFill>
                  <a:srgbClr val="000000"/>
                </a:solidFill>
                <a:latin typeface="Arial"/>
              </a:rPr>
              <a:t>Transmitted LO</a:t>
            </a: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166" name="CustomShape 18 2"/>
          <p:cNvSpPr/>
          <p:nvPr/>
        </p:nvSpPr>
        <p:spPr>
          <a:xfrm>
            <a:off x="11385247" y="14822869"/>
            <a:ext cx="2275843" cy="449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kern="0" dirty="0" smtClean="0">
                <a:solidFill>
                  <a:srgbClr val="000000"/>
                </a:solidFill>
                <a:latin typeface="Arial"/>
              </a:rPr>
              <a:t>Local LO</a:t>
            </a:r>
            <a:endParaRPr kumimoji="0" lang="en-US" sz="2000" b="0" i="0" u="none" strike="noStrike" kern="0" cap="none" spc="0" normalizeH="0" baseline="0" noProof="0" dirty="0" smtClean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</a:endParaRPr>
          </a:p>
        </p:txBody>
      </p:sp>
      <p:cxnSp>
        <p:nvCxnSpPr>
          <p:cNvPr id="169" name="Straight Connector 168"/>
          <p:cNvCxnSpPr/>
          <p:nvPr/>
        </p:nvCxnSpPr>
        <p:spPr>
          <a:xfrm flipV="1">
            <a:off x="17287884" y="21415615"/>
            <a:ext cx="1701608" cy="6872"/>
          </a:xfrm>
          <a:prstGeom prst="line">
            <a:avLst/>
          </a:prstGeom>
          <a:noFill/>
          <a:ln w="28575" cap="flat" cmpd="sng" algn="ctr">
            <a:solidFill>
              <a:srgbClr val="FF6600"/>
            </a:solidFill>
            <a:prstDash val="solid"/>
            <a:miter lim="800000"/>
          </a:ln>
          <a:effectLst/>
        </p:spPr>
      </p:cxnSp>
      <p:cxnSp>
        <p:nvCxnSpPr>
          <p:cNvPr id="171" name="Straight Connector 170"/>
          <p:cNvCxnSpPr/>
          <p:nvPr/>
        </p:nvCxnSpPr>
        <p:spPr>
          <a:xfrm flipV="1">
            <a:off x="18989492" y="21415615"/>
            <a:ext cx="1412674" cy="1"/>
          </a:xfrm>
          <a:prstGeom prst="line">
            <a:avLst/>
          </a:prstGeom>
          <a:noFill/>
          <a:ln w="28575" cap="flat" cmpd="sng" algn="ctr">
            <a:solidFill>
              <a:srgbClr val="0070C0"/>
            </a:solidFill>
            <a:prstDash val="solid"/>
            <a:miter lim="800000"/>
          </a:ln>
          <a:effectLst/>
        </p:spPr>
      </p:cxnSp>
      <p:cxnSp>
        <p:nvCxnSpPr>
          <p:cNvPr id="35" name="Straight Arrow Connector 34"/>
          <p:cNvCxnSpPr/>
          <p:nvPr/>
        </p:nvCxnSpPr>
        <p:spPr>
          <a:xfrm>
            <a:off x="25071801" y="20552323"/>
            <a:ext cx="121920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2" name="Rectangle 191"/>
          <p:cNvSpPr/>
          <p:nvPr/>
        </p:nvSpPr>
        <p:spPr>
          <a:xfrm>
            <a:off x="2278859" y="19707120"/>
            <a:ext cx="11622079" cy="2004864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" name="Rectangle 193"/>
          <p:cNvSpPr/>
          <p:nvPr/>
        </p:nvSpPr>
        <p:spPr>
          <a:xfrm>
            <a:off x="19019838" y="19368889"/>
            <a:ext cx="10164080" cy="2523380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CustomShape 18 1"/>
          <p:cNvSpPr/>
          <p:nvPr/>
        </p:nvSpPr>
        <p:spPr>
          <a:xfrm>
            <a:off x="5329909" y="19775992"/>
            <a:ext cx="1728930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36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Alice</a:t>
            </a:r>
            <a:endParaRPr sz="36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8" name="CustomShape 18 1"/>
          <p:cNvSpPr/>
          <p:nvPr/>
        </p:nvSpPr>
        <p:spPr>
          <a:xfrm>
            <a:off x="27533166" y="21078362"/>
            <a:ext cx="1728930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32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Bob</a:t>
            </a:r>
            <a:endParaRPr sz="32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4" name="Rectangle 213"/>
          <p:cNvSpPr/>
          <p:nvPr/>
        </p:nvSpPr>
        <p:spPr>
          <a:xfrm>
            <a:off x="15601926" y="18695638"/>
            <a:ext cx="2993580" cy="169259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CustomShape 18 1"/>
          <p:cNvSpPr/>
          <p:nvPr/>
        </p:nvSpPr>
        <p:spPr>
          <a:xfrm>
            <a:off x="16084692" y="18667082"/>
            <a:ext cx="1967885" cy="68825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400" smtClean="0">
                <a:solidFill>
                  <a:schemeClr val="bg1"/>
                </a:solidFill>
                <a:latin typeface="Arial"/>
              </a:rPr>
              <a:t>Arbitrary waveform</a:t>
            </a:r>
          </a:p>
          <a:p>
            <a:pPr algn="ctr">
              <a:lnSpc>
                <a:spcPct val="100000"/>
              </a:lnSpc>
            </a:pPr>
            <a:r>
              <a:rPr lang="en-US" sz="2400">
                <a:solidFill>
                  <a:schemeClr val="bg1"/>
                </a:solidFill>
                <a:latin typeface="Arial"/>
              </a:rPr>
              <a:t>g</a:t>
            </a:r>
            <a:r>
              <a:rPr lang="en-US" sz="2400" smtClean="0">
                <a:solidFill>
                  <a:schemeClr val="bg1"/>
                </a:solidFill>
                <a:latin typeface="Arial"/>
              </a:rPr>
              <a:t>enerator  (AWG)</a:t>
            </a:r>
            <a:endParaRPr sz="2400" dirty="0">
              <a:solidFill>
                <a:schemeClr val="bg1"/>
              </a:solidFill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15743237" y="19431468"/>
            <a:ext cx="599327" cy="441651"/>
            <a:chOff x="15787937" y="19660590"/>
            <a:chExt cx="599327" cy="441651"/>
          </a:xfrm>
        </p:grpSpPr>
        <p:sp>
          <p:nvSpPr>
            <p:cNvPr id="84" name="Oval 83"/>
            <p:cNvSpPr/>
            <p:nvPr/>
          </p:nvSpPr>
          <p:spPr>
            <a:xfrm>
              <a:off x="15918363" y="19962301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1" name="Oval 230"/>
            <p:cNvSpPr/>
            <p:nvPr/>
          </p:nvSpPr>
          <p:spPr>
            <a:xfrm>
              <a:off x="16123603" y="19962301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15884700" y="19908857"/>
              <a:ext cx="392196" cy="1933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3" name="CustomShape 18 1"/>
            <p:cNvSpPr/>
            <p:nvPr/>
          </p:nvSpPr>
          <p:spPr>
            <a:xfrm>
              <a:off x="15787937" y="19660590"/>
              <a:ext cx="599327" cy="222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algn="ctr">
                <a:lnSpc>
                  <a:spcPct val="100000"/>
                </a:lnSpc>
              </a:pPr>
              <a:r>
                <a:rPr lang="en-US" sz="1200" dirty="0" smtClean="0">
                  <a:solidFill>
                    <a:srgbClr val="000000"/>
                  </a:solidFill>
                  <a:latin typeface="Arial"/>
                </a:rPr>
                <a:t>Ch1</a:t>
              </a:r>
              <a:endParaRPr sz="1200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15732000" y="19955883"/>
            <a:ext cx="599327" cy="410318"/>
            <a:chOff x="17587158" y="19919778"/>
            <a:chExt cx="599327" cy="410318"/>
          </a:xfrm>
        </p:grpSpPr>
        <p:sp>
          <p:nvSpPr>
            <p:cNvPr id="232" name="Oval 231"/>
            <p:cNvSpPr/>
            <p:nvPr/>
          </p:nvSpPr>
          <p:spPr>
            <a:xfrm>
              <a:off x="17739371" y="19967245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37" name="Oval 236"/>
            <p:cNvSpPr/>
            <p:nvPr/>
          </p:nvSpPr>
          <p:spPr>
            <a:xfrm>
              <a:off x="17943824" y="19967672"/>
              <a:ext cx="84195" cy="8649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2" name="Rectangle 241"/>
            <p:cNvSpPr/>
            <p:nvPr/>
          </p:nvSpPr>
          <p:spPr>
            <a:xfrm>
              <a:off x="17694776" y="19919778"/>
              <a:ext cx="392196" cy="193384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44" name="CustomShape 18 1"/>
            <p:cNvSpPr/>
            <p:nvPr/>
          </p:nvSpPr>
          <p:spPr>
            <a:xfrm>
              <a:off x="17587158" y="20107518"/>
              <a:ext cx="599327" cy="22257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 algn="ctr">
                <a:lnSpc>
                  <a:spcPct val="100000"/>
                </a:lnSpc>
              </a:pPr>
              <a:r>
                <a:rPr lang="en-US" sz="1200" dirty="0" smtClean="0">
                  <a:solidFill>
                    <a:srgbClr val="000000"/>
                  </a:solidFill>
                  <a:latin typeface="Arial"/>
                </a:rPr>
                <a:t>Ch2</a:t>
              </a:r>
              <a:endParaRPr sz="1200" dirty="0"/>
            </a:p>
          </p:txBody>
        </p:sp>
      </p:grpSp>
      <p:sp>
        <p:nvSpPr>
          <p:cNvPr id="182" name="CustomShape 2 2"/>
          <p:cNvSpPr/>
          <p:nvPr/>
        </p:nvSpPr>
        <p:spPr>
          <a:xfrm>
            <a:off x="9828552" y="20428269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Phase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modulator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(PM)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183" name="CustomShape 2 2"/>
          <p:cNvSpPr/>
          <p:nvPr/>
        </p:nvSpPr>
        <p:spPr>
          <a:xfrm>
            <a:off x="11864329" y="20406519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Variable 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attenuator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solidFill>
                  <a:schemeClr val="bg1"/>
                </a:solidFill>
                <a:latin typeface="Arial"/>
              </a:rPr>
              <a:t>(VATT)</a:t>
            </a:r>
            <a:endParaRPr sz="2000" dirty="0">
              <a:solidFill>
                <a:schemeClr val="bg1"/>
              </a:solidFill>
            </a:endParaRPr>
          </a:p>
        </p:txBody>
      </p:sp>
      <p:grpSp>
        <p:nvGrpSpPr>
          <p:cNvPr id="148" name="Group 147"/>
          <p:cNvGrpSpPr>
            <a:grpSpLocks noChangeAspect="1"/>
          </p:cNvGrpSpPr>
          <p:nvPr/>
        </p:nvGrpSpPr>
        <p:grpSpPr>
          <a:xfrm>
            <a:off x="16147864" y="20607292"/>
            <a:ext cx="1296000" cy="1228825"/>
            <a:chOff x="5212431" y="4474143"/>
            <a:chExt cx="552946" cy="605570"/>
          </a:xfrm>
        </p:grpSpPr>
        <p:sp>
          <p:nvSpPr>
            <p:cNvPr id="149" name="Can 148"/>
            <p:cNvSpPr/>
            <p:nvPr/>
          </p:nvSpPr>
          <p:spPr>
            <a:xfrm>
              <a:off x="5212538" y="4968835"/>
              <a:ext cx="552839" cy="110878"/>
            </a:xfrm>
            <a:prstGeom prst="can">
              <a:avLst>
                <a:gd name="adj" fmla="val 50000"/>
              </a:avLst>
            </a:prstGeom>
            <a:solidFill>
              <a:schemeClr val="tx2"/>
            </a:solidFill>
            <a:ln w="9525">
              <a:solidFill>
                <a:schemeClr val="tx2"/>
              </a:solidFill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50" name="Group 149"/>
            <p:cNvGrpSpPr/>
            <p:nvPr/>
          </p:nvGrpSpPr>
          <p:grpSpPr>
            <a:xfrm>
              <a:off x="5277572" y="4732951"/>
              <a:ext cx="422665" cy="275027"/>
              <a:chOff x="1530028" y="4595042"/>
              <a:chExt cx="533535" cy="510684"/>
            </a:xfrm>
          </p:grpSpPr>
          <p:sp>
            <p:nvSpPr>
              <p:cNvPr id="157" name="Can 156"/>
              <p:cNvSpPr/>
              <p:nvPr/>
            </p:nvSpPr>
            <p:spPr>
              <a:xfrm>
                <a:off x="1530163" y="48998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8" name="Can 157"/>
              <p:cNvSpPr/>
              <p:nvPr/>
            </p:nvSpPr>
            <p:spPr>
              <a:xfrm>
                <a:off x="1530163" y="48236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59" name="Can 158"/>
              <p:cNvSpPr/>
              <p:nvPr/>
            </p:nvSpPr>
            <p:spPr>
              <a:xfrm>
                <a:off x="1530163" y="47474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0" name="Can 159"/>
              <p:cNvSpPr/>
              <p:nvPr/>
            </p:nvSpPr>
            <p:spPr>
              <a:xfrm>
                <a:off x="1530163" y="46712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61" name="Can 160"/>
              <p:cNvSpPr/>
              <p:nvPr/>
            </p:nvSpPr>
            <p:spPr>
              <a:xfrm>
                <a:off x="1530028" y="4595042"/>
                <a:ext cx="533400" cy="205884"/>
              </a:xfrm>
              <a:prstGeom prst="can">
                <a:avLst>
                  <a:gd name="adj" fmla="val 50000"/>
                </a:avLst>
              </a:prstGeom>
              <a:solidFill>
                <a:schemeClr val="bg2"/>
              </a:solidFill>
              <a:ln w="9525">
                <a:solidFill>
                  <a:srgbClr val="FF6600"/>
                </a:solidFill>
              </a:ln>
              <a:scene3d>
                <a:camera prst="orthographicFront">
                  <a:rot lat="0" lon="0" rev="0"/>
                </a:camera>
                <a:lightRig rig="threePt" dir="t"/>
              </a:scene3d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sp>
          <p:nvSpPr>
            <p:cNvPr id="151" name="Can 150"/>
            <p:cNvSpPr/>
            <p:nvPr/>
          </p:nvSpPr>
          <p:spPr>
            <a:xfrm>
              <a:off x="5277679" y="4691914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2" name="Can 151"/>
            <p:cNvSpPr/>
            <p:nvPr/>
          </p:nvSpPr>
          <p:spPr>
            <a:xfrm>
              <a:off x="5277679" y="4650877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3" name="Can 152"/>
            <p:cNvSpPr/>
            <p:nvPr/>
          </p:nvSpPr>
          <p:spPr>
            <a:xfrm>
              <a:off x="5277679" y="4609840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4" name="Can 153"/>
            <p:cNvSpPr/>
            <p:nvPr/>
          </p:nvSpPr>
          <p:spPr>
            <a:xfrm>
              <a:off x="5277679" y="4568802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5" name="Can 154"/>
            <p:cNvSpPr/>
            <p:nvPr/>
          </p:nvSpPr>
          <p:spPr>
            <a:xfrm>
              <a:off x="5277572" y="4527765"/>
              <a:ext cx="422558" cy="110878"/>
            </a:xfrm>
            <a:prstGeom prst="can">
              <a:avLst>
                <a:gd name="adj" fmla="val 50000"/>
              </a:avLst>
            </a:prstGeom>
            <a:solidFill>
              <a:schemeClr val="bg2"/>
            </a:solidFill>
            <a:ln w="9525">
              <a:solidFill>
                <a:srgbClr val="FF6600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6" name="Can 155"/>
            <p:cNvSpPr/>
            <p:nvPr/>
          </p:nvSpPr>
          <p:spPr>
            <a:xfrm>
              <a:off x="5212431" y="4474143"/>
              <a:ext cx="552839" cy="110878"/>
            </a:xfrm>
            <a:prstGeom prst="can">
              <a:avLst>
                <a:gd name="adj" fmla="val 50000"/>
              </a:avLst>
            </a:prstGeom>
            <a:solidFill>
              <a:schemeClr val="tx2"/>
            </a:solidFill>
            <a:ln w="9525">
              <a:solidFill>
                <a:schemeClr val="tx2"/>
              </a:solidFill>
            </a:ln>
            <a:scene3d>
              <a:camera prst="perspectiveRelaxed" fov="1500000">
                <a:rot lat="21594000" lon="0" rev="0"/>
              </a:camera>
              <a:lightRig rig="threePt" dir="t"/>
            </a:scene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54" name="Rectangle 53"/>
          <p:cNvSpPr/>
          <p:nvPr/>
        </p:nvSpPr>
        <p:spPr>
          <a:xfrm>
            <a:off x="692929" y="24408999"/>
            <a:ext cx="1700568" cy="1066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0" name="Group 219"/>
          <p:cNvGrpSpPr/>
          <p:nvPr/>
        </p:nvGrpSpPr>
        <p:grpSpPr>
          <a:xfrm>
            <a:off x="12473815" y="22047818"/>
            <a:ext cx="4161278" cy="836289"/>
            <a:chOff x="-3086370" y="-1256113"/>
            <a:chExt cx="4161278" cy="836289"/>
          </a:xfrm>
        </p:grpSpPr>
        <p:cxnSp>
          <p:nvCxnSpPr>
            <p:cNvPr id="221" name="Straight Connector 220"/>
            <p:cNvCxnSpPr/>
            <p:nvPr/>
          </p:nvCxnSpPr>
          <p:spPr>
            <a:xfrm flipV="1">
              <a:off x="-3086370" y="-1024104"/>
              <a:ext cx="609057" cy="2577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Connector 221"/>
            <p:cNvCxnSpPr/>
            <p:nvPr/>
          </p:nvCxnSpPr>
          <p:spPr>
            <a:xfrm flipV="1">
              <a:off x="-3086370" y="-674517"/>
              <a:ext cx="609057" cy="2577"/>
            </a:xfrm>
            <a:prstGeom prst="line">
              <a:avLst/>
            </a:prstGeom>
            <a:ln w="28575">
              <a:solidFill>
                <a:srgbClr val="FF66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3" name="CustomShape 2 4"/>
            <p:cNvSpPr/>
            <p:nvPr/>
          </p:nvSpPr>
          <p:spPr>
            <a:xfrm>
              <a:off x="-2331368" y="-1256113"/>
              <a:ext cx="3406276" cy="83628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0000" tIns="45000" rIns="90000" bIns="45000"/>
            <a:lstStyle/>
            <a:p>
              <a:pPr>
                <a:lnSpc>
                  <a:spcPct val="100000"/>
                </a:lnSpc>
              </a:pP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polarization maintaining </a:t>
              </a:r>
              <a:r>
                <a:rPr lang="en-US" sz="2000">
                  <a:solidFill>
                    <a:srgbClr val="000000"/>
                  </a:solidFill>
                  <a:latin typeface="Arial"/>
                </a:rPr>
                <a:t>f</a:t>
              </a: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iber</a:t>
              </a:r>
              <a:endParaRPr lang="en-US" sz="2000" dirty="0" smtClean="0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endParaRPr lang="en-US" sz="400" dirty="0" smtClean="0">
                <a:solidFill>
                  <a:srgbClr val="000000"/>
                </a:solidFill>
                <a:latin typeface="Arial"/>
              </a:endParaRPr>
            </a:p>
            <a:p>
              <a:pPr>
                <a:lnSpc>
                  <a:spcPct val="100000"/>
                </a:lnSpc>
              </a:pPr>
              <a:r>
                <a:rPr lang="en-US" sz="2000">
                  <a:solidFill>
                    <a:srgbClr val="000000"/>
                  </a:solidFill>
                  <a:latin typeface="Arial"/>
                </a:rPr>
                <a:t>s</a:t>
              </a:r>
              <a:r>
                <a:rPr lang="en-US" sz="2000" smtClean="0">
                  <a:solidFill>
                    <a:srgbClr val="000000"/>
                  </a:solidFill>
                  <a:latin typeface="Arial"/>
                </a:rPr>
                <a:t>ingle mode fiber</a:t>
              </a:r>
              <a:endParaRPr dirty="0"/>
            </a:p>
          </p:txBody>
        </p:sp>
      </p:grpSp>
      <p:pic>
        <p:nvPicPr>
          <p:cNvPr id="285" name="Picture 28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6953" y="21920715"/>
            <a:ext cx="4815084" cy="3134371"/>
          </a:xfrm>
          <a:prstGeom prst="rect">
            <a:avLst/>
          </a:prstGeom>
        </p:spPr>
      </p:pic>
      <p:pic>
        <p:nvPicPr>
          <p:cNvPr id="290" name="Picture 289"/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4587" y="21912879"/>
            <a:ext cx="5020101" cy="3058605"/>
          </a:xfrm>
          <a:prstGeom prst="rect">
            <a:avLst/>
          </a:prstGeom>
        </p:spPr>
      </p:pic>
      <p:sp>
        <p:nvSpPr>
          <p:cNvPr id="300" name="CustomShape 18 4"/>
          <p:cNvSpPr/>
          <p:nvPr/>
        </p:nvSpPr>
        <p:spPr>
          <a:xfrm>
            <a:off x="6639531" y="27671054"/>
            <a:ext cx="5768041" cy="1131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200" kern="0" dirty="0">
                <a:solidFill>
                  <a:srgbClr val="000000"/>
                </a:solidFill>
                <a:latin typeface="Arial"/>
              </a:rPr>
              <a:t>Broadband coding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requires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a thorough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pre-characterization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of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the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modulators and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detector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response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(transfer function) in the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frequency </a:t>
            </a:r>
            <a:r>
              <a:rPr lang="en-US" sz="1200" kern="0" dirty="0">
                <a:solidFill>
                  <a:srgbClr val="000000"/>
                </a:solidFill>
                <a:latin typeface="Arial"/>
              </a:rPr>
              <a:t>band of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interest.</a:t>
            </a:r>
          </a:p>
          <a:p>
            <a:pPr lvl="0" defTabSz="914400"/>
            <a:endParaRPr lang="en-US" sz="1200" kern="0" dirty="0" smtClean="0">
              <a:solidFill>
                <a:srgbClr val="000000"/>
              </a:solidFill>
              <a:latin typeface="Arial"/>
            </a:endParaRPr>
          </a:p>
          <a:p>
            <a:pPr lvl="0" defTabSz="914400"/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Figure 1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. shows the network analyzer measurement results of S21 parameter for the phase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modulator.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Figure 2. shows the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effects of stabilization of transmitted optical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power through </a:t>
            </a:r>
          </a:p>
          <a:p>
            <a:pPr lvl="0" defTabSz="914400"/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the amplitude</a:t>
            </a:r>
            <a:r>
              <a:rPr kumimoji="0" lang="en-US" sz="1200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 </a:t>
            </a:r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modulator as a function of time.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296" name="Picture 295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9116" y="25286494"/>
            <a:ext cx="4819729" cy="2500989"/>
          </a:xfrm>
          <a:prstGeom prst="rect">
            <a:avLst/>
          </a:prstGeom>
        </p:spPr>
      </p:pic>
      <p:pic>
        <p:nvPicPr>
          <p:cNvPr id="302" name="Picture 301"/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7725" y="25050518"/>
            <a:ext cx="4697481" cy="2520000"/>
          </a:xfrm>
          <a:prstGeom prst="rect">
            <a:avLst/>
          </a:prstGeom>
        </p:spPr>
      </p:pic>
      <p:pic>
        <p:nvPicPr>
          <p:cNvPr id="303" name="Picture 302"/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2988" y="23433721"/>
            <a:ext cx="5258162" cy="4074780"/>
          </a:xfrm>
          <a:prstGeom prst="rect">
            <a:avLst/>
          </a:prstGeom>
        </p:spPr>
      </p:pic>
      <p:sp>
        <p:nvSpPr>
          <p:cNvPr id="199" name="CustomShape 18 4"/>
          <p:cNvSpPr/>
          <p:nvPr/>
        </p:nvSpPr>
        <p:spPr>
          <a:xfrm>
            <a:off x="1543213" y="27876620"/>
            <a:ext cx="4509589" cy="708063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Figure 1. shows the measured Allan variance for X15 and E15 lasers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by NKT Photonics.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Figure 2. shows relative intensity noise for the E15 laser. 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8609162" y="19880911"/>
            <a:ext cx="7283406" cy="684000"/>
            <a:chOff x="8575650" y="21286719"/>
            <a:chExt cx="7283406" cy="720000"/>
          </a:xfrm>
          <a:scene3d>
            <a:camera prst="orthographicFront">
              <a:rot lat="10800000" lon="0" rev="0"/>
            </a:camera>
            <a:lightRig rig="threePt" dir="t"/>
          </a:scene3d>
        </p:grpSpPr>
        <p:cxnSp>
          <p:nvCxnSpPr>
            <p:cNvPr id="216" name="Straight Arrow Connector 215"/>
            <p:cNvCxnSpPr/>
            <p:nvPr/>
          </p:nvCxnSpPr>
          <p:spPr>
            <a:xfrm flipV="1">
              <a:off x="8575650" y="21286719"/>
              <a:ext cx="31" cy="72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/>
            <p:cNvCxnSpPr/>
            <p:nvPr/>
          </p:nvCxnSpPr>
          <p:spPr>
            <a:xfrm>
              <a:off x="8575650" y="21978846"/>
              <a:ext cx="7283406" cy="7624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90" name="Group 189"/>
          <p:cNvGrpSpPr/>
          <p:nvPr/>
        </p:nvGrpSpPr>
        <p:grpSpPr>
          <a:xfrm>
            <a:off x="10670517" y="20160000"/>
            <a:ext cx="5246713" cy="396000"/>
            <a:chOff x="8575650" y="21286719"/>
            <a:chExt cx="7283406" cy="720000"/>
          </a:xfrm>
          <a:scene3d>
            <a:camera prst="orthographicFront">
              <a:rot lat="10800000" lon="0" rev="0"/>
            </a:camera>
            <a:lightRig rig="threePt" dir="t"/>
          </a:scene3d>
        </p:grpSpPr>
        <p:cxnSp>
          <p:nvCxnSpPr>
            <p:cNvPr id="195" name="Straight Arrow Connector 194"/>
            <p:cNvCxnSpPr/>
            <p:nvPr/>
          </p:nvCxnSpPr>
          <p:spPr>
            <a:xfrm flipV="1">
              <a:off x="8575650" y="21286719"/>
              <a:ext cx="31" cy="72000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Straight Connector 195"/>
            <p:cNvCxnSpPr/>
            <p:nvPr/>
          </p:nvCxnSpPr>
          <p:spPr>
            <a:xfrm>
              <a:off x="8575650" y="21978846"/>
              <a:ext cx="7283406" cy="7624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09" name="Picture 208"/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5857" y="25370454"/>
            <a:ext cx="6611087" cy="31320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6912374" y="19580856"/>
            <a:ext cx="1399394" cy="665994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34737" y="18770396"/>
            <a:ext cx="2988252" cy="1620920"/>
          </a:xfrm>
          <a:prstGeom prst="rect">
            <a:avLst/>
          </a:prstGeom>
        </p:spPr>
      </p:pic>
      <p:sp>
        <p:nvSpPr>
          <p:cNvPr id="210" name="CustomShape 2 2"/>
          <p:cNvSpPr/>
          <p:nvPr/>
        </p:nvSpPr>
        <p:spPr>
          <a:xfrm>
            <a:off x="14624715" y="21042561"/>
            <a:ext cx="1761805" cy="886656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000" smtClean="0">
                <a:latin typeface="Arial"/>
              </a:rPr>
              <a:t>Quantum</a:t>
            </a:r>
          </a:p>
          <a:p>
            <a:pPr algn="ctr">
              <a:lnSpc>
                <a:spcPct val="100000"/>
              </a:lnSpc>
            </a:pPr>
            <a:r>
              <a:rPr lang="en-US" sz="2000" smtClean="0">
                <a:latin typeface="Arial"/>
              </a:rPr>
              <a:t>channel</a:t>
            </a:r>
            <a:endParaRPr sz="2000" dirty="0"/>
          </a:p>
        </p:txBody>
      </p:sp>
      <p:sp>
        <p:nvSpPr>
          <p:cNvPr id="211" name="CustomShape 18 4"/>
          <p:cNvSpPr/>
          <p:nvPr/>
        </p:nvSpPr>
        <p:spPr>
          <a:xfrm>
            <a:off x="13569640" y="27645134"/>
            <a:ext cx="5768041" cy="113101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defTabSz="914400"/>
            <a:r>
              <a:rPr lang="en-US" sz="1200" kern="0" smtClean="0">
                <a:solidFill>
                  <a:srgbClr val="000000"/>
                </a:solidFill>
                <a:latin typeface="Arial"/>
              </a:rPr>
              <a:t>Cpation for polarization drift measurements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25998132" y="22273939"/>
            <a:ext cx="31857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Caption for beat signal strength </a:t>
            </a:r>
          </a:p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measurements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9924004" y="25423678"/>
            <a:ext cx="31857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Caption for shot noise </a:t>
            </a:r>
          </a:p>
          <a:p>
            <a:r>
              <a:rPr lang="en-US" sz="1200" smtClean="0">
                <a:latin typeface="Arial" panose="020B0604020202020204" pitchFamily="34" charset="0"/>
                <a:cs typeface="Arial" panose="020B0604020202020204" pitchFamily="34" charset="0"/>
              </a:rPr>
              <a:t>measurements</a:t>
            </a:r>
            <a:endParaRPr lang="en-US" sz="12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8" name="CustomShape 18 4"/>
          <p:cNvSpPr/>
          <p:nvPr/>
        </p:nvSpPr>
        <p:spPr>
          <a:xfrm>
            <a:off x="6126937" y="34139525"/>
            <a:ext cx="4265598" cy="344857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Digitally </a:t>
            </a:r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upconverted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input signal to the amplitude modulator</a:t>
            </a:r>
          </a:p>
          <a:p>
            <a:pPr lvl="0" defTabSz="914400"/>
            <a:r>
              <a:rPr lang="en-US" sz="1200" kern="0" dirty="0" smtClean="0">
                <a:solidFill>
                  <a:srgbClr val="000000"/>
                </a:solidFill>
                <a:latin typeface="Arial"/>
              </a:rPr>
              <a:t>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79" name="CustomShape 18 4"/>
          <p:cNvSpPr/>
          <p:nvPr/>
        </p:nvSpPr>
        <p:spPr>
          <a:xfrm>
            <a:off x="12080820" y="34043732"/>
            <a:ext cx="4692701" cy="4817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Heterodyne signal is used as input to PLL with initial DDS 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f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requency of 99.19 </a:t>
            </a:r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MHz.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Comparison of PLL input and output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i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n time (top) and frequency (bottom) domain.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80" name="CustomShape 18 4"/>
          <p:cNvSpPr/>
          <p:nvPr/>
        </p:nvSpPr>
        <p:spPr>
          <a:xfrm>
            <a:off x="17838708" y="34027675"/>
            <a:ext cx="5641269" cy="45129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PLL-compensated and filtered output in comparison with the original </a:t>
            </a:r>
          </a:p>
          <a:p>
            <a:pPr lvl="0" defTabSz="914400"/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upconverted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AM signal, in time (top) and frequency (bottom) domain. 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181" name="CustomShape 18 4"/>
          <p:cNvSpPr/>
          <p:nvPr/>
        </p:nvSpPr>
        <p:spPr>
          <a:xfrm>
            <a:off x="24373268" y="34013923"/>
            <a:ext cx="5641269" cy="451291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Cross correlation of PLL-compensated and filtered signal </a:t>
            </a:r>
          </a:p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and input to AM.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8168" y="30745748"/>
            <a:ext cx="5956697" cy="32783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5688" y="30711324"/>
            <a:ext cx="5522336" cy="3249780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2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85848" y="30505869"/>
            <a:ext cx="5738345" cy="3406395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83150" y="30488518"/>
            <a:ext cx="5721927" cy="3525405"/>
          </a:xfrm>
          <a:prstGeom prst="rect">
            <a:avLst/>
          </a:prstGeom>
        </p:spPr>
      </p:pic>
      <p:sp>
        <p:nvSpPr>
          <p:cNvPr id="186" name="Rectangle 185"/>
          <p:cNvSpPr/>
          <p:nvPr/>
        </p:nvSpPr>
        <p:spPr>
          <a:xfrm>
            <a:off x="8315702" y="35351703"/>
            <a:ext cx="7462356" cy="1549833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7" name="CustomShape 18 1"/>
          <p:cNvSpPr/>
          <p:nvPr/>
        </p:nvSpPr>
        <p:spPr>
          <a:xfrm>
            <a:off x="14637944" y="35354208"/>
            <a:ext cx="1142336" cy="48144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8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Alice</a:t>
            </a:r>
            <a:endParaRPr sz="28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8" name="Rectangle 187"/>
          <p:cNvSpPr/>
          <p:nvPr/>
        </p:nvSpPr>
        <p:spPr>
          <a:xfrm>
            <a:off x="8315702" y="37166148"/>
            <a:ext cx="8614841" cy="2899582"/>
          </a:xfrm>
          <a:prstGeom prst="rect">
            <a:avLst/>
          </a:pr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0" name="CustomShape 18 1"/>
          <p:cNvSpPr/>
          <p:nvPr/>
        </p:nvSpPr>
        <p:spPr>
          <a:xfrm>
            <a:off x="8115630" y="39525342"/>
            <a:ext cx="1433829" cy="68571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algn="ctr">
              <a:lnSpc>
                <a:spcPct val="100000"/>
              </a:lnSpc>
            </a:pPr>
            <a:r>
              <a:rPr lang="en-US" sz="2800" b="1" dirty="0" smtClean="0">
                <a:solidFill>
                  <a:schemeClr val="tx2">
                    <a:lumMod val="40000"/>
                    <a:lumOff val="60000"/>
                  </a:schemeClr>
                </a:solidFill>
                <a:latin typeface="Arial"/>
              </a:rPr>
              <a:t>Bob</a:t>
            </a:r>
            <a:endParaRPr sz="28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1" name="CustomShape 17 4"/>
          <p:cNvSpPr/>
          <p:nvPr/>
        </p:nvSpPr>
        <p:spPr>
          <a:xfrm>
            <a:off x="8460208" y="36426121"/>
            <a:ext cx="977230" cy="420675"/>
          </a:xfrm>
          <a:prstGeom prst="parallelogram">
            <a:avLst>
              <a:gd name="adj" fmla="val 25000"/>
            </a:avLst>
          </a:prstGeom>
          <a:solidFill>
            <a:srgbClr val="E7E6E6">
              <a:lumMod val="75000"/>
            </a:srgbClr>
          </a:solidFill>
          <a:ln w="25560">
            <a:noFill/>
          </a:ln>
        </p:spPr>
      </p:sp>
      <p:sp>
        <p:nvSpPr>
          <p:cNvPr id="376" name="CustomShape 2 8"/>
          <p:cNvSpPr/>
          <p:nvPr/>
        </p:nvSpPr>
        <p:spPr>
          <a:xfrm>
            <a:off x="8458070" y="36478447"/>
            <a:ext cx="869128" cy="39528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Signal laser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4" name="CustomShape 35 4"/>
          <p:cNvSpPr/>
          <p:nvPr/>
        </p:nvSpPr>
        <p:spPr>
          <a:xfrm>
            <a:off x="15015523" y="36314098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1400" kern="0" dirty="0">
                <a:solidFill>
                  <a:srgbClr val="000000"/>
                </a:solidFill>
                <a:latin typeface="Arial"/>
              </a:rPr>
              <a:t>t</a:t>
            </a:r>
            <a:r>
              <a:rPr kumimoji="0" lang="da-DK" sz="14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o Bob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06" name="CustomShape 35 4"/>
          <p:cNvSpPr/>
          <p:nvPr/>
        </p:nvSpPr>
        <p:spPr>
          <a:xfrm>
            <a:off x="8406470" y="37829101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a-DK" sz="1400" kern="0" dirty="0">
                <a:solidFill>
                  <a:srgbClr val="000000"/>
                </a:solidFill>
                <a:latin typeface="Arial"/>
              </a:rPr>
              <a:t>f</a:t>
            </a:r>
            <a:r>
              <a:rPr lang="da-DK" sz="1400" kern="0" dirty="0" smtClean="0">
                <a:solidFill>
                  <a:srgbClr val="000000"/>
                </a:solidFill>
                <a:latin typeface="Arial"/>
              </a:rPr>
              <a:t>rom Alice</a:t>
            </a:r>
            <a:endParaRPr kumimoji="0" sz="14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7" name="CustomShape 34 4"/>
          <p:cNvSpPr/>
          <p:nvPr/>
        </p:nvSpPr>
        <p:spPr>
          <a:xfrm>
            <a:off x="12426376" y="39520226"/>
            <a:ext cx="661798" cy="330351"/>
          </a:xfrm>
          <a:prstGeom prst="roundRect">
            <a:avLst>
              <a:gd name="adj" fmla="val 12277"/>
            </a:avLst>
          </a:prstGeom>
          <a:gradFill>
            <a:gsLst>
              <a:gs pos="0">
                <a:srgbClr val="9BBB59"/>
              </a:gs>
              <a:gs pos="100000">
                <a:srgbClr val="000000"/>
              </a:gs>
            </a:gsLst>
            <a:lin ang="0"/>
          </a:gradFill>
          <a:ln w="25560">
            <a:noFill/>
          </a:ln>
        </p:spPr>
      </p:sp>
      <p:sp>
        <p:nvSpPr>
          <p:cNvPr id="406" name="CustomShape 35 6"/>
          <p:cNvSpPr/>
          <p:nvPr/>
        </p:nvSpPr>
        <p:spPr>
          <a:xfrm>
            <a:off x="12374935" y="39518151"/>
            <a:ext cx="868690" cy="422712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16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VATT</a:t>
            </a:r>
            <a:endParaRPr kumimoji="0" sz="16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19" name="Flowchart: Delay 218"/>
          <p:cNvSpPr/>
          <p:nvPr/>
        </p:nvSpPr>
        <p:spPr>
          <a:xfrm>
            <a:off x="14917813" y="39264666"/>
            <a:ext cx="390698" cy="407324"/>
          </a:xfrm>
          <a:prstGeom prst="flowChartDelay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CustomShape 6 4"/>
          <p:cNvSpPr/>
          <p:nvPr/>
        </p:nvSpPr>
        <p:spPr>
          <a:xfrm flipV="1">
            <a:off x="15308510" y="39025722"/>
            <a:ext cx="496961" cy="443856"/>
          </a:xfrm>
          <a:prstGeom prst="curvedConnector3">
            <a:avLst>
              <a:gd name="adj1" fmla="val 50990"/>
            </a:avLst>
          </a:prstGeom>
          <a:noFill/>
          <a:ln w="31680">
            <a:solidFill>
              <a:schemeClr val="tx1"/>
            </a:solidFill>
            <a:round/>
          </a:ln>
        </p:spPr>
      </p:sp>
      <p:sp>
        <p:nvSpPr>
          <p:cNvPr id="225" name="CustomShape 35 3"/>
          <p:cNvSpPr/>
          <p:nvPr/>
        </p:nvSpPr>
        <p:spPr>
          <a:xfrm>
            <a:off x="15821764" y="38728148"/>
            <a:ext cx="225125" cy="348984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2800" b="0" i="0" u="none" strike="noStrike" kern="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</a:rPr>
              <a:t>-</a:t>
            </a:r>
            <a:endParaRPr kumimoji="0" sz="28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17812376" y="36034791"/>
            <a:ext cx="114182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endParaRPr lang="en-US" sz="2000" dirty="0"/>
          </a:p>
        </p:txBody>
      </p:sp>
      <p:pic>
        <p:nvPicPr>
          <p:cNvPr id="28" name="Picture 27"/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186" y="3400092"/>
            <a:ext cx="5354171" cy="954884"/>
          </a:xfrm>
          <a:prstGeom prst="rect">
            <a:avLst/>
          </a:prstGeom>
        </p:spPr>
      </p:pic>
      <p:pic>
        <p:nvPicPr>
          <p:cNvPr id="29" name="Picture 28"/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173" y="4909331"/>
            <a:ext cx="5253586" cy="2017685"/>
          </a:xfrm>
          <a:prstGeom prst="rect">
            <a:avLst/>
          </a:prstGeom>
        </p:spPr>
      </p:pic>
      <p:pic>
        <p:nvPicPr>
          <p:cNvPr id="31" name="Picture 30"/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748" y="4848128"/>
            <a:ext cx="3803445" cy="1800297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2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88538" y="36015966"/>
            <a:ext cx="5794917" cy="3558947"/>
          </a:xfrm>
          <a:prstGeom prst="rect">
            <a:avLst/>
          </a:prstGeom>
        </p:spPr>
      </p:pic>
      <p:sp>
        <p:nvSpPr>
          <p:cNvPr id="203" name="TextBox 202"/>
          <p:cNvSpPr txBox="1"/>
          <p:nvPr/>
        </p:nvSpPr>
        <p:spPr>
          <a:xfrm>
            <a:off x="23799093" y="35558130"/>
            <a:ext cx="6070584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Security established for collective attacks and continuous Gaussian modulation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Continuous modulation can be approximated with a discrete one with small error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The proof against coherent attacks requires currently unfeasible </a:t>
            </a:r>
            <a:r>
              <a:rPr lang="en-US" sz="2800" dirty="0" err="1" smtClean="0"/>
              <a:t>symmetrization</a:t>
            </a:r>
            <a:r>
              <a:rPr lang="en-US" sz="2800" dirty="0" smtClean="0"/>
              <a:t> procedure during </a:t>
            </a:r>
            <a:r>
              <a:rPr lang="en-US" sz="2800" dirty="0" err="1" smtClean="0"/>
              <a:t>postprocessing</a:t>
            </a:r>
            <a:endParaRPr lang="en-US" sz="2800" dirty="0" smtClean="0"/>
          </a:p>
          <a:p>
            <a:pPr marL="457200" indent="-457200">
              <a:buFontTx/>
              <a:buChar char="-"/>
            </a:pPr>
            <a:endParaRPr lang="en-US" sz="2800" dirty="0" smtClean="0"/>
          </a:p>
        </p:txBody>
      </p:sp>
      <p:sp>
        <p:nvSpPr>
          <p:cNvPr id="227" name="CustomShape 18 4"/>
          <p:cNvSpPr/>
          <p:nvPr/>
        </p:nvSpPr>
        <p:spPr>
          <a:xfrm>
            <a:off x="18233831" y="39569854"/>
            <a:ext cx="4692701" cy="481720"/>
          </a:xfrm>
          <a:prstGeom prst="rect">
            <a:avLst/>
          </a:prstGeom>
          <a:noFill/>
          <a:ln>
            <a:noFill/>
          </a:ln>
        </p:spPr>
        <p:txBody>
          <a:bodyPr wrap="none" lIns="90000" tIns="45000" rIns="90000" bIns="45000"/>
          <a:lstStyle/>
          <a:p>
            <a:pPr lvl="0" defTabSz="914400"/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Heterodyne signal is used as input to PLL with initial DDS 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f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requency of 99.19 </a:t>
            </a:r>
            <a:r>
              <a:rPr lang="en-US" sz="1400" kern="0" dirty="0" err="1" smtClean="0">
                <a:solidFill>
                  <a:srgbClr val="000000"/>
                </a:solidFill>
                <a:latin typeface="Arial"/>
              </a:rPr>
              <a:t>MHz.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 Comparison of PLL input and output</a:t>
            </a:r>
          </a:p>
          <a:p>
            <a:pPr lvl="0" defTabSz="914400"/>
            <a:r>
              <a:rPr lang="en-US" sz="1400" kern="0" dirty="0">
                <a:solidFill>
                  <a:srgbClr val="000000"/>
                </a:solidFill>
                <a:latin typeface="Arial"/>
              </a:rPr>
              <a:t>i</a:t>
            </a:r>
            <a:r>
              <a:rPr lang="en-US" sz="1400" kern="0" dirty="0" smtClean="0">
                <a:solidFill>
                  <a:srgbClr val="000000"/>
                </a:solidFill>
                <a:latin typeface="Arial"/>
              </a:rPr>
              <a:t>n time (top) and frequency (bottom) domain. </a:t>
            </a:r>
            <a:endParaRPr kumimoji="0" sz="1200" b="0" i="0" u="none" strike="noStrike" kern="0" cap="none" spc="0" normalizeH="0" baseline="0" noProof="0" dirty="0" smtClean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6652201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4.5174"/>
  <p:tag name="ORIGINALWIDTH" val="2863.9"/>
  <p:tag name="LATEXADDIN" val="\documentclass{article}&#10;\usepackage{amsmath}&#10;\pagestyle{empty}&#10;\begin{document}&#10;&#10;\begin{equation*}&#10;I(t) \propto \left(1 + \alpha V_{AM}(t) \right) \left( \cos \left[\Omega_{\Delta} t \right] - \beta V_{PM}(t) \sin \left[\Omega_{\Delta} t \right] \right) &#10;\end{equation*}&#10;&#10;\end{document}"/>
  <p:tag name="IGUANATEXSIZE" val="20"/>
  <p:tag name="IGUANATEXCURSOR" val="209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24.5174"/>
  <p:tag name="ORIGINALWIDTH" val="3157.19"/>
  <p:tag name="LATEXADDIN" val="\documentclass{article}&#10;\usepackage{amsmath}&#10;\pagestyle{empty}&#10;\begin{document}&#10;&#10;\begin{equation*}&#10;I(t) \propto \cos \left[\alpha V_{AM}(t) + \varphi(t) \right] \cos \left[\Omega_{\Delta}(t) t + \beta V_{PM}(t) + \theta(t) \right], &#10;\end{equation*}&#10;&#10;\end{document}"/>
  <p:tag name="IGUANATEXSIZE" val="20"/>
  <p:tag name="IGUANATEXCURSOR" val="232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1200"/>
  <p:tag name="ORIGINALHEIGHT" val="1357.689"/>
  <p:tag name="ORIGINALWIDTH" val="3159.441"/>
  <p:tag name="LATEXADDIN" val="\documentclass{article}&#10;\usepackage{amsmath}&#10;\pagestyle{empty}&#10;\begin{document}&#10;&#10;where&#10;\begin{itemize} &#10;\item $V_{AM/PM}(t)$ is the amplitude/phase modulation voltage, &#10;\item $\Omega_{\Delta}(t)$ is the detuning between LO and $Sig$,&#10;\item $\varphi(t)$ represents the DC bias on the AM, &#10;\item $\theta(t)$ captures the overall phase noise,&#10;\item $\alpha$ and $\beta$ are scaling constants. &#10;\end{itemize} %enumerate&#10;&#10;\end{document}"/>
  <p:tag name="IGUANATEXSIZE" val="20"/>
  <p:tag name="IGUANATEXCURSOR" val="194"/>
  <p:tag name="TRANSPARENCY" val="True"/>
  <p:tag name="FILENAME" val=""/>
  <p:tag name="LATEXENGINEID" val="1"/>
  <p:tag name="TEMPFOLDER" val=".\"/>
  <p:tag name="LATEXFORMHEIGHT" val="312"/>
  <p:tag name="LATEXFORMWIDTH" val="384"/>
  <p:tag name="LATEXFORMWRAP" val="True"/>
  <p:tag name="BITMAPVECTOR" val="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3447</TotalTime>
  <Words>1020</Words>
  <Application>Microsoft Office PowerPoint</Application>
  <PresentationFormat>Custom</PresentationFormat>
  <Paragraphs>122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Georgia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Sepehr Ahmadi</dc:creator>
  <cp:lastModifiedBy>Dino Solar Nikolic</cp:lastModifiedBy>
  <cp:revision>237</cp:revision>
  <cp:lastPrinted>2015-06-04T15:11:14Z</cp:lastPrinted>
  <dcterms:created xsi:type="dcterms:W3CDTF">2006-08-16T00:00:00Z</dcterms:created>
  <dcterms:modified xsi:type="dcterms:W3CDTF">2017-09-15T13:06:42Z</dcterms:modified>
</cp:coreProperties>
</file>